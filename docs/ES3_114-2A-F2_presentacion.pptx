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5a51db8d6f488e" /><Relationship Type="http://schemas.openxmlformats.org/officeDocument/2006/relationships/extended-properties" Target="/docProps/app.xml" Id="R471e55411bd84fc5" /><Relationship Type="http://schemas.openxmlformats.org/officeDocument/2006/relationships/officeDocument" Target="/ppt/presentation.xml" Id="R0e1cac6c01284d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7c2c85d44a4632"/>
  </p:sldMasterIdLst>
  <p:notesMasterIdLst>
    <p:notesMasterId xmlns:r="http://schemas.openxmlformats.org/officeDocument/2006/relationships" r:id="R365e1a8429154ae3"/>
  </p:notesMasterIdLst>
  <p:sldIdLst>
    <p:sldId xmlns:r="http://schemas.openxmlformats.org/officeDocument/2006/relationships" id="256" r:id="R8a36c1028c0c4ec8"/>
    <p:sldId xmlns:r="http://schemas.openxmlformats.org/officeDocument/2006/relationships" id="257" r:id="R7aa032e0fddf446f"/>
    <p:sldId xmlns:r="http://schemas.openxmlformats.org/officeDocument/2006/relationships" id="258" r:id="R4b24965b60304dbe"/>
    <p:sldId xmlns:r="http://schemas.openxmlformats.org/officeDocument/2006/relationships" id="259" r:id="R20287407ad4d42cb"/>
    <p:sldId xmlns:r="http://schemas.openxmlformats.org/officeDocument/2006/relationships" id="260" r:id="R9a6c82def5b04cbd"/>
    <p:sldId xmlns:r="http://schemas.openxmlformats.org/officeDocument/2006/relationships" id="261" r:id="Rbf9bc35465c14816"/>
    <p:sldId xmlns:r="http://schemas.openxmlformats.org/officeDocument/2006/relationships" id="262" r:id="Ra3b6f2cc869f4c97"/>
    <p:sldId xmlns:r="http://schemas.openxmlformats.org/officeDocument/2006/relationships" id="263" r:id="R9b56aa098ffe4a66"/>
    <p:sldId xmlns:r="http://schemas.openxmlformats.org/officeDocument/2006/relationships" id="264" r:id="R4b2abb086fe94926"/>
    <p:sldId xmlns:r="http://schemas.openxmlformats.org/officeDocument/2006/relationships" id="265" r:id="R70f627dae64a4563"/>
    <p:sldId xmlns:r="http://schemas.openxmlformats.org/officeDocument/2006/relationships" id="266" r:id="R024c63a134bc4009"/>
    <p:sldId xmlns:r="http://schemas.openxmlformats.org/officeDocument/2006/relationships" id="267" r:id="R113e260e787f4a37"/>
    <p:sldId xmlns:r="http://schemas.openxmlformats.org/officeDocument/2006/relationships" id="268" r:id="R341bbe303ecc4f17"/>
    <p:sldId xmlns:r="http://schemas.openxmlformats.org/officeDocument/2006/relationships" id="269" r:id="Ref653a00b85a45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dcd645fa124d80" /><Relationship Type="http://schemas.openxmlformats.org/officeDocument/2006/relationships/slideMaster" Target="/ppt/slideMasters/slideMaster1.xml" Id="R2c7c2c85d44a4632" /><Relationship Type="http://schemas.openxmlformats.org/officeDocument/2006/relationships/notesMaster" Target="/ppt/notesMasters/notesMaster1.xml" Id="R365e1a8429154ae3" /><Relationship Type="http://schemas.openxmlformats.org/officeDocument/2006/relationships/presProps" Target="/ppt/presProps.xml" Id="Rc99153f1a6a44f1d" /><Relationship Type="http://schemas.openxmlformats.org/officeDocument/2006/relationships/tableStyles" Target="/ppt/tableStyles.xml" Id="Re6a8983e5e484422" /><Relationship Type="http://schemas.openxmlformats.org/officeDocument/2006/relationships/slide" Target="/ppt/slides/slide1.xml" Id="R8a36c1028c0c4ec8" /><Relationship Type="http://schemas.openxmlformats.org/officeDocument/2006/relationships/slide" Target="/ppt/slides/slide2.xml" Id="R7aa032e0fddf446f" /><Relationship Type="http://schemas.openxmlformats.org/officeDocument/2006/relationships/slide" Target="/ppt/slides/slide3.xml" Id="R4b24965b60304dbe" /><Relationship Type="http://schemas.openxmlformats.org/officeDocument/2006/relationships/slide" Target="/ppt/slides/slide4.xml" Id="R20287407ad4d42cb" /><Relationship Type="http://schemas.openxmlformats.org/officeDocument/2006/relationships/slide" Target="/ppt/slides/slide5.xml" Id="R9a6c82def5b04cbd" /><Relationship Type="http://schemas.openxmlformats.org/officeDocument/2006/relationships/slide" Target="/ppt/slides/slide6.xml" Id="Rbf9bc35465c14816" /><Relationship Type="http://schemas.openxmlformats.org/officeDocument/2006/relationships/slide" Target="/ppt/slides/slide7.xml" Id="Ra3b6f2cc869f4c97" /><Relationship Type="http://schemas.openxmlformats.org/officeDocument/2006/relationships/slide" Target="/ppt/slides/slide8.xml" Id="R9b56aa098ffe4a66" /><Relationship Type="http://schemas.openxmlformats.org/officeDocument/2006/relationships/slide" Target="/ppt/slides/slide9.xml" Id="R4b2abb086fe94926" /><Relationship Type="http://schemas.openxmlformats.org/officeDocument/2006/relationships/slide" Target="/ppt/slides/slide10.xml" Id="R70f627dae64a4563" /><Relationship Type="http://schemas.openxmlformats.org/officeDocument/2006/relationships/slide" Target="/ppt/slides/slide11.xml" Id="R024c63a134bc4009" /><Relationship Type="http://schemas.openxmlformats.org/officeDocument/2006/relationships/slide" Target="/ppt/slides/slide12.xml" Id="R113e260e787f4a37" /><Relationship Type="http://schemas.openxmlformats.org/officeDocument/2006/relationships/slide" Target="/ppt/slides/slide13.xml" Id="R341bbe303ecc4f17" /><Relationship Type="http://schemas.openxmlformats.org/officeDocument/2006/relationships/slide" Target="/ppt/slides/slide14.xml" Id="Ref653a00b85a45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d800b20a934a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3c04fa5e674f08" /><Relationship Type="http://schemas.openxmlformats.org/officeDocument/2006/relationships/notesMaster" Target="/ppt/notesMasters/notesMaster1.xml" Id="R591be23dac9746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55ffadb8dd4797" /><Relationship Type="http://schemas.openxmlformats.org/officeDocument/2006/relationships/notesMaster" Target="/ppt/notesMasters/notesMaster1.xml" Id="R74bb7a59541d45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6c5117b1fe4b20" /><Relationship Type="http://schemas.openxmlformats.org/officeDocument/2006/relationships/notesMaster" Target="/ppt/notesMasters/notesMaster1.xml" Id="Rcfb8251a9d1845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6a626a841740e6" /><Relationship Type="http://schemas.openxmlformats.org/officeDocument/2006/relationships/notesMaster" Target="/ppt/notesMasters/notesMaster1.xml" Id="Ra09907d0e67e43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59b257170d43f2" /><Relationship Type="http://schemas.openxmlformats.org/officeDocument/2006/relationships/notesMaster" Target="/ppt/notesMasters/notesMaster1.xml" Id="Rd6d827baf7e844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08bd67f2fb4d99" /><Relationship Type="http://schemas.openxmlformats.org/officeDocument/2006/relationships/notesMaster" Target="/ppt/notesMasters/notesMaster1.xml" Id="Re42b7ff83276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64c1786d684c91" /><Relationship Type="http://schemas.openxmlformats.org/officeDocument/2006/relationships/notesMaster" Target="/ppt/notesMasters/notesMaster1.xml" Id="R340c9f378cd74b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884112951647a1" /><Relationship Type="http://schemas.openxmlformats.org/officeDocument/2006/relationships/notesMaster" Target="/ppt/notesMasters/notesMaster1.xml" Id="R0a360e74a32641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1a39e45c8847e6" /><Relationship Type="http://schemas.openxmlformats.org/officeDocument/2006/relationships/notesMaster" Target="/ppt/notesMasters/notesMaster1.xml" Id="R32a6da9c3e1f43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1dd4d30a00467e" /><Relationship Type="http://schemas.openxmlformats.org/officeDocument/2006/relationships/notesMaster" Target="/ppt/notesMasters/notesMaster1.xml" Id="R5b63fd8d1a6443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67e62cc8b44e27" /><Relationship Type="http://schemas.openxmlformats.org/officeDocument/2006/relationships/notesMaster" Target="/ppt/notesMasters/notesMaster1.xml" Id="Rbf287ecfb1fb4f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4e02f1383b4268" /><Relationship Type="http://schemas.openxmlformats.org/officeDocument/2006/relationships/notesMaster" Target="/ppt/notesMasters/notesMaster1.xml" Id="R23ffe6ff90c748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81edb7eabb4501" /><Relationship Type="http://schemas.openxmlformats.org/officeDocument/2006/relationships/notesMaster" Target="/ppt/notesMasters/notesMaster1.xml" Id="R8ed56492540c423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7ced04f5aa41ca" /><Relationship Type="http://schemas.openxmlformats.org/officeDocument/2006/relationships/notesMaster" Target="/ppt/notesMasters/notesMaster1.xml" Id="R4f05f21f873c47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Buenas noches. Somos Miguel Troncoso y Alexandy Remicinthe, del caso 05, E-commerce ClickAndGo. En los proximos diez minutos vamos a recorrer el codigo del sistema: donde esta cada requisito, el camino completo de una operacion hasta la base de datos, que cambiamos despues de la retroalimentacion de la evaluacion anterior y como el codigo protege los datos.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recorrido tiene cuatro bloques. Primero ubicamos los requisitos en el codigo, despues seguimos una operacion completa hasta el SQL, luego explicamos los cambios que hicimos tras la retroalimentacion y cerramos con las decisiones de seguridad.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sistema tiene cuatro capas. main.py es el menu, servicios valida y consume la API, model tiene las reglas del negocio y dao guarda en SQLite. La separacion importa porque ninguna clase del modelo contiene SQL: si cambia la base de datos, solo se toca la capa dao.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tabla es el mapa que vamos a usar. Requisito uno: los subtipos heredan de Producto con super y sobrescriben procesar_entrega. Requisito dos: el identificador del cliente se valida en el setter con modulo 11 o correo. Requisito tres: el pedido compone DetallePedido y se guarda con sus lineas. Requisito cuatro: las dos reglas tienen excepcion propia. Requisito cinco: la electronica se cotiza con el dolar del dia desde mindicador.cl.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Ademas de los cinco requisitos funcionales mostramos dos no funcionales. Primero la validacion de entradas: cada dato se valida por tipo, formato y rango antes de usarse, y si esta mal el programa avisa y vuelve a preguntar, nunca se cae. Segundo la continuidad ante fallas: la API del dolar tiene tiempo maximo de espera y respaldo local. Si no hay internet, el sistema informa y sigue funcionando.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Seguimos una operacion completa: registrar el pago. El menu llama a registrar_pago en el modelo. Ese metodo primero confirma que hay stock: por eso el stock no cambia si la confirmacion falla. Si esta todo bien, cada producto descuenta su stock, el pedido queda PAGADO y recien ahi la capa dao escribe en la base de datos con un UPDATE parametrizado. Es importante notar que el modelo decide y el dao solo guarda.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esta el polimorfismo. La clase Producto define procesar_entrega como metodo abstracto y cada subtipo lo sobrescribe: el fisico genera despacho y flete, el digital entrega un enlace con flete cero, el servicio agenda una visita y la electronica hereda el despacho del fisico pero cotiza en dolares. El pedido recorre sus lineas con un for y llama al metodo: no hay un if preguntando el tipo. Si mañana se agrega un tipo nuevo, no hay que modificar Pedido.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dos reglas de la ficha son las dos unicas que impiden una operacion comercial. La primera: al confirmar un pedido se recorre cada linea y si no hay stock se lanza StockInsuficienteError. Como el descuento ocurre solo al registrar el pago, el stock queda intacto. La segunda: al despachar se verifica el permiso del trabajador y que el pago este registrado; si no lo esta, se lanza PedidoNoPagadoError. Ambas excepciones heredan de ClickAndGoError y se capturan en main.py, asi el programa informa y sigue funcionando.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quinto requisito es el precio con indicador externo. La electronica importada se cotiza en dolares y se convierte con el valor del dia. Para no depender de un solo sitio, el servicio recorre dos proveedores: primero mindicador.cl y, si no responde, findic.cl; los dos entregan el mismo formato. Cada intento usa requests con timeout de cinco segundos. Si fallan los dos, se usa el ultimo valor guardado y el sistema lo informa: ese es el caso P17 del guion de pruebas. Cuando responde el respaldo, el sistema avisa cual uso.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Resumimos la seguridad en seis mecanismos, cada uno con el riesgo que evita. Lo mas importante: las consultas son parametrizadas, por lo que aunque el usuario escriba comillas o punto y coma, ese texto nunca se interpreta como SQL. Las contrasenas se guardan con PBKDF2 y salt aleatorio, y los permisos se resuelven por rol con excepcion propia. Si me preguntan que pasaria si quitamos una validacion, la respuesta es que el dato invalido llegaria al modelo o a la base de datos y el sistema perderia integridad.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Este es el punto que pide la rubrica: que cambio despues de la retroalimentacion. Los seis cambios estan en el repositorio y cada uno tiene su prueba. Los dos mas visibles son los codigos automaticos y el rediseno de la interfaz, que es lo que voy a mostrar ahora en el editor.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mejora principal. Antes el operador tenia que inventar y escribir el codigo del producto, lo que era lento y permitia duplicados o errores de tipeo. Ahora el sistema consulta el ultimo codigo usado en la base de datos, calcula el siguiente y verifica que este libre antes de asignarlo. El usuario solo escribe el nombre y los datos. En el codigo esta en servicios/codigos.py, clase GeneradorCodigos, y se usa al crear el cliente, el producto y el pedido.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Sobre el uso de inteligencia artificial: la usamos como apoyo, no como reemplazo. Hay un ejemplo concreto de cada caso. Adoptamos el acceso por nombre de columna en SQLite. Modificamos la consulta a la API agregandole tiempo maximo de espera. Y descartamos dos sugerencias: resolver el tipo con if, porque la rubrica pide polimorfismo, y guardar la contrasena con MD5, porque no es seguro. Todo esta documentado en el README.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 cerrar: Miguel presenta la arquitectura, el recorrido completo de una operacion y los cambios de la retroalimentacion. Alexandy presenta los requisitos funcionales, los no funcionales y la seguridad. El repositorio es publico y el codigo esta abierto en el editor. Gracias, quedamos atentos a las preguntas.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523a32e2b7439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d0f5e3e18d4f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f244f25ca94d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001c356d484b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7cc30c983c404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03960c8b634c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DA725F-4855-449D-ACB2-2C5A5A2916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FD91931-8AB8-4A2A-8B1A-F34E13205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597A882-5859-4DF2-81C0-D2D9BAA2D2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B25B1E-6C0C-46F3-B8A7-9B291E891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7DD1BA-E2F3-4EF5-9A6E-55C579EB7F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9319F19-0725-43E6-BB8A-4AF9B8D646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D351AC-D48B-4D79-8307-1C9F031BDC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09252CD-BF1E-4768-AA31-C3643A6966B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4748F7-5878-4F72-903B-CC9087356F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2E23B5-63CB-4EFA-982F-181E6EEA98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1795602a7d42bd" /><Relationship Type="http://schemas.openxmlformats.org/officeDocument/2006/relationships/slideLayout" Target="/ppt/slideLayouts/slideLayout1.xml" Id="R4c899968489c49f9" /><Relationship Type="http://schemas.openxmlformats.org/officeDocument/2006/relationships/slideLayout" Target="/ppt/slideLayouts/slideLayout2.xml" Id="Rd6417326b3bb42b1" /><Relationship Type="http://schemas.openxmlformats.org/officeDocument/2006/relationships/slideLayout" Target="/ppt/slideLayouts/slideLayout3.xml" Id="Rd0111f850d4540c5" /><Relationship Type="http://schemas.openxmlformats.org/officeDocument/2006/relationships/slideLayout" Target="/ppt/slideLayouts/slideLayout4.xml" Id="R3d12fb78829446bb" /><Relationship Type="http://schemas.openxmlformats.org/officeDocument/2006/relationships/slideLayout" Target="/ppt/slideLayouts/slideLayout5.xml" Id="Rd0242da2d3594b5c" /><Relationship Type="http://schemas.openxmlformats.org/officeDocument/2006/relationships/slideLayout" Target="/ppt/slideLayouts/slideLayout6.xml" Id="R1f61f65f056649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899968489c49f9"/>
    <p:sldLayoutId xmlns:r="http://schemas.openxmlformats.org/officeDocument/2006/relationships" id="2147483650" r:id="Rd6417326b3bb42b1"/>
    <p:sldLayoutId xmlns:r="http://schemas.openxmlformats.org/officeDocument/2006/relationships" id="2147483651" r:id="Rd0111f850d4540c5"/>
    <p:sldLayoutId xmlns:r="http://schemas.openxmlformats.org/officeDocument/2006/relationships" id="2147483652" r:id="R3d12fb78829446bb"/>
    <p:sldLayoutId xmlns:r="http://schemas.openxmlformats.org/officeDocument/2006/relationships" id="2147483653" r:id="Rd0242da2d3594b5c"/>
    <p:sldLayoutId xmlns:r="http://schemas.openxmlformats.org/officeDocument/2006/relationships" id="2147483654" r:id="R1f61f65f056649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d856071b5a4018" /><Relationship Type="http://schemas.openxmlformats.org/officeDocument/2006/relationships/notesSlide" Target="/ppt/notesSlides/notesSlide1.xml" Id="Rb7afd664422340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5b476dde8d46fc" /><Relationship Type="http://schemas.openxmlformats.org/officeDocument/2006/relationships/notesSlide" Target="/ppt/notesSlides/notesSlide2.xml" Id="Rca82e7a4160942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6e662cd124310" /><Relationship Type="http://schemas.openxmlformats.org/officeDocument/2006/relationships/notesSlide" Target="/ppt/notesSlides/notesSlide3.xml" Id="R03449c7b0edd4f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9e14ee21844a71" /><Relationship Type="http://schemas.openxmlformats.org/officeDocument/2006/relationships/notesSlide" Target="/ppt/notesSlides/notesSlide4.xml" Id="R1bb6629be9d740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d06adb1a0246c6" /><Relationship Type="http://schemas.openxmlformats.org/officeDocument/2006/relationships/notesSlide" Target="/ppt/notesSlides/notesSlide5.xml" Id="R6fae738f478b4e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9bc9118e9c4333" /><Relationship Type="http://schemas.openxmlformats.org/officeDocument/2006/relationships/notesSlide" Target="/ppt/notesSlides/notesSlide6.xml" Id="R7da8c0edd36d4f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6f786247a4421d" /><Relationship Type="http://schemas.openxmlformats.org/officeDocument/2006/relationships/notesSlide" Target="/ppt/notesSlides/notesSlide7.xml" Id="Rad54a5077a4c4b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1f6b66711e4139" /><Relationship Type="http://schemas.openxmlformats.org/officeDocument/2006/relationships/notesSlide" Target="/ppt/notesSlides/notesSlide8.xml" Id="Rd4b17f353e1043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45c11fee4c4603" /><Relationship Type="http://schemas.openxmlformats.org/officeDocument/2006/relationships/notesSlide" Target="/ppt/notesSlides/notesSlide9.xml" Id="Rfb3c364cf41d4f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fe7cd9aa6f4d1d" /><Relationship Type="http://schemas.openxmlformats.org/officeDocument/2006/relationships/notesSlide" Target="/ppt/notesSlides/notesSlide10.xml" Id="Re9e7ee38e5c343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caa81524d24838" /><Relationship Type="http://schemas.openxmlformats.org/officeDocument/2006/relationships/notesSlide" Target="/ppt/notesSlides/notesSlide11.xml" Id="Rdea1223a08e042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bab0c2cecb4526" /><Relationship Type="http://schemas.openxmlformats.org/officeDocument/2006/relationships/notesSlide" Target="/ppt/notesSlides/notesSlide12.xml" Id="R2a596662f74343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19925e9cbc4471" /><Relationship Type="http://schemas.openxmlformats.org/officeDocument/2006/relationships/notesSlide" Target="/ppt/notesSlides/notesSlide13.xml" Id="R7f19a20e26234f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a6593f6e87420d" /><Relationship Type="http://schemas.openxmlformats.org/officeDocument/2006/relationships/notesSlide" Target="/ppt/notesSlides/notesSlide14.xml" Id="R619fd274e6d342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ADA0F6-7F10-46FC-A9F8-889A224B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51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ClickAndGo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ED6873-1FA9-4E99-ABEA-A27345B2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 b="0">
                <a:solidFill>
                  <a:srgbClr val="9FC0E0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2100" b="0">
                <a:solidFill>
                  <a:srgbClr val="9FC0E0"/>
                </a:solidFill>
              </a:defRPr>
            </a:pPr>
            <a:r>
              <a:rPr sz="2100" b="0">
                <a:solidFill>
                  <a:srgbClr val="9FC0E0"/>
                </a:solidFill>
              </a:rPr>
              <a:t>Revision oral del codigo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5A725-318D-4528-80BA-E85BA240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 b="0">
                <a:solidFill>
                  <a:srgbClr val="7FA3C4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0">
                <a:solidFill>
                  <a:srgbClr val="7FA3C4"/>
                </a:solidFill>
              </a:defRPr>
            </a:pPr>
            <a:r>
              <a:rPr sz="1125" b="0">
                <a:solidFill>
                  <a:srgbClr val="7FA3C4"/>
                </a:solidFill>
              </a:rPr>
              <a:t>Evaluacion Sumativa N3  |  Unidad 4: desarrollo de soluciones de software en Python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0570C3-1C38-465A-8E93-9E8124F5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33750"/>
            <a:ext cx="190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3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E2C2D-A26A-4526-8A66-46EABD90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Miguel Troncoso  y  Alexandy Remicinthe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B5AE9-9FD0-453F-89AA-CE448566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0">
                <a:solidFill>
                  <a:srgbClr val="7FA3C4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050" b="0">
                <a:solidFill>
                  <a:srgbClr val="7FA3C4"/>
                </a:solidFill>
              </a:defRPr>
            </a:pPr>
            <a:r>
              <a:rPr sz="1050" b="0">
                <a:solidFill>
                  <a:srgbClr val="7FA3C4"/>
                </a:solidFill>
              </a:rPr>
              <a:t>TI3V21 - Seccion 114-2A-F2  |  INACAP Puente Alto  |  Martes 13 de octubre de 2026, 21:30 hrs - Laboratorio A403</a:t>
            </a:r>
          </a:p>
        </p:txBody>
      </p:sp>
    </p:spTree>
    <p:extLst>
      <p:ext uri="{BB962C8B-B14F-4D97-AF65-F5344CB8AC3E}">
        <p14:creationId xmlns:p14="http://schemas.microsoft.com/office/powerpoint/2010/main" val="11112788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7BC24-2BD5-4EBA-846B-F7E2B1AE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FC9D4-5967-4E96-8A7A-CCDD835E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Lo que vamos a mostrar en el codigo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B66DCF-49E1-4618-8F40-4A1A575E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Diez minutos, cuatro bloques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11308-7911-431B-86C2-620EB9F4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84EF4-4278-44A8-B412-79F5BF84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85925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Donde esta cada requisito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BA4FD-CE95-42F3-9CDE-FC68C969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Cinco funcionales y dos no funcionales, con archivo, clase o funcion.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B9BE4F-6601-4FDC-9CDA-04DFBE3F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12340-1269-42F2-B4F7-6F36A21D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14625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El camino de una operacion completa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E2F37-9E75-49DC-95CC-7368AB8B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003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Desde el menu en main.py hasta la consulta SQL que guarda.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324B6-6E89-4E19-956C-DB5AE25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86E39-EA0B-4114-AEE9-E114B1E0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43325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Que cambio despues de la retroalimentacion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032D3-407B-4D8E-93B4-16D6A5F9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290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Codigos automaticos y rediseno de la interfaz.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55CDF-C154-4DB3-827E-EC09086F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6286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BC9B8-2839-490F-8CB1-B6F43220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72025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Como el codigo protege los datos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6BB64-6970-44B5-8F8C-0CA1EF58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057775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Consultas parametrizadas, validacion y manejo de la falla de la API.</a:t>
            </a:r>
          </a:p>
        </p:txBody>
      </p:sp>
    </p:spTree>
    <p:extLst>
      <p:ext uri="{BB962C8B-B14F-4D97-AF65-F5344CB8AC3E}">
        <p14:creationId xmlns:p14="http://schemas.microsoft.com/office/powerpoint/2010/main" val="13675991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C822CE-575D-43AC-A5A2-9E8FF635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ARQUITECTURA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C816C-886A-4508-8B39-8443DF1D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Cuatro capas, una responsabilidad cada una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C83C8-225B-4736-8F2A-9397FEF1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Cada capa se puede cambiar sin tocar las demas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A92F0-34B5-4FDE-87D9-F2F88325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A2CCC-C6B3-4064-B86F-1BC3B5A8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E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4F607-BC77-4FA7-A7F6-A3C4C03A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764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main.py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99CD9-65E8-49A5-AD60-941304ED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95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C4E80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1C4E80"/>
                </a:solidFill>
              </a:defRPr>
            </a:pPr>
            <a:r>
              <a:rPr sz="1200" b="1">
                <a:solidFill>
                  <a:srgbClr val="1C4E80"/>
                </a:solidFill>
              </a:rPr>
              <a:t>Menu de consola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F0845E-0F36-43A8-A987-9E0D2082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621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5A6B7C"/>
                </a:solidFill>
              </a:defRPr>
            </a:pPr>
            <a:r>
              <a:rPr sz="1050" b="0">
                <a:solidFill>
                  <a:srgbClr val="5A6B7C"/>
                </a:solidFill>
              </a:rPr>
              <a:t>Pide los datos y captura los errores de negocio.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D7E79-C490-4E92-8EDB-DFA59F1A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10972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103B2-DA1A-43EA-9247-A94DB0A6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38C0B5-8A28-4E6D-9055-2174F79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servicios/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6D227-DEDC-4897-90E0-97D7C083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71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E6DA4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2E6DA4"/>
                </a:solidFill>
              </a:defRPr>
            </a:pPr>
            <a:r>
              <a:rPr sz="1200" b="1">
                <a:solidFill>
                  <a:srgbClr val="2E6DA4"/>
                </a:solidFill>
              </a:rPr>
              <a:t>Validacion, codigos y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2065A3-B1A1-489E-87C0-26D398E0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384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5A6B7C"/>
                </a:solidFill>
              </a:defRPr>
            </a:pPr>
            <a:r>
              <a:rPr sz="1050" b="0">
                <a:solidFill>
                  <a:srgbClr val="5A6B7C"/>
                </a:solidFill>
              </a:rPr>
              <a:t>Valida entradas, genera codigos y consulta el dolar.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AE10A-BAF0-4E13-9825-745B302F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972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FCCC1-EAE8-484F-8EC9-B9046593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88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054443-DF74-4EC0-85ED-DAE0152A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model/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3892A-8B2B-4587-AA37-EE5F011B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48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3F88C5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3F88C5"/>
                </a:solidFill>
              </a:defRPr>
            </a:pPr>
            <a:r>
              <a:rPr sz="1200" b="1">
                <a:solidFill>
                  <a:srgbClr val="3F88C5"/>
                </a:solidFill>
              </a:rPr>
              <a:t>Reglas del negocio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C466C-0406-4720-AE30-7D46EFB0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714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5A6B7C"/>
                </a:solidFill>
              </a:defRPr>
            </a:pPr>
            <a:r>
              <a:rPr sz="1050" b="0">
                <a:solidFill>
                  <a:srgbClr val="5A6B7C"/>
                </a:solidFill>
              </a:rPr>
              <a:t>Clases, herencia, polimorfismo y excepciones propias.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3FBD4B-83A2-44DB-B729-ED14E16F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854876-3DD0-48F5-83F1-CA173C25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EA351E-4479-4871-9488-D5D9512D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dao/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1F709-7CF3-4C2B-AB8E-7F962133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24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59A5D8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59A5D8"/>
                </a:solidFill>
              </a:defRPr>
            </a:pPr>
            <a:r>
              <a:rPr sz="1200" b="1">
                <a:solidFill>
                  <a:srgbClr val="59A5D8"/>
                </a:solidFill>
              </a:rPr>
              <a:t>Persistencia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05678-7087-47D6-B957-F0F6A2A6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5910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5A6B7C"/>
                </a:solidFill>
              </a:defRPr>
            </a:pPr>
            <a:r>
              <a:rPr sz="1050" b="0">
                <a:solidFill>
                  <a:srgbClr val="5A6B7C"/>
                </a:solidFill>
              </a:rPr>
              <a:t>CRUD en SQLite con consultas parametrizadas.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B29AF7-B8E4-4257-A0AD-7ED4968F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 i="1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 i="1">
                <a:solidFill>
                  <a:srgbClr val="5A6B7C"/>
                </a:solidFill>
              </a:defRPr>
            </a:pPr>
            <a:r>
              <a:rPr sz="1050" b="0" i="1">
                <a:solidFill>
                  <a:srgbClr val="5A6B7C"/>
                </a:solidFill>
              </a:rPr>
              <a:t>Datos guardados en datos/clickandgo.db  |  Las tablas se crean solas al iniciar</a:t>
            </a:r>
          </a:p>
        </p:txBody>
      </p:sp>
    </p:spTree>
    <p:extLst>
      <p:ext uri="{BB962C8B-B14F-4D97-AF65-F5344CB8AC3E}">
        <p14:creationId xmlns:p14="http://schemas.microsoft.com/office/powerpoint/2010/main" val="5247992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F8E66-F972-4A6A-B267-C33A7B81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REQUISITOS FUNCIONALES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AEF64-2D07-4403-868C-9415DDD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Los cinco requisitos de la ficha, ubicados en el codigo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85E7C-A995-4F20-98E3-10A4745F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Cada fila es un requisito; cada archivo es el que abrimos en el editor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7A2C9-D161-41E8-86CB-482E180808CF}"/>
              </a:ext>
            </a:extLst>
          </p:cNvPr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3924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70738"/>
                <a:gridCol w="4431323"/>
                <a:gridCol w="3270738"/>
              </a:tblGrid>
              <a:tr h="654050"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Requisito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Archivo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Clase o funcion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1. Tres subtipos con un metodo que cambia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model/producto_fisico.py, producto_digital.py, producto_servicio.py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procesar_entrega() sobrescrito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2. Dato con validacion obligatoria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model/cliente.py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Cliente.identificador (setter) y validar_rut()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3. Transaccion con lineas de detalle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model/pedido.py  +  dao/pedido_dao.py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Pedido.agregar_linea() y PedidoDAO.crear()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4. Dos reglas con excepcion propia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model/pedido.py  +  model/excepciones.py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confirmar_pedido() y despachar()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5. Precio con indicador externo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model/producto_electronica.py  +  servicios/indicador_dolar.py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calcular_precio_final() y obtener_valor_dolar()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8BC33-2B07-4E7C-A4A2-60793F5F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 i="1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 i="1">
                <a:solidFill>
                  <a:srgbClr val="5A6B7C"/>
                </a:solidFill>
              </a:defRPr>
            </a:pPr>
            <a:r>
              <a:rPr sz="1050" b="0" i="1">
                <a:solidFill>
                  <a:srgbClr val="5A6B7C"/>
                </a:solidFill>
              </a:rPr>
              <a:t>En cada caso abrimos el archivo y mostramos la linea exacta.</a:t>
            </a:r>
          </a:p>
        </p:txBody>
      </p:sp>
    </p:spTree>
    <p:extLst>
      <p:ext uri="{BB962C8B-B14F-4D97-AF65-F5344CB8AC3E}">
        <p14:creationId xmlns:p14="http://schemas.microsoft.com/office/powerpoint/2010/main" val="5346733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0E122-BAD7-42FF-8339-B294173F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REQUISITOS NO FUNCIONALES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2C50B-2566-4315-9937-3DAD8B90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Dos requisitos que no se ven en el menu, pero sostienen el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B3A17-3BB3-4E88-B2BC-76DBF16A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La rubrica pide al menos dos: mostramos estos y, ademas, las consultas parametrizadas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77268-B543-4900-A813-4F58CFD3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3530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381E8-6B97-453C-8788-B48F48E1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75" b="1">
                <a:solidFill>
                  <a:srgbClr val="0D233A"/>
                </a:solidFill>
              </a:defRPr>
            </a:pPr>
            <a:r>
              <a:rPr sz="1575" b="1">
                <a:solidFill>
                  <a:srgbClr val="0D233A"/>
                </a:solidFill>
              </a:rPr>
              <a:t>Validacion de entradas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B7A96-9EF8-4BB8-A822-7EA1B37B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 i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 i="1">
                <a:solidFill>
                  <a:srgbClr val="D63426"/>
                </a:solidFill>
              </a:defRPr>
            </a:pPr>
            <a:r>
              <a:rPr sz="1050" b="0" i="1">
                <a:solidFill>
                  <a:srgbClr val="D63426"/>
                </a:solidFill>
              </a:rPr>
              <a:t>servicios/validador.py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8635D8-3710-4FA0-948D-19A28FDF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pedir_entero(), pedir_decimal() y pedir_fecha_futura() reintentan sin caer.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C1EA8-164D-44D4-93B6-65D9B5E4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Cliente.identificador, Producto.stock y ProductoServicio.fecha_agendada validan en el setter.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43119-0DE9-4142-86E4-531FDB23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El caso P19 del guion de pruebas escribe letras donde va un numero y el programa sigue.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4E231-2CB6-4BC0-B9AE-86B5DB4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66875"/>
            <a:ext cx="53530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55B91B-ADA9-4EA3-A298-BE596664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75" b="1">
                <a:solidFill>
                  <a:srgbClr val="0D233A"/>
                </a:solidFill>
              </a:defRPr>
            </a:pPr>
            <a:r>
              <a:rPr sz="1575" b="1">
                <a:solidFill>
                  <a:srgbClr val="0D233A"/>
                </a:solidFill>
              </a:rPr>
              <a:t>Continuidad si la API falla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E9353-AE15-4BF4-B199-489D206E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0980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 i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 i="1">
                <a:solidFill>
                  <a:srgbClr val="D63426"/>
                </a:solidFill>
              </a:defRPr>
            </a:pPr>
            <a:r>
              <a:rPr sz="1050" b="0" i="1">
                <a:solidFill>
                  <a:srgbClr val="D63426"/>
                </a:solidFill>
              </a:rPr>
              <a:t>servicios/indicador_dolar.py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2867B-5E51-4220-B40A-1190F7A9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requests.get con timeout=5: la consulta no puede colgar el programa.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679D1-EBB6-4BBF-825F-9ACE44A6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04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Si falla, se lanza IndicadorNoDisponibleError y se usa el ultimo valor guardado.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9D740-60AD-495A-B7A9-0027A4FF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-  El caso P17 del guion de pruebas desconecta el wifi y el sistema avisa y continua.</a:t>
            </a:r>
          </a:p>
        </p:txBody>
      </p:sp>
    </p:spTree>
    <p:extLst>
      <p:ext uri="{BB962C8B-B14F-4D97-AF65-F5344CB8AC3E}">
        <p14:creationId xmlns:p14="http://schemas.microsoft.com/office/powerpoint/2010/main" val="47111071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25F0F5-75E4-42A5-BDBB-3FE0FE4D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RECORRIDO COMPLETO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E3892-EF37-43E3-B0FC-482B6450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El camino de una operacion: registrar el pago de un pedido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62835-D5EF-4A5A-8509-5A7EE027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Del menu a la consulta SQL, capa por capa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5FA0C-F88A-4FF1-AFE6-D4D234DF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FEBA5-BFFA-4568-BF66-581A72DE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430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main.py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625CB-07E5-4A23-B6D4-8CEEC639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526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_registrar_pago()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2C54A-1E2C-47C4-B50C-8B6BA2F2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002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El menu elige el pedido y llama al objeto del modelo.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F55CA3-800C-43B4-84AE-90926451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45D11-DD7F-4B2C-B7D3-AF375B40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model/pedido.py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6A6FF-992C-4E0F-94F9-F547C364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Pedido.registrar_pago()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63C31-1ADD-478F-BB0B-B8E742C0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Primero confirma el stock y despues descuenta.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D5576-6A01-4C4D-8DA9-49AA8415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96AF85-20F5-48E3-B745-520DE473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model/producto.py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30089-457D-4116-9397-41A4B4AA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descontar_stock()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7DB3F4-71EE-4B65-BAAA-08E68BC5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861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Cada producto valida y rebaja su propio stock.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6FEB3-786E-4C81-8F08-8DF0FB00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84ECAB-4AFE-43BA-9CB2-D3301E54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719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dao/pedido_dao.py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36AFD-3059-4EE9-AD92-1990CC0F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814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actualizar_estado()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4D342A-1FE3-4601-8978-0CE07B86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290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Guarda el nuevo estado del pedido.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2C0F0-843F-497A-B858-0A0DF890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D23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180CCF-3390-4BEC-944C-5C7E0BA0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dao/producto_dao.py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EDB687-1144-460C-AB0D-A85DC027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244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actualizar_stock()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61C4A-29E9-488D-9C8F-EE54D57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7200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Guarda el stock por producto.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1719AF-0CAC-4947-AA04-5AC9D23A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A7F4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FCBC17-A962-4A53-A013-DB1943D6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578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1">
                <a:solidFill>
                  <a:srgbClr val="0D233A"/>
                </a:solidFill>
              </a:defRPr>
            </a:pPr>
            <a:r>
              <a:rPr sz="1125" b="1">
                <a:solidFill>
                  <a:srgbClr val="0D233A"/>
                </a:solidFill>
              </a:rPr>
              <a:t>SQLite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0FC949-CD66-4E78-B3B2-6DA26FE3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673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>
                <a:solidFill>
                  <a:srgbClr val="D63426"/>
                </a:solidFill>
              </a:defRPr>
            </a:pPr>
            <a:r>
              <a:rPr sz="975" b="0">
                <a:solidFill>
                  <a:srgbClr val="D63426"/>
                </a:solidFill>
              </a:rPr>
              <a:t>UPDATE ... WHERE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111837-1AF9-4683-A733-15925473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149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1F2933"/>
                </a:solidFill>
              </a:defRPr>
            </a:pPr>
            <a:r>
              <a:rPr sz="1013" b="0">
                <a:solidFill>
                  <a:srgbClr val="1F2933"/>
                </a:solidFill>
              </a:rPr>
              <a:t>Consulta parametrizada: UPDATE productos SET stock = :stock WHERE id_producto = :id</a:t>
            </a:r>
          </a:p>
        </p:txBody>
      </p:sp>
    </p:spTree>
    <p:extLst>
      <p:ext uri="{BB962C8B-B14F-4D97-AF65-F5344CB8AC3E}">
        <p14:creationId xmlns:p14="http://schemas.microsoft.com/office/powerpoint/2010/main" val="210442393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051371-B36A-460C-9F05-41FAFEF1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POLIMORFISMO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48E2C-10D4-46A8-9717-A082FDFC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Un mismo metodo, cuatro comportamientos distintos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D84F9-4997-423A-B31C-0F8B0FDB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Pedido.procesar_despacho_entregas() recorre las lineas sin preguntar el tipo de producto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9F7CB-4F0E-4301-9806-7922A2B4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353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F88C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EC585-17E9-4875-82F6-0560EEA6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D233A"/>
                </a:solidFill>
              </a:defRPr>
            </a:pPr>
            <a:r>
              <a:rPr sz="1350" b="1">
                <a:solidFill>
                  <a:srgbClr val="0D233A"/>
                </a:solidFill>
              </a:rPr>
              <a:t>ProductoFisico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35AE5-12C6-49A1-8C7C-35EE35C5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3F88C5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3F88C5"/>
                </a:solidFill>
              </a:defRPr>
            </a:pPr>
            <a:r>
              <a:rPr sz="1050" b="1">
                <a:solidFill>
                  <a:srgbClr val="3F88C5"/>
                </a:solidFill>
              </a:rPr>
              <a:t>Despacho por transporte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D96F7-7E95-4345-9524-883F688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Calcula flete por peso, volumen y distancia.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C5FE9-E335-4F2C-AD0E-C7AD0E74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38300"/>
            <a:ext cx="5353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9A5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1F0AF-1D8D-4814-9E62-BFFF08EF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097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D233A"/>
                </a:solidFill>
              </a:defRPr>
            </a:pPr>
            <a:r>
              <a:rPr sz="1350" b="1">
                <a:solidFill>
                  <a:srgbClr val="0D233A"/>
                </a:solidFill>
              </a:rPr>
              <a:t>ProductoDigital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ED34D-FC30-463D-B485-5807F3CE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45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9A5D8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59A5D8"/>
                </a:solidFill>
              </a:defRPr>
            </a:pPr>
            <a:r>
              <a:rPr sz="1050" b="1">
                <a:solidFill>
                  <a:srgbClr val="59A5D8"/>
                </a:solidFill>
              </a:rPr>
              <a:t>Entrega inmediata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5FC10-E735-43B5-8F8B-08715991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8125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Entrega el enlace y la licencia, con flete cero.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B55D6-1F0B-4D6A-8AB4-903BF185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5353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FB8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43E483-89A0-48C4-A4B3-DC6ECCE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D233A"/>
                </a:solidFill>
              </a:defRPr>
            </a:pPr>
            <a:r>
              <a:rPr sz="1350" b="1">
                <a:solidFill>
                  <a:srgbClr val="0D233A"/>
                </a:solidFill>
              </a:rPr>
              <a:t>ProductoServicio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B30B96-BC66-4F7E-951C-1406DEFF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FB8DD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7FB8DD"/>
                </a:solidFill>
              </a:defRPr>
            </a:pPr>
            <a:r>
              <a:rPr sz="1050" b="1">
                <a:solidFill>
                  <a:srgbClr val="7FB8DD"/>
                </a:solidFill>
              </a:rPr>
              <a:t>Agenda tecnica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AAAF1-408E-455A-9ACE-02A407C6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Registra fecha futura, direccion y duracion.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FC9500-9417-4879-9169-5B975F35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14700"/>
            <a:ext cx="5353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E6DA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7CA314-E4EE-4B64-B970-6FA3B8D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861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0D233A"/>
                </a:solidFill>
              </a:defRPr>
            </a:pPr>
            <a:r>
              <a:rPr sz="1350" b="1">
                <a:solidFill>
                  <a:srgbClr val="0D233A"/>
                </a:solidFill>
              </a:rPr>
              <a:t>ProductoElectronica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94787-FB9E-42D3-BB59-CF268D39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909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2E6DA4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1">
                <a:solidFill>
                  <a:srgbClr val="2E6DA4"/>
                </a:solidFill>
              </a:defRPr>
            </a:pPr>
            <a:r>
              <a:rPr sz="1050" b="1">
                <a:solidFill>
                  <a:srgbClr val="2E6DA4"/>
                </a:solidFill>
              </a:rPr>
              <a:t>Hereda de ProductoFisico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1FCA4F-5AC5-4563-913B-4E173177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5765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Mismo despacho, pero cotiza en USD con el dolar del dia.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7F37E4-0FFF-442B-BA40-0CA3597A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125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125" b="0">
                <a:solidFill>
                  <a:srgbClr val="0D233A"/>
                </a:solidFill>
              </a:defRPr>
            </a:pPr>
            <a:r>
              <a:rPr sz="1125" b="0">
                <a:solidFill>
                  <a:srgbClr val="0D233A"/>
                </a:solidFill>
              </a:rPr>
              <a:t>for detalle in self._detalles:  resultados.append(detalle.producto.procesar_entrega(detalle))</a:t>
            </a:r>
          </a:p>
        </p:txBody>
      </p:sp>
    </p:spTree>
    <p:extLst>
      <p:ext uri="{BB962C8B-B14F-4D97-AF65-F5344CB8AC3E}">
        <p14:creationId xmlns:p14="http://schemas.microsoft.com/office/powerpoint/2010/main" val="18687219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F3297-C8CE-4DE4-9952-0CE297BA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REGLAS DE NEGOCIO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54C22-379D-4F6C-836C-171BFCDB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Dos reglas que impiden una operacion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464AA-8B0F-444D-8AE1-A1D6DE6F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Cada una tiene su excepcion propia y se captura de forma especifica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F370F-5E60-4FB9-8776-EE8A864D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972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34E21-7C89-4709-8905-27708AED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Regla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46F9D-D743-45D6-A4A7-6DF44FF0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7335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425" b="1">
                <a:solidFill>
                  <a:srgbClr val="0D233A"/>
                </a:solidFill>
              </a:defRPr>
            </a:pPr>
            <a:r>
              <a:rPr sz="1425" b="1">
                <a:solidFill>
                  <a:srgbClr val="0D233A"/>
                </a:solidFill>
              </a:rPr>
              <a:t>No confirmar un pedido sin stock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6DBB0-418A-4F9A-8D44-034AB544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01930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 i="1">
                <a:solidFill>
                  <a:srgbClr val="1C4E80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 i="1">
                <a:solidFill>
                  <a:srgbClr val="1C4E80"/>
                </a:solidFill>
              </a:defRPr>
            </a:pPr>
            <a:r>
              <a:rPr sz="975" b="0" i="1">
                <a:solidFill>
                  <a:srgbClr val="1C4E80"/>
                </a:solidFill>
              </a:rPr>
              <a:t>model/pedido.py - confirmar_pedido()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7E81B-705F-40E3-9DEE-372EE826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1051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0D233A"/>
                </a:solidFill>
              </a:defRPr>
            </a:pPr>
            <a:r>
              <a:rPr sz="1050" b="0">
                <a:solidFill>
                  <a:srgbClr val="0D233A"/>
                </a:solidFill>
              </a:rPr>
              <a:t>raise StockInsuficienteError(producto.nombre, detalle.cantidad, producto.stock)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33D5D-79BB-4F48-8223-6B4D63FA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051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El stock no cambia porque el descuento ocurre recien al registrar el pago.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A9828-6B18-47BF-9461-D27C58DB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A83DF-4617-4E77-B75E-4DC5C276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Regla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B1E4B-E93E-41BC-B115-22A46B14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1475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425" b="1">
                <a:solidFill>
                  <a:srgbClr val="0D233A"/>
                </a:solidFill>
              </a:defRPr>
            </a:pPr>
            <a:r>
              <a:rPr sz="1425" b="1">
                <a:solidFill>
                  <a:srgbClr val="0D233A"/>
                </a:solidFill>
              </a:rPr>
              <a:t>No despachar un pedido impago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44CA53-6E4E-4EAF-891D-F62CE6A6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0050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 i="1">
                <a:solidFill>
                  <a:srgbClr val="1C4E80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 i="1">
                <a:solidFill>
                  <a:srgbClr val="1C4E80"/>
                </a:solidFill>
              </a:defRPr>
            </a:pPr>
            <a:r>
              <a:rPr sz="975" b="0" i="1">
                <a:solidFill>
                  <a:srgbClr val="1C4E80"/>
                </a:solidFill>
              </a:rPr>
              <a:t>model/pedido.py - despachar(operador)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2066E-3B78-4604-A39E-9146558F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1051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0D233A"/>
                </a:solidFill>
              </a:defRPr>
            </a:pPr>
            <a:r>
              <a:rPr sz="1050" b="0">
                <a:solidFill>
                  <a:srgbClr val="0D233A"/>
                </a:solidFill>
              </a:rPr>
              <a:t>raise PedidoNoPagadoError(self._id_pedido, self._estado_pago)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97037C-237F-4B7A-976C-011A21AA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1051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50" b="0">
                <a:solidFill>
                  <a:srgbClr val="1F2933"/>
                </a:solidFill>
              </a:defRPr>
            </a:pPr>
            <a:r>
              <a:rPr sz="1050" b="0">
                <a:solidFill>
                  <a:srgbClr val="1F2933"/>
                </a:solidFill>
              </a:rPr>
              <a:t>Antes de esa linea se verifica con SinPermisoError que el rol pueda despachar.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FA0A4-C28F-4F07-BE73-25F070A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050" b="1">
                <a:solidFill>
                  <a:srgbClr val="D63426"/>
                </a:solidFill>
              </a:defRPr>
            </a:pPr>
            <a:r>
              <a:rPr sz="1050" b="1">
                <a:solidFill>
                  <a:srgbClr val="D63426"/>
                </a:solidFill>
              </a:rPr>
              <a:t>Las excepciones se capturan en main.py:  except ClickAndGoError -&gt; avisa y vuelve al menu</a:t>
            </a:r>
          </a:p>
        </p:txBody>
      </p:sp>
    </p:spTree>
    <p:extLst>
      <p:ext uri="{BB962C8B-B14F-4D97-AF65-F5344CB8AC3E}">
        <p14:creationId xmlns:p14="http://schemas.microsoft.com/office/powerpoint/2010/main" val="21409323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4D468-20EC-447C-A710-4BC88823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INDICADOR EXTERNO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A8C00-3C9D-441E-8F60-66656A7F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El precio de la electronica depende del dolar del 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054E4-91F5-4103-A52F-ABF6F615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servicios/indicador_dolar.py: dos proveedores en cadena y respaldo local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7A739-7A30-4E31-8BE8-4F106CA0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0D233A"/>
                </a:solidFill>
              </a:defRPr>
            </a:pPr>
            <a:r>
              <a:rPr sz="1200" b="1">
                <a:solidFill>
                  <a:srgbClr val="0D233A"/>
                </a:solidFill>
              </a:rPr>
              <a:t>1. Proveedor principal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66467-0829-4C57-91D9-E86220A6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5735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0D233A"/>
                </a:solidFill>
              </a:defRPr>
            </a:pPr>
            <a:r>
              <a:rPr sz="1013" b="0">
                <a:solidFill>
                  <a:srgbClr val="0D233A"/>
                </a:solidFill>
              </a:rPr>
              <a:t>requests.get('https://mindicador.cl/api/dolar', timeout=5)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41670-D648-4F4A-8B15-03FEA409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019300"/>
            <a:ext cx="897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5A6B7C"/>
                </a:solidFill>
              </a:defRPr>
            </a:pPr>
            <a:r>
              <a:rPr sz="1013" b="0">
                <a:solidFill>
                  <a:srgbClr val="5A6B7C"/>
                </a:solidFill>
              </a:rPr>
              <a:t>Se toma el valor mas reciente de la serie del JSON.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CA6444-D77E-4319-925D-F21C79E1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0D233A"/>
                </a:solidFill>
              </a:defRPr>
            </a:pPr>
            <a:r>
              <a:rPr sz="1200" b="1">
                <a:solidFill>
                  <a:srgbClr val="0D233A"/>
                </a:solidFill>
              </a:rPr>
              <a:t>2. Proveedor de respaldo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F8E61F-4603-401F-8C61-BFA1804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66700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0D233A"/>
                </a:solidFill>
              </a:defRPr>
            </a:pPr>
            <a:r>
              <a:rPr sz="1013" b="0">
                <a:solidFill>
                  <a:srgbClr val="0D233A"/>
                </a:solidFill>
              </a:rPr>
              <a:t>https://findic.cl/api/dolar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FCEC8-D8B3-4D4C-A59C-53E7671D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28950"/>
            <a:ext cx="897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5A6B7C"/>
                </a:solidFill>
              </a:defRPr>
            </a:pPr>
            <a:r>
              <a:rPr sz="1013" b="0">
                <a:solidFill>
                  <a:srgbClr val="5A6B7C"/>
                </a:solidFill>
              </a:rPr>
              <a:t>Si el principal no responde, se intenta con el segundo y se avisa cual se uso.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E9CF9-8659-4A71-B1C0-B536B6B5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0D233A"/>
                </a:solidFill>
              </a:defRPr>
            </a:pPr>
            <a:r>
              <a:rPr sz="1200" b="1">
                <a:solidFill>
                  <a:srgbClr val="0D233A"/>
                </a:solidFill>
              </a:rPr>
              <a:t>3. Conversion a pesos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943B3-C191-4F5A-B81F-1F51FE54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7665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0D233A"/>
                </a:solidFill>
              </a:defRPr>
            </a:pPr>
            <a:r>
              <a:rPr sz="1013" b="0">
                <a:solidFill>
                  <a:srgbClr val="0D233A"/>
                </a:solidFill>
              </a:rPr>
              <a:t>ProductoElectronica.calcular_precio_final(valor_dolar)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D509B-36BB-46DE-A605-4E4F351A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897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5A6B7C"/>
                </a:solidFill>
              </a:defRPr>
            </a:pPr>
            <a:r>
              <a:rPr sz="1013" b="0">
                <a:solidFill>
                  <a:srgbClr val="5A6B7C"/>
                </a:solidFill>
              </a:rPr>
              <a:t>precio_usd * valor_dolar, redondeado a pesos.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DE98C-A7EB-425E-9E3D-5CC9B6D6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200" b="1">
                <a:solidFill>
                  <a:srgbClr val="0D233A"/>
                </a:solidFill>
              </a:defRPr>
            </a:pPr>
            <a:r>
              <a:rPr sz="1200" b="1">
                <a:solidFill>
                  <a:srgbClr val="0D233A"/>
                </a:solidFill>
              </a:rPr>
              <a:t>4. Ultimo respaldo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9A6B7-196B-4D8D-8F22-3871580E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686300"/>
            <a:ext cx="897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0D233A"/>
                </a:solidFill>
              </a:defRPr>
            </a:pPr>
            <a:r>
              <a:rPr sz="1013" b="0">
                <a:solidFill>
                  <a:srgbClr val="0D233A"/>
                </a:solidFill>
              </a:rPr>
              <a:t>datos/dolar_respaldo.json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594E5-D8F6-4DC3-8EA8-F7AD5E73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048250"/>
            <a:ext cx="897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13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013" b="0">
                <a:solidFill>
                  <a:srgbClr val="5A6B7C"/>
                </a:solidFill>
              </a:defRPr>
            </a:pPr>
            <a:r>
              <a:rPr sz="1013" b="0">
                <a:solidFill>
                  <a:srgbClr val="5A6B7C"/>
                </a:solidFill>
              </a:rPr>
              <a:t>Si fallan los dos proveedores, se usa el ultimo valor conocido y se informa.</a:t>
            </a:r>
          </a:p>
        </p:txBody>
      </p:sp>
    </p:spTree>
    <p:extLst>
      <p:ext uri="{BB962C8B-B14F-4D97-AF65-F5344CB8AC3E}">
        <p14:creationId xmlns:p14="http://schemas.microsoft.com/office/powerpoint/2010/main" val="41020673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43535-5B26-4876-BCF9-FA75CE3B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SEGURIDAD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D305C-8C71-4899-86B6-79AB4FFF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Como el codigo protege los datos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F7421-8CC2-4661-AAE8-B0E032F1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Cada mecanismo evita un riesgo concreto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99EAA-9168-4A8C-A40E-02597F333AF0}"/>
              </a:ext>
            </a:extLst>
          </p:cNvPr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114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93571"/>
                <a:gridCol w="3391593"/>
                <a:gridCol w="4987636"/>
              </a:tblGrid>
              <a:tr h="587829"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Mecanismo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Donde esta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Riesgo que evita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Consultas parametrizadas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dao/conexion.py y todos los DAO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Inyeccion SQL: el texto del usuario nunca se concatena en la sentencia.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Validacion de entradas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servicios/validador.py y setters del modelo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Datos invalidos guardados o programa detenido por un error de tipo.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Tiempo maximo de espera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indicador_dolar.py (timeout=5)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Que una API lenta deje el sistema colgado esperando respuesta.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Excepciones propias de negocio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model/excepciones.py y main.py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Operaciones inseguras y caidas del programa ante un error esperado.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Contrasena con PBKDF2 y salt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model/trabajador.py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Lectura de contrasenas si alguien obtiene el archivo de la base de datos.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Control de acceso por rol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encargado_bodega.py y administrador.py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Que un rol sin autorizacion modifique precios o catalogo.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52050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AF414-6048-46F9-8C91-4ED931AC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RETROALIMENTACION ES2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4F99C0-970E-4E6C-94AA-D4E934CE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Que cambio en el codigo despues de la evaluacion anterior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7DDA9-1D73-4458-9748-6AD8B5D6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Los seis cambios y donde se ven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91BC3-AF08-4CDF-AB60-DE500CC88350}"/>
              </a:ext>
            </a:extLst>
          </p:cNvPr>
          <p:cNvGraphicFramePr/>
          <p:nvPr/>
        </p:nvGraphicFramePr>
        <p:xfrm>
          <a:off xmlns:a="http://schemas.openxmlformats.org/drawingml/2006/main" x="609600" y="1638300"/>
          <a:ext xmlns:a="http://schemas.openxmlformats.org/drawingml/2006/main" cx="10972800" cy="4248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40480"/>
                <a:gridCol w="4754880"/>
                <a:gridCol w="2377440"/>
              </a:tblGrid>
              <a:tr h="606879"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Observacion recibida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Cambio realizado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Donde se ve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Habia que escribir el codigo de productos y clientes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El sistema los genera: C01, F01, D01, S01, E01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servicios/codigos.py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Era incomodo operar escribiendo codigos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Listas numeradas: se elige con el numero, o con 0 se cancela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servicios/consola.py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No se sabia en que paso iba el registro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Formularios con contador [1/7] y panel de resumen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main.py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Las listas eran texto suelto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Tablas con encabezado y columnas alineadas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servicios/consola.py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Los mensajes se veian todos iguales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[OK], [!], [i] y [X], con color en terminal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servicios/consola.py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687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El menu no explicaba cada opcion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Descripcion breve por opcion y operador activo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main.py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2212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08D86-90DD-444C-9DE4-427C9CF6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MEJORA PRINCIPAL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86D12-C07C-47A6-86E8-74B1FC4B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Los codigos ya no se escriben: los asigna el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C276C-D533-46F7-8738-385934AF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servicios/codigos.py - clase GeneradorCodigos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49034-0551-4ED3-B3D7-5A26FA83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295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BECEA"/>
          </a:solidFill>
          <a:ln xmlns:a="http://schemas.openxmlformats.org/drawingml/2006/main" w="14288">
            <a:solidFill>
              <a:srgbClr val="D6342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E1A68-D802-464C-B377-93E4FE0D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D63426"/>
                </a:solidFill>
              </a:defRPr>
            </a:pPr>
            <a:r>
              <a:rPr sz="1350" b="1">
                <a:solidFill>
                  <a:srgbClr val="D63426"/>
                </a:solidFill>
              </a:rPr>
              <a:t>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AC3A4-9649-4081-9685-D48B1737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Registrar producto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Identificador: PROD-E01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Nombre: Monitor 4K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Precio USD: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06741-3DD1-4F27-A253-B92E293D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38300"/>
            <a:ext cx="5295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9F5EE"/>
          </a:solidFill>
          <a:ln xmlns:a="http://schemas.openxmlformats.org/drawingml/2006/main" w="14288">
            <a:solidFill>
              <a:srgbClr val="1A7F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DB777-D272-4D9D-A6C9-F7389219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09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A7F4B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350" b="1">
                <a:solidFill>
                  <a:srgbClr val="1A7F4B"/>
                </a:solidFill>
              </a:defRPr>
            </a:pPr>
            <a:r>
              <a:rPr sz="1350" b="1">
                <a:solidFill>
                  <a:srgbClr val="1A7F4B"/>
                </a:solidFill>
              </a:rPr>
              <a:t>Ahora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CFEF0-D72A-4B47-8A04-213C2F7C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5265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Registrar producto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[1/7] Tipo: 4 - Electronica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[2/7] Nombre: Monitor 4K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[7/7] Garantia: 12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  Codigo asignado: E02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A3594-7C3C-471D-A3F5-DCC1A2DDB4E8}"/>
              </a:ext>
            </a:extLst>
          </p:cNvPr>
          <p:cNvGraphicFramePr/>
          <p:nvPr/>
        </p:nvGraphicFramePr>
        <p:xfrm>
          <a:off xmlns:a="http://schemas.openxmlformats.org/drawingml/2006/main" x="609600" y="3695700"/>
          <a:ext xmlns:a="http://schemas.openxmlformats.org/drawingml/2006/main" cx="109728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9120"/>
                <a:gridCol w="2194560"/>
                <a:gridCol w="4389120"/>
              </a:tblGrid>
              <a:tr h="397329"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Tipo de registro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Prefijo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Cliente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C01, C02, C03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Producto fisico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F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F01, F02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Producto digital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D01, D02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Servicio tecnico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S01, S02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Electronica importada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E01, E02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7329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Pedido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PED-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PED-1001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540833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D8FBC-8F89-4EE3-9D74-139D6506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USO DE 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6B235-CEB4-459D-AD50-3C151CC8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Que propuso la IA y como lo evaluamos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1846D-5ED8-40D8-ADAE-E3F7A971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Un ejemplo concreto de cada decision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8A3E5-5AEC-45B0-92D4-1D4DE4AF921A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78477"/>
                <a:gridCol w="1592826"/>
                <a:gridCol w="4601497"/>
              </a:tblGrid>
              <a:tr h="819150"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Sugerencia de la IA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3" b="1">
                          <a:solidFill>
                            <a:srgbClr val="FFFFFF"/>
                          </a:solidFill>
                        </a:rPr>
                        <a:t>Razon tecnica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Acceder a las columnas de SQLite por nombre con sqlite3.Row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Adoptada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Un cambio en el orden del SELECT ya no rompe la construccion de los objetos.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Consumir la API con requests.get(URL) sin tiempo maximo de espera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Modificada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Se agrego timeout y captura especifica de fallas: la rubrica exige continuidad del sistema.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Resolver el tipo de producto con if/elif dentro de Pedido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Descartada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La rubrica indica que reemplazar el polimorfismo por if queda en nivel En desarrollo.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Guardar la contrasena con hashlib.md5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Descartada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F2933"/>
                          </a:solidFill>
                        </a:rPr>
                        <a:t>MD5 no es apto para contrasenas; se uso PBKDF2-HMAC-SHA256 con salt aleatorio.</a:t>
                      </a:r>
                    </a:p>
                  </a:txBody>
                  <a:tcPr marL="91440" marR="91440" marT="45720" marB="4572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0345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206CB-2318-4989-BD86-33DD3047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1">
                <a:solidFill>
                  <a:srgbClr val="D63426"/>
                </a:solidFill>
              </a:defRPr>
            </a:pPr>
            <a:r>
              <a:rPr sz="975" b="1">
                <a:solidFill>
                  <a:srgbClr val="D63426"/>
                </a:solidFill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B1FB3-A633-4ACF-B9EA-12C92191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2400" b="1">
                <a:solidFill>
                  <a:srgbClr val="0D233A"/>
                </a:solidFill>
              </a:defRPr>
            </a:pPr>
            <a:r>
              <a:rPr sz="2400" b="1">
                <a:solidFill>
                  <a:srgbClr val="0D233A"/>
                </a:solidFill>
              </a:rPr>
              <a:t>Como nos repartimos la presentacion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8264B0-A9F1-4436-9A34-4351672D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5A6B7C"/>
                </a:solidFill>
              </a:defRPr>
            </a:pPr>
            <a:r>
              <a:rPr sz="1125" b="0">
                <a:solidFill>
                  <a:srgbClr val="5A6B7C"/>
                </a:solidFill>
              </a:rPr>
              <a:t>Todo el codigo esta en el repositorio publico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646E9-696A-4883-A0E0-B346627C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89899-8D21-4394-93A1-D1C33F3E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Miguel Troncoso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D9538-D238-4F0F-95BF-970BB0A9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05000"/>
            <a:ext cx="733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Arquitectura, recorrido completo de la operacion y cambios de la retroalimentacion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FAD0D-0190-4D0C-9B19-E77141FA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400300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 i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 i="1">
                <a:solidFill>
                  <a:srgbClr val="D63426"/>
                </a:solidFill>
              </a:defRPr>
            </a:pPr>
            <a:r>
              <a:rPr sz="975" b="0" i="1">
                <a:solidFill>
                  <a:srgbClr val="D63426"/>
                </a:solidFill>
              </a:rPr>
              <a:t>main.py, model/pedido.py, servicios/codigos.py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0CD56A-8F6D-4138-A68F-D0BE4B91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2F5F9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B5107-40BD-45CF-B826-B6FF7CDF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194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500" b="1">
                <a:solidFill>
                  <a:srgbClr val="0D233A"/>
                </a:solidFill>
              </a:defRPr>
            </a:pPr>
            <a:r>
              <a:rPr sz="1500" b="1">
                <a:solidFill>
                  <a:srgbClr val="0D233A"/>
                </a:solidFill>
              </a:rPr>
              <a:t>Alexandy Remicinthe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F71DE2-4B00-4EA0-874C-85B91400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38500"/>
            <a:ext cx="733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1125" b="0">
                <a:solidFill>
                  <a:srgbClr val="1F2933"/>
                </a:solidFill>
              </a:defRPr>
            </a:pPr>
            <a:r>
              <a:rPr sz="1125" b="0">
                <a:solidFill>
                  <a:srgbClr val="1F2933"/>
                </a:solidFill>
              </a:rPr>
              <a:t>Los cinco requisitos funcionales, requisitos no funcionales y seguridad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4C5D1-8C7A-4A3A-935B-5B5AA537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33800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 i="1">
                <a:solidFill>
                  <a:srgbClr val="D63426"/>
                </a:solidFill>
              </a:defRPr>
            </a:defPPr>
          </a:lstStyle>
          <a:p xmlns:a="http://schemas.openxmlformats.org/drawingml/2006/main">
            <a:pPr>
              <a:lnSpc>
                <a:spcPct val="115000"/>
              </a:lnSpc>
              <a:buNone/>
              <a:defRPr sz="975" b="0" i="1">
                <a:solidFill>
                  <a:srgbClr val="D63426"/>
                </a:solidFill>
              </a:defRPr>
            </a:pPr>
            <a:r>
              <a:rPr sz="975" b="0" i="1">
                <a:solidFill>
                  <a:srgbClr val="D63426"/>
                </a:solidFill>
              </a:rPr>
              <a:t>model/cliente.py, producto_fisico.py, dao/, servicios/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9F399F-0770-4FC0-A9B2-7F9C0085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>
                <a:solidFill>
                  <a:srgbClr val="0D233A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0D233A"/>
                </a:solidFill>
              </a:defRPr>
            </a:pPr>
            <a:r>
              <a:rPr sz="1650" b="1">
                <a:solidFill>
                  <a:srgbClr val="0D233A"/>
                </a:solidFill>
              </a:rPr>
              <a:t>Gracias. Quedamos atentos a sus preguntas.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1CF42-EE55-42D3-8F51-3CC4D754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0">
                <a:solidFill>
                  <a:srgbClr val="5A6B7C"/>
                </a:solidFill>
              </a:defRPr>
            </a:defPPr>
          </a:lstStyle>
          <a:p xmlns:a="http://schemas.openxmlformats.org/drawingml/2006/main">
            <a:pPr algn="ctr">
              <a:lnSpc>
                <a:spcPct val="115000"/>
              </a:lnSpc>
              <a:buNone/>
              <a:defRPr sz="1050" b="0">
                <a:solidFill>
                  <a:srgbClr val="5A6B7C"/>
                </a:solidFill>
              </a:defRPr>
            </a:pPr>
            <a:r>
              <a:rPr sz="1050" b="0">
                <a:solidFill>
                  <a:srgbClr val="5A6B7C"/>
                </a:solidFill>
              </a:rPr>
              <a:t>github.com/MiguelTroncoso/ecommerce   |   inacap.superflash.site</a:t>
            </a:r>
          </a:p>
        </p:txBody>
      </p:sp>
    </p:spTree>
    <p:extLst>
      <p:ext uri="{BB962C8B-B14F-4D97-AF65-F5344CB8AC3E}">
        <p14:creationId xmlns:p14="http://schemas.microsoft.com/office/powerpoint/2010/main" val="1408971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2026-10-12T23:53:53.8090000Z</dcterms:created>
  <dcterms:modified xsi:type="dcterms:W3CDTF">2026-10-12T23:53:53.8090000Z</dcterms:modified>
</coreProperties>
</file>