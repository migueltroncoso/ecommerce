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4eef2cf6064481" /><Relationship Type="http://schemas.openxmlformats.org/officeDocument/2006/relationships/extended-properties" Target="/docProps/app.xml" Id="R4b7ef677f2994e1e" /><Relationship Type="http://schemas.openxmlformats.org/officeDocument/2006/relationships/officeDocument" Target="/ppt/presentation.xml" Id="R00e0ed4eb3b04810" /></Relationships>
</file>

<file path=ppt/presentation.xml><?xml version="1.0" encoding="utf-8"?>
<p:presentation xmlns:p="http://schemas.openxmlformats.org/presentationml/2006/main">
  <p:sldMasterIdLst>
    <p:sldMasterId xmlns:r="http://schemas.openxmlformats.org/officeDocument/2006/relationships" id="2147483648" r:id="R07cc0b2dd8554dfb"/>
  </p:sldMasterIdLst>
  <p:notesMasterIdLst>
    <p:notesMasterId xmlns:r="http://schemas.openxmlformats.org/officeDocument/2006/relationships" r:id="R29c77562d8a44b14"/>
  </p:notesMasterIdLst>
  <p:sldIdLst>
    <p:sldId xmlns:r="http://schemas.openxmlformats.org/officeDocument/2006/relationships" id="256" r:id="R0dda795033ea4096"/>
    <p:sldId xmlns:r="http://schemas.openxmlformats.org/officeDocument/2006/relationships" id="257" r:id="R9088ead0eebb42d5"/>
    <p:sldId xmlns:r="http://schemas.openxmlformats.org/officeDocument/2006/relationships" id="258" r:id="Rb2f35abcf61646e7"/>
    <p:sldId xmlns:r="http://schemas.openxmlformats.org/officeDocument/2006/relationships" id="259" r:id="Rcb39b91b215449a3"/>
    <p:sldId xmlns:r="http://schemas.openxmlformats.org/officeDocument/2006/relationships" id="260" r:id="Rd8c5cb438506438a"/>
    <p:sldId xmlns:r="http://schemas.openxmlformats.org/officeDocument/2006/relationships" id="261" r:id="R999ee0d2857e4d2c"/>
    <p:sldId xmlns:r="http://schemas.openxmlformats.org/officeDocument/2006/relationships" id="262" r:id="Rb8ab130e5ae249c8"/>
    <p:sldId xmlns:r="http://schemas.openxmlformats.org/officeDocument/2006/relationships" id="263" r:id="Raaf6776201ab429b"/>
    <p:sldId xmlns:r="http://schemas.openxmlformats.org/officeDocument/2006/relationships" id="264" r:id="Rdce3afeca3094957"/>
    <p:sldId xmlns:r="http://schemas.openxmlformats.org/officeDocument/2006/relationships" id="265" r:id="R9fb72673344c43ad"/>
    <p:sldId xmlns:r="http://schemas.openxmlformats.org/officeDocument/2006/relationships" id="266" r:id="R882320caf04f4760"/>
    <p:sldId xmlns:r="http://schemas.openxmlformats.org/officeDocument/2006/relationships" id="267" r:id="R1f69fcf782bb44ed"/>
    <p:sldId xmlns:r="http://schemas.openxmlformats.org/officeDocument/2006/relationships" id="268" r:id="R5cb85202f7f34045"/>
    <p:sldId xmlns:r="http://schemas.openxmlformats.org/officeDocument/2006/relationships" id="269" r:id="Ra2962b4e56394e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628a73aea2439c" /><Relationship Type="http://schemas.openxmlformats.org/officeDocument/2006/relationships/slideMaster" Target="/ppt/slideMasters/slideMaster1.xml" Id="R07cc0b2dd8554dfb" /><Relationship Type="http://schemas.openxmlformats.org/officeDocument/2006/relationships/notesMaster" Target="/ppt/notesMasters/notesMaster1.xml" Id="R29c77562d8a44b14" /><Relationship Type="http://schemas.openxmlformats.org/officeDocument/2006/relationships/presProps" Target="/ppt/presProps.xml" Id="Rbcf5f7fe4874499e" /><Relationship Type="http://schemas.openxmlformats.org/officeDocument/2006/relationships/tableStyles" Target="/ppt/tableStyles.xml" Id="Rc40344e2fdea4160" /><Relationship Type="http://schemas.openxmlformats.org/officeDocument/2006/relationships/slide" Target="/ppt/slides/slide1.xml" Id="R0dda795033ea4096" /><Relationship Type="http://schemas.openxmlformats.org/officeDocument/2006/relationships/slide" Target="/ppt/slides/slide2.xml" Id="R9088ead0eebb42d5" /><Relationship Type="http://schemas.openxmlformats.org/officeDocument/2006/relationships/slide" Target="/ppt/slides/slide3.xml" Id="Rb2f35abcf61646e7" /><Relationship Type="http://schemas.openxmlformats.org/officeDocument/2006/relationships/slide" Target="/ppt/slides/slide4.xml" Id="Rcb39b91b215449a3" /><Relationship Type="http://schemas.openxmlformats.org/officeDocument/2006/relationships/slide" Target="/ppt/slides/slide5.xml" Id="Rd8c5cb438506438a" /><Relationship Type="http://schemas.openxmlformats.org/officeDocument/2006/relationships/slide" Target="/ppt/slides/slide6.xml" Id="R999ee0d2857e4d2c" /><Relationship Type="http://schemas.openxmlformats.org/officeDocument/2006/relationships/slide" Target="/ppt/slides/slide7.xml" Id="Rb8ab130e5ae249c8" /><Relationship Type="http://schemas.openxmlformats.org/officeDocument/2006/relationships/slide" Target="/ppt/slides/slide8.xml" Id="Raaf6776201ab429b" /><Relationship Type="http://schemas.openxmlformats.org/officeDocument/2006/relationships/slide" Target="/ppt/slides/slide9.xml" Id="Rdce3afeca3094957" /><Relationship Type="http://schemas.openxmlformats.org/officeDocument/2006/relationships/slide" Target="/ppt/slides/slide10.xml" Id="R9fb72673344c43ad" /><Relationship Type="http://schemas.openxmlformats.org/officeDocument/2006/relationships/slide" Target="/ppt/slides/slide11.xml" Id="R882320caf04f4760" /><Relationship Type="http://schemas.openxmlformats.org/officeDocument/2006/relationships/slide" Target="/ppt/slides/slide12.xml" Id="R1f69fcf782bb44ed" /><Relationship Type="http://schemas.openxmlformats.org/officeDocument/2006/relationships/slide" Target="/ppt/slides/slide13.xml" Id="R5cb85202f7f34045" /><Relationship Type="http://schemas.openxmlformats.org/officeDocument/2006/relationships/slide" Target="/ppt/slides/slide14.xml" Id="Ra2962b4e56394e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7ab762445044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bb224ae5b44c19" /><Relationship Type="http://schemas.openxmlformats.org/officeDocument/2006/relationships/notesMaster" Target="/ppt/notesMasters/notesMaster1.xml" Id="R1f6bb14ccb0540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2f7f2298804fa7" /><Relationship Type="http://schemas.openxmlformats.org/officeDocument/2006/relationships/notesMaster" Target="/ppt/notesMasters/notesMaster1.xml" Id="R8e8a5f6785b94d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41d704dd584449" /><Relationship Type="http://schemas.openxmlformats.org/officeDocument/2006/relationships/notesMaster" Target="/ppt/notesMasters/notesMaster1.xml" Id="R73c2eeccc4b747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a2a07986a942a7" /><Relationship Type="http://schemas.openxmlformats.org/officeDocument/2006/relationships/notesMaster" Target="/ppt/notesMasters/notesMaster1.xml" Id="R5c1653e3d7a045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26635f907646c3" /><Relationship Type="http://schemas.openxmlformats.org/officeDocument/2006/relationships/notesMaster" Target="/ppt/notesMasters/notesMaster1.xml" Id="R182a8454261147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870131bfba4a72" /><Relationship Type="http://schemas.openxmlformats.org/officeDocument/2006/relationships/notesMaster" Target="/ppt/notesMasters/notesMaster1.xml" Id="Re6147938febe466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e1297545b34956" /><Relationship Type="http://schemas.openxmlformats.org/officeDocument/2006/relationships/notesMaster" Target="/ppt/notesMasters/notesMaster1.xml" Id="R337cbb715ca74b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66466d8de74936" /><Relationship Type="http://schemas.openxmlformats.org/officeDocument/2006/relationships/notesMaster" Target="/ppt/notesMasters/notesMaster1.xml" Id="R50a97ae01ade4f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c6127336f74009" /><Relationship Type="http://schemas.openxmlformats.org/officeDocument/2006/relationships/notesMaster" Target="/ppt/notesMasters/notesMaster1.xml" Id="Reec30f67df2249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dd7ed6b8114d68" /><Relationship Type="http://schemas.openxmlformats.org/officeDocument/2006/relationships/notesMaster" Target="/ppt/notesMasters/notesMaster1.xml" Id="R06e9343a69b04d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b3906c19514ff9" /><Relationship Type="http://schemas.openxmlformats.org/officeDocument/2006/relationships/notesMaster" Target="/ppt/notesMasters/notesMaster1.xml" Id="R27dfcf5da82740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728323c8d74d42" /><Relationship Type="http://schemas.openxmlformats.org/officeDocument/2006/relationships/notesMaster" Target="/ppt/notesMasters/notesMaster1.xml" Id="R187a4559c7094f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920b54984e41dd" /><Relationship Type="http://schemas.openxmlformats.org/officeDocument/2006/relationships/notesMaster" Target="/ppt/notesMasters/notesMaster1.xml" Id="R5abb04f820014e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cbd68556c6b4fe5" /><Relationship Type="http://schemas.openxmlformats.org/officeDocument/2006/relationships/notesMaster" Target="/ppt/notesMasters/notesMaster1.xml" Id="R09cdf4ad2e6447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Buenas noches. Somos Miguel Troncoso y Alexandy Remicinthe, del caso 05, E-commerce ClickAndGo. En los proximos diez minutos vamos a recorrer el codigo del sistema: donde esta cada requisito, el camino completo de una operacion hasta la base de datos, que cambiamos despues de la retroalimentacion de la evaluacion anterior y como el codigo protege los datos.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recorrido tiene cuatro bloques. Primero ubicamos los requisitos en el codigo, despues seguimos una operacion completa hasta el SQL, luego explicamos los cambios que hicimos tras la retroalimentacion y cerramos con las decisiones de seguridad.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sistema tiene cuatro capas. main.py es el menu, servicios valida y consume la API, model tiene las reglas del negocio y dao guarda en SQLite. La separacion importa porque ninguna clase del modelo contiene SQL: si cambia la base de datos, solo se toca la capa dao.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tabla es el mapa que vamos a usar. Requisito uno: los subtipos heredan de Producto con super y sobrescriben procesar_entrega. Requisito dos: el identificador del cliente se valida en el setter con modulo 11 o correo. Requisito tres: el pedido compone DetallePedido y se guarda con sus lineas. Requisito cuatro: las dos reglas tienen excepcion propia. Requisito cinco: la electronica se cotiza con el dolar del dia desde mindicador.cl.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Ademas de los cinco requisitos funcionales mostramos dos no funcionales. Primero la validacion de entradas: cada dato se valida por tipo, formato y rango antes de usarse, y si esta mal el programa avisa y vuelve a preguntar, nunca se cae. Segundo la continuidad ante fallas: la API del dolar tiene tiempo maximo de espera y respaldo local. Si no hay internet, el sistema informa y sigue funcionando.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Seguimos una operacion completa: registrar el pago. El menu llama a registrar_pago en el modelo. Ese metodo primero confirma que hay stock: por eso el stock no cambia si la confirmacion falla. Si esta todo bien, cada producto descuenta su stock, el pedido queda PAGADO y recien ahi la capa dao escribe en la base de datos con un UPDATE parametrizado. Es importante notar que el modelo decide y el dao solo guarda.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Aqui esta el polimorfismo. La clase Producto define procesar_entrega como metodo abstracto y cada subtipo lo sobrescribe: el fisico genera despacho y flete, el digital entrega un enlace con flete cero, el servicio agenda una visita y la electronica hereda el despacho del fisico pero cotiza en dolares. El pedido recorre sus lineas con un for y llama al metodo: no hay un if preguntando el tipo. Si mañana se agrega un tipo nuevo, no hay que modificar Pedido.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dos reglas de la ficha son las dos unicas que impiden una operacion comercial. La primera: al confirmar un pedido se recorre cada linea y si no hay stock se lanza StockInsuficienteError. Como el descuento ocurre solo al registrar el pago, el stock queda intacto. La segunda: al despachar se verifica el permiso del trabajador y que el pago este registrado; si no lo esta, se lanza PedidoNoPagadoError. Ambas excepciones heredan de ClickAndGoError y se capturan en main.py, asi el programa informa y sigue funcionando.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quinto requisito es el precio con indicador externo. La electronica importada se cotiza en dolares y se convierte con el valor del dia que entrega mindicador.cl. Usamos la libreria requests con tiempo maximo de espera de cinco segundos. Si la API no responde, se guarda el ultimo valor conocido y el sistema lo informa y sigue funcionando: ese es el caso P17 del guion de pruebas.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Resumimos la seguridad en seis mecanismos, cada uno con el riesgo que evita. Lo mas importante: las consultas son parametrizadas, por lo que aunque el usuario escriba comillas o punto y coma, ese texto nunca se interpreta como SQL. Las contrasenas se guardan con PBKDF2 y salt aleatorio, y los permisos se resuelven por rol con excepcion propia. Si me preguntan que pasaria si quitamos una validacion, la respuesta es que el dato invalido llegaria al modelo o a la base de datos y el sistema perderia integridad.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es el punto que pide la rubrica: que cambio despues de la retroalimentacion. Los seis cambios estan en el repositorio y cada uno tiene su prueba. Los dos mas visibles son los codigos automaticos y el rediseno de la interfaz, que es lo que voy a mostrar ahora en el editor.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la mejora principal. Antes el operador tenia que inventar y escribir el codigo del producto, lo que era lento y permitia duplicados o errores de tipeo. Ahora el sistema consulta el ultimo codigo usado en la base de datos, calcula el siguiente y verifica que este libre antes de asignarlo. El usuario solo escribe el nombre y los datos. En el codigo esta en servicios/codigos.py, clase GeneradorCodigos, y se usa al crear el cliente, el producto y el pedido.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Sobre el uso de inteligencia artificial: la usamos como apoyo, no como reemplazo. Hay un ejemplo concreto de cada caso. Adoptamos el acceso por nombre de columna en SQLite. Modificamos la consulta a la API agregandole tiempo maximo de espera. Y descartamos dos sugerencias: resolver el tipo con if, porque la rubrica pide polimorfismo, y guardar la contrasena con MD5, porque no es seguro. Todo esta documentado en el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cerrar: Miguel presenta la arquitectura, el recorrido completo de una operacion y los cambios de la retroalimentacion. Alexandy presenta los requisitos funcionales, los no funcionales y la seguridad. El repositorio es publico y el codigo esta abierto en el editor. Gracias, quedamos atentos a las preguntas.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2ee4d27b5b43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014150f4594f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54142376404e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f47dbc04f244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3b096de6d494b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78246a267c46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BE924C-FF17-4490-819B-5B9B401EA48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EEDFCEC-A5CB-4F33-91CE-4F2AB9AC082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1C889D-3F8E-4C60-B52E-63B849ACCE2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4FDB3C-DA7C-4E7A-AC83-392A309A43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1E2379-68C5-4A1B-AC25-4115F75351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1C2833-B2B6-4FAE-8D72-3A91AF424C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3F31A6-75DA-40BE-92B4-89E3DD467E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B54AA5A-501C-4886-9919-08F8252A22E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16B08A-864C-494F-B86F-CA70684416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F28361-100F-4482-81C6-7571DBEE35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a8a516bb9d471b" /><Relationship Type="http://schemas.openxmlformats.org/officeDocument/2006/relationships/slideLayout" Target="/ppt/slideLayouts/slideLayout1.xml" Id="R4e67a0e86e5b4de8" /><Relationship Type="http://schemas.openxmlformats.org/officeDocument/2006/relationships/slideLayout" Target="/ppt/slideLayouts/slideLayout2.xml" Id="Rae0e6633ec124b08" /><Relationship Type="http://schemas.openxmlformats.org/officeDocument/2006/relationships/slideLayout" Target="/ppt/slideLayouts/slideLayout3.xml" Id="Ra6b89a3fc41d4340" /><Relationship Type="http://schemas.openxmlformats.org/officeDocument/2006/relationships/slideLayout" Target="/ppt/slideLayouts/slideLayout4.xml" Id="R143425fdb4bb4c58" /><Relationship Type="http://schemas.openxmlformats.org/officeDocument/2006/relationships/slideLayout" Target="/ppt/slideLayouts/slideLayout5.xml" Id="R13e5d204dde94e19" /><Relationship Type="http://schemas.openxmlformats.org/officeDocument/2006/relationships/slideLayout" Target="/ppt/slideLayouts/slideLayout6.xml" Id="Rf5a2872329cf41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67a0e86e5b4de8"/>
    <p:sldLayoutId xmlns:r="http://schemas.openxmlformats.org/officeDocument/2006/relationships" id="2147483650" r:id="Rae0e6633ec124b08"/>
    <p:sldLayoutId xmlns:r="http://schemas.openxmlformats.org/officeDocument/2006/relationships" id="2147483651" r:id="Ra6b89a3fc41d4340"/>
    <p:sldLayoutId xmlns:r="http://schemas.openxmlformats.org/officeDocument/2006/relationships" id="2147483652" r:id="R143425fdb4bb4c58"/>
    <p:sldLayoutId xmlns:r="http://schemas.openxmlformats.org/officeDocument/2006/relationships" id="2147483653" r:id="R13e5d204dde94e19"/>
    <p:sldLayoutId xmlns:r="http://schemas.openxmlformats.org/officeDocument/2006/relationships" id="2147483654" r:id="Rf5a2872329cf41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63d905054664c49" /><Relationship Type="http://schemas.openxmlformats.org/officeDocument/2006/relationships/notesSlide" Target="/ppt/notesSlides/notesSlide1.xml" Id="R5b486f91c7464c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52420d564eb455a" /><Relationship Type="http://schemas.openxmlformats.org/officeDocument/2006/relationships/notesSlide" Target="/ppt/notesSlides/notesSlide2.xml" Id="Ra3d48dc2d8d047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b685913d6c24b1e" /><Relationship Type="http://schemas.openxmlformats.org/officeDocument/2006/relationships/notesSlide" Target="/ppt/notesSlides/notesSlide3.xml" Id="R25d6d8d8252748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5f2da17edaa4591" /><Relationship Type="http://schemas.openxmlformats.org/officeDocument/2006/relationships/notesSlide" Target="/ppt/notesSlides/notesSlide4.xml" Id="R1296ec9b5ee649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f92ac784d7d4136" /><Relationship Type="http://schemas.openxmlformats.org/officeDocument/2006/relationships/notesSlide" Target="/ppt/notesSlides/notesSlide5.xml" Id="R0347bf822f194e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020b044aeb4ee1" /><Relationship Type="http://schemas.openxmlformats.org/officeDocument/2006/relationships/notesSlide" Target="/ppt/notesSlides/notesSlide6.xml" Id="R4c68b96ab3d841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773865c3c404095" /><Relationship Type="http://schemas.openxmlformats.org/officeDocument/2006/relationships/notesSlide" Target="/ppt/notesSlides/notesSlide7.xml" Id="R461e618b222543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3a21647e02d4f1a" /><Relationship Type="http://schemas.openxmlformats.org/officeDocument/2006/relationships/notesSlide" Target="/ppt/notesSlides/notesSlide8.xml" Id="Rc3d71231ad4447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1d3088bc594095" /><Relationship Type="http://schemas.openxmlformats.org/officeDocument/2006/relationships/notesSlide" Target="/ppt/notesSlides/notesSlide9.xml" Id="Rc211b21a292b40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9b4d1b9412b404a" /><Relationship Type="http://schemas.openxmlformats.org/officeDocument/2006/relationships/notesSlide" Target="/ppt/notesSlides/notesSlide10.xml" Id="R98afb9890e0945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d2c54abf1174fb7" /><Relationship Type="http://schemas.openxmlformats.org/officeDocument/2006/relationships/notesSlide" Target="/ppt/notesSlides/notesSlide11.xml" Id="Ref0e1f0a4e7041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b434fed40c84b80" /><Relationship Type="http://schemas.openxmlformats.org/officeDocument/2006/relationships/notesSlide" Target="/ppt/notesSlides/notesSlide12.xml" Id="R0ee9ab2cb2ba4a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5b3d66ce1634750" /><Relationship Type="http://schemas.openxmlformats.org/officeDocument/2006/relationships/notesSlide" Target="/ppt/notesSlides/notesSlide13.xml" Id="Re642ae17f8ec45f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7c992b92d3843f3" /><Relationship Type="http://schemas.openxmlformats.org/officeDocument/2006/relationships/notesSlide" Target="/ppt/notesSlides/notesSlide14.xml" Id="Rc41eb6a8d2e140e1" /></Relationships>
</file>

<file path=ppt/slides/slide1.xml><?xml version="1.0" encoding="utf-8"?>
<p:sld xmlns:p="http://schemas.openxmlformats.org/presentationml/2006/main">
  <p:cSld>
    <p:bg>
      <p:bgPr>
        <a:solidFill xmlns:a="http://schemas.openxmlformats.org/drawingml/2006/main">
          <a:srgbClr val="0D23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2CEC37-C16D-4422-A133-F11CAFF9A072}"/>
              </a:ext>
            </a:extLst>
          </p:cNvPr>
          <p:cNvSpPr>
            <a:spLocks xmlns:a="http://schemas.openxmlformats.org/drawingml/2006/main" noGrp="1"/>
          </p:cNvSpPr>
          <p:nvPr/>
        </p:nvSpPr>
        <p:spPr>
          <a:xfrm xmlns:a="http://schemas.openxmlformats.org/drawingml/2006/main">
            <a:off x="762000" y="142875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5100" b="1">
                <a:solidFill>
                  <a:srgbClr val="FFFFFF"/>
                </a:solidFill>
              </a:defRPr>
            </a:defPPr>
          </a:lstStyle>
          <a:p xmlns:a="http://schemas.openxmlformats.org/drawingml/2006/main">
            <a:pPr algn="ctr">
              <a:lnSpc>
                <a:spcPct val="115000"/>
              </a:lnSpc>
              <a:buNone/>
              <a:defRPr sz="5100" b="1">
                <a:solidFill>
                  <a:srgbClr val="FFFFFF"/>
                </a:solidFill>
              </a:defRPr>
            </a:pPr>
            <a:r>
              <a:rPr sz="5100" b="1">
                <a:solidFill>
                  <a:srgbClr val="FFFFFF"/>
                </a:solidFill>
              </a:rPr>
              <a:t>ClickAndGo</a:t>
            </a:r>
          </a:p>
        </p:txBody>
      </p:sp>
      <p:sp>
        <p:nvSpPr>
          <p:cNvPr id="2" name="">
            <a:extLst xmlns:a="http://schemas.openxmlformats.org/drawingml/2006/main">
              <a:ext uri="{FF2B5EF4-FFF2-40B4-BE49-F238E27FC236}">
                <a16:creationId xmlns:a16="http://schemas.microsoft.com/office/drawing/2014/main" id="{639B8DD7-002D-467C-813D-620C43F8A9FC}"/>
              </a:ext>
            </a:extLst>
          </p:cNvPr>
          <p:cNvSpPr>
            <a:spLocks xmlns:a="http://schemas.openxmlformats.org/drawingml/2006/main" noGrp="1"/>
          </p:cNvSpPr>
          <p:nvPr/>
        </p:nvSpPr>
        <p:spPr>
          <a:xfrm xmlns:a="http://schemas.openxmlformats.org/drawingml/2006/main">
            <a:off x="762000" y="23812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0">
                <a:solidFill>
                  <a:srgbClr val="9FC0E0"/>
                </a:solidFill>
              </a:defRPr>
            </a:defPPr>
          </a:lstStyle>
          <a:p xmlns:a="http://schemas.openxmlformats.org/drawingml/2006/main">
            <a:pPr algn="ctr">
              <a:lnSpc>
                <a:spcPct val="115000"/>
              </a:lnSpc>
              <a:buNone/>
              <a:defRPr sz="2100" b="0">
                <a:solidFill>
                  <a:srgbClr val="9FC0E0"/>
                </a:solidFill>
              </a:defRPr>
            </a:pPr>
            <a:r>
              <a:rPr sz="2100" b="0">
                <a:solidFill>
                  <a:srgbClr val="9FC0E0"/>
                </a:solidFill>
              </a:rPr>
              <a:t>Revision oral del codigo</a:t>
            </a:r>
          </a:p>
        </p:txBody>
      </p:sp>
      <p:sp>
        <p:nvSpPr>
          <p:cNvPr id="3" name="">
            <a:extLst xmlns:a="http://schemas.openxmlformats.org/drawingml/2006/main">
              <a:ext uri="{FF2B5EF4-FFF2-40B4-BE49-F238E27FC236}">
                <a16:creationId xmlns:a16="http://schemas.microsoft.com/office/drawing/2014/main" id="{1518D75F-023F-45B8-98E4-8CAA272F1543}"/>
              </a:ext>
            </a:extLst>
          </p:cNvPr>
          <p:cNvSpPr>
            <a:spLocks xmlns:a="http://schemas.openxmlformats.org/drawingml/2006/main" noGrp="1"/>
          </p:cNvSpPr>
          <p:nvPr/>
        </p:nvSpPr>
        <p:spPr>
          <a:xfrm xmlns:a="http://schemas.openxmlformats.org/drawingml/2006/main">
            <a:off x="762000" y="28194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0">
                <a:solidFill>
                  <a:srgbClr val="7FA3C4"/>
                </a:solidFill>
              </a:defRPr>
            </a:defPPr>
          </a:lstStyle>
          <a:p xmlns:a="http://schemas.openxmlformats.org/drawingml/2006/main">
            <a:pPr algn="ctr">
              <a:lnSpc>
                <a:spcPct val="115000"/>
              </a:lnSpc>
              <a:buNone/>
              <a:defRPr sz="1125" b="0">
                <a:solidFill>
                  <a:srgbClr val="7FA3C4"/>
                </a:solidFill>
              </a:defRPr>
            </a:pPr>
            <a:r>
              <a:rPr sz="1125" b="0">
                <a:solidFill>
                  <a:srgbClr val="7FA3C4"/>
                </a:solidFill>
              </a:rPr>
              <a:t>Evaluacion Sumativa N3  |  Unidad 4: desarrollo de soluciones de software en Python</a:t>
            </a:r>
          </a:p>
        </p:txBody>
      </p:sp>
      <p:sp>
        <p:nvSpPr>
          <p:cNvPr id="4" name="">
            <a:extLst xmlns:a="http://schemas.openxmlformats.org/drawingml/2006/main">
              <a:ext uri="{FF2B5EF4-FFF2-40B4-BE49-F238E27FC236}">
                <a16:creationId xmlns:a16="http://schemas.microsoft.com/office/drawing/2014/main" id="{D96B28F7-0BD9-4728-A0A0-2559F9823EEA}"/>
              </a:ext>
            </a:extLst>
          </p:cNvPr>
          <p:cNvSpPr>
            <a:spLocks xmlns:a="http://schemas.openxmlformats.org/drawingml/2006/main" noGrp="1"/>
          </p:cNvSpPr>
          <p:nvPr/>
        </p:nvSpPr>
        <p:spPr>
          <a:xfrm xmlns:a="http://schemas.openxmlformats.org/drawingml/2006/main">
            <a:off x="5143500" y="3333750"/>
            <a:ext cx="1905000" cy="28575"/>
          </a:xfrm>
          <a:prstGeom xmlns:a="http://schemas.openxmlformats.org/drawingml/2006/main" prst="rect">
            <a:avLst/>
          </a:prstGeom>
          <a:solidFill xmlns:a="http://schemas.openxmlformats.org/drawingml/2006/main">
            <a:srgbClr val="D6342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542EE2A-F479-4708-8266-BD82CFFA16E8}"/>
              </a:ext>
            </a:extLst>
          </p:cNvPr>
          <p:cNvSpPr>
            <a:spLocks xmlns:a="http://schemas.openxmlformats.org/drawingml/2006/main" noGrp="1"/>
          </p:cNvSpPr>
          <p:nvPr/>
        </p:nvSpPr>
        <p:spPr>
          <a:xfrm xmlns:a="http://schemas.openxmlformats.org/drawingml/2006/main">
            <a:off x="762000" y="36195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a:solidFill>
                  <a:srgbClr val="FFFFFF"/>
                </a:solidFill>
              </a:defRPr>
            </a:defPPr>
          </a:lstStyle>
          <a:p xmlns:a="http://schemas.openxmlformats.org/drawingml/2006/main">
            <a:pPr algn="ctr">
              <a:lnSpc>
                <a:spcPct val="115000"/>
              </a:lnSpc>
              <a:buNone/>
              <a:defRPr sz="1500" b="1">
                <a:solidFill>
                  <a:srgbClr val="FFFFFF"/>
                </a:solidFill>
              </a:defRPr>
            </a:pPr>
            <a:r>
              <a:rPr sz="1500" b="1">
                <a:solidFill>
                  <a:srgbClr val="FFFFFF"/>
                </a:solidFill>
              </a:rPr>
              <a:t>Miguel Troncoso  y  Alexandy Remicinthe</a:t>
            </a:r>
          </a:p>
        </p:txBody>
      </p:sp>
      <p:sp>
        <p:nvSpPr>
          <p:cNvPr id="6" name="">
            <a:extLst xmlns:a="http://schemas.openxmlformats.org/drawingml/2006/main">
              <a:ext uri="{FF2B5EF4-FFF2-40B4-BE49-F238E27FC236}">
                <a16:creationId xmlns:a16="http://schemas.microsoft.com/office/drawing/2014/main" id="{511B4038-01E8-436C-869D-25ADFC358BEB}"/>
              </a:ext>
            </a:extLst>
          </p:cNvPr>
          <p:cNvSpPr>
            <a:spLocks xmlns:a="http://schemas.openxmlformats.org/drawingml/2006/main" noGrp="1"/>
          </p:cNvSpPr>
          <p:nvPr/>
        </p:nvSpPr>
        <p:spPr>
          <a:xfrm xmlns:a="http://schemas.openxmlformats.org/drawingml/2006/main">
            <a:off x="762000" y="398145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0">
                <a:solidFill>
                  <a:srgbClr val="7FA3C4"/>
                </a:solidFill>
              </a:defRPr>
            </a:defPPr>
          </a:lstStyle>
          <a:p xmlns:a="http://schemas.openxmlformats.org/drawingml/2006/main">
            <a:pPr algn="ctr">
              <a:lnSpc>
                <a:spcPct val="115000"/>
              </a:lnSpc>
              <a:buNone/>
              <a:defRPr sz="1050" b="0">
                <a:solidFill>
                  <a:srgbClr val="7FA3C4"/>
                </a:solidFill>
              </a:defRPr>
            </a:pPr>
            <a:r>
              <a:rPr sz="1050" b="0">
                <a:solidFill>
                  <a:srgbClr val="7FA3C4"/>
                </a:solidFill>
              </a:rPr>
              <a:t>TI3V21 - Seccion 114-2A-F2  |  INACAP Puente Alto  |  Martes 13 de octubre de 2026, 21:30 hrs - Laboratorio A403</a:t>
            </a:r>
          </a:p>
        </p:txBody>
      </p:sp>
    </p:spTree>
    <p:extLst>
      <p:ext uri="{BB962C8B-B14F-4D97-AF65-F5344CB8AC3E}">
        <p14:creationId xmlns:p14="http://schemas.microsoft.com/office/powerpoint/2010/main" val="146106337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B7FAB0C-411F-4E6C-9557-B5D2E9F5496D}"/>
              </a:ext>
            </a:extLst>
          </p:cNvPr>
          <p:cNvSpPr>
            <a:spLocks xmlns:a="http://schemas.openxmlformats.org/drawingml/2006/main" noGrp="1"/>
          </p:cNvSpPr>
          <p:nvPr/>
        </p:nvSpPr>
        <p:spPr>
          <a:xfrm xmlns:a="http://schemas.openxmlformats.org/drawingml/2006/main">
            <a:off x="609600" y="38100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AGENDA</a:t>
            </a:r>
          </a:p>
        </p:txBody>
      </p:sp>
      <p:sp>
        <p:nvSpPr>
          <p:cNvPr id="2" name="">
            <a:extLst xmlns:a="http://schemas.openxmlformats.org/drawingml/2006/main">
              <a:ext uri="{FF2B5EF4-FFF2-40B4-BE49-F238E27FC236}">
                <a16:creationId xmlns:a16="http://schemas.microsoft.com/office/drawing/2014/main" id="{F83FFB27-9CC0-4D73-B4A9-27071356F1E5}"/>
              </a:ext>
            </a:extLst>
          </p:cNvPr>
          <p:cNvSpPr>
            <a:spLocks xmlns:a="http://schemas.openxmlformats.org/drawingml/2006/main" noGrp="1"/>
          </p:cNvSpPr>
          <p:nvPr/>
        </p:nvSpPr>
        <p:spPr>
          <a:xfrm xmlns:a="http://schemas.openxmlformats.org/drawingml/2006/main">
            <a:off x="609600" y="6096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D233A"/>
                </a:solidFill>
              </a:defRPr>
            </a:defPPr>
          </a:lstStyle>
          <a:p xmlns:a="http://schemas.openxmlformats.org/drawingml/2006/main">
            <a:pPr>
              <a:lnSpc>
                <a:spcPct val="115000"/>
              </a:lnSpc>
              <a:buNone/>
              <a:defRPr sz="2400" b="1">
                <a:solidFill>
                  <a:srgbClr val="0D233A"/>
                </a:solidFill>
              </a:defRPr>
            </a:pPr>
            <a:r>
              <a:rPr sz="2400" b="1">
                <a:solidFill>
                  <a:srgbClr val="0D233A"/>
                </a:solidFill>
              </a:rPr>
              <a:t>Lo que vamos a mostrar en el codigo</a:t>
            </a:r>
          </a:p>
        </p:txBody>
      </p:sp>
      <p:sp>
        <p:nvSpPr>
          <p:cNvPr id="3" name="">
            <a:extLst xmlns:a="http://schemas.openxmlformats.org/drawingml/2006/main">
              <a:ext uri="{FF2B5EF4-FFF2-40B4-BE49-F238E27FC236}">
                <a16:creationId xmlns:a16="http://schemas.microsoft.com/office/drawing/2014/main" id="{4C0A9953-CB34-4201-9343-0BB239B17095}"/>
              </a:ext>
            </a:extLst>
          </p:cNvPr>
          <p:cNvSpPr>
            <a:spLocks xmlns:a="http://schemas.openxmlformats.org/drawingml/2006/main" noGrp="1"/>
          </p:cNvSpPr>
          <p:nvPr/>
        </p:nvSpPr>
        <p:spPr>
          <a:xfrm xmlns:a="http://schemas.openxmlformats.org/drawingml/2006/main">
            <a:off x="609600" y="10477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Diez minutos, cuatro bloques</a:t>
            </a:r>
          </a:p>
        </p:txBody>
      </p:sp>
      <p:sp>
        <p:nvSpPr>
          <p:cNvPr id="4" name="">
            <a:extLst xmlns:a="http://schemas.openxmlformats.org/drawingml/2006/main">
              <a:ext uri="{FF2B5EF4-FFF2-40B4-BE49-F238E27FC236}">
                <a16:creationId xmlns:a16="http://schemas.microsoft.com/office/drawing/2014/main" id="{530543B5-4320-4C4E-BE86-43175B030E76}"/>
              </a:ext>
            </a:extLst>
          </p:cNvPr>
          <p:cNvSpPr>
            <a:spLocks xmlns:a="http://schemas.openxmlformats.org/drawingml/2006/main" noGrp="1"/>
          </p:cNvSpPr>
          <p:nvPr/>
        </p:nvSpPr>
        <p:spPr>
          <a:xfrm xmlns:a="http://schemas.openxmlformats.org/drawingml/2006/main">
            <a:off x="609600" y="1666875"/>
            <a:ext cx="628650" cy="628650"/>
          </a:xfrm>
          <a:prstGeom xmlns:a="http://schemas.openxmlformats.org/drawingml/2006/main" prst="roundRect">
            <a:avLst>
              <a:gd name="adj" fmla="val 12121"/>
            </a:avLst>
          </a:prstGeom>
          <a:solidFill xmlns:a="http://schemas.openxmlformats.org/drawingml/2006/main">
            <a:srgbClr val="0D23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1</a:t>
            </a:r>
          </a:p>
        </p:txBody>
      </p:sp>
      <p:sp>
        <p:nvSpPr>
          <p:cNvPr id="5" name="">
            <a:extLst xmlns:a="http://schemas.openxmlformats.org/drawingml/2006/main">
              <a:ext uri="{FF2B5EF4-FFF2-40B4-BE49-F238E27FC236}">
                <a16:creationId xmlns:a16="http://schemas.microsoft.com/office/drawing/2014/main" id="{8A19C0F2-4C67-4D2A-BD9B-31D83995894B}"/>
              </a:ext>
            </a:extLst>
          </p:cNvPr>
          <p:cNvSpPr>
            <a:spLocks xmlns:a="http://schemas.openxmlformats.org/drawingml/2006/main" noGrp="1"/>
          </p:cNvSpPr>
          <p:nvPr/>
        </p:nvSpPr>
        <p:spPr>
          <a:xfrm xmlns:a="http://schemas.openxmlformats.org/drawingml/2006/main">
            <a:off x="1466850" y="168592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D233A"/>
                </a:solidFill>
              </a:defRPr>
            </a:defPPr>
          </a:lstStyle>
          <a:p xmlns:a="http://schemas.openxmlformats.org/drawingml/2006/main">
            <a:pPr>
              <a:lnSpc>
                <a:spcPct val="115000"/>
              </a:lnSpc>
              <a:buNone/>
              <a:defRPr sz="1500" b="1">
                <a:solidFill>
                  <a:srgbClr val="0D233A"/>
                </a:solidFill>
              </a:defRPr>
            </a:pPr>
            <a:r>
              <a:rPr sz="1500" b="1">
                <a:solidFill>
                  <a:srgbClr val="0D233A"/>
                </a:solidFill>
              </a:rPr>
              <a:t>Donde esta cada requisito</a:t>
            </a:r>
          </a:p>
        </p:txBody>
      </p:sp>
      <p:sp>
        <p:nvSpPr>
          <p:cNvPr id="6" name="">
            <a:extLst xmlns:a="http://schemas.openxmlformats.org/drawingml/2006/main">
              <a:ext uri="{FF2B5EF4-FFF2-40B4-BE49-F238E27FC236}">
                <a16:creationId xmlns:a16="http://schemas.microsoft.com/office/drawing/2014/main" id="{8235E104-566E-4D6C-95EB-048470802C8C}"/>
              </a:ext>
            </a:extLst>
          </p:cNvPr>
          <p:cNvSpPr>
            <a:spLocks xmlns:a="http://schemas.openxmlformats.org/drawingml/2006/main" noGrp="1"/>
          </p:cNvSpPr>
          <p:nvPr/>
        </p:nvSpPr>
        <p:spPr>
          <a:xfrm xmlns:a="http://schemas.openxmlformats.org/drawingml/2006/main">
            <a:off x="1466850" y="19716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Cinco funcionales y dos no funcionales, con archivo, clase o funcion.</a:t>
            </a:r>
          </a:p>
        </p:txBody>
      </p:sp>
      <p:sp>
        <p:nvSpPr>
          <p:cNvPr id="7" name="">
            <a:extLst xmlns:a="http://schemas.openxmlformats.org/drawingml/2006/main">
              <a:ext uri="{FF2B5EF4-FFF2-40B4-BE49-F238E27FC236}">
                <a16:creationId xmlns:a16="http://schemas.microsoft.com/office/drawing/2014/main" id="{CE7534BA-D5C5-446B-94E2-93C1F56D8D08}"/>
              </a:ext>
            </a:extLst>
          </p:cNvPr>
          <p:cNvSpPr>
            <a:spLocks xmlns:a="http://schemas.openxmlformats.org/drawingml/2006/main" noGrp="1"/>
          </p:cNvSpPr>
          <p:nvPr/>
        </p:nvSpPr>
        <p:spPr>
          <a:xfrm xmlns:a="http://schemas.openxmlformats.org/drawingml/2006/main">
            <a:off x="609600" y="2695575"/>
            <a:ext cx="628650" cy="628650"/>
          </a:xfrm>
          <a:prstGeom xmlns:a="http://schemas.openxmlformats.org/drawingml/2006/main" prst="roundRect">
            <a:avLst>
              <a:gd name="adj" fmla="val 12121"/>
            </a:avLst>
          </a:prstGeom>
          <a:solidFill xmlns:a="http://schemas.openxmlformats.org/drawingml/2006/main">
            <a:srgbClr val="0D23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2</a:t>
            </a:r>
          </a:p>
        </p:txBody>
      </p:sp>
      <p:sp>
        <p:nvSpPr>
          <p:cNvPr id="8" name="">
            <a:extLst xmlns:a="http://schemas.openxmlformats.org/drawingml/2006/main">
              <a:ext uri="{FF2B5EF4-FFF2-40B4-BE49-F238E27FC236}">
                <a16:creationId xmlns:a16="http://schemas.microsoft.com/office/drawing/2014/main" id="{2C07B301-2251-4605-ABE1-4C6BFA18D0FB}"/>
              </a:ext>
            </a:extLst>
          </p:cNvPr>
          <p:cNvSpPr>
            <a:spLocks xmlns:a="http://schemas.openxmlformats.org/drawingml/2006/main" noGrp="1"/>
          </p:cNvSpPr>
          <p:nvPr/>
        </p:nvSpPr>
        <p:spPr>
          <a:xfrm xmlns:a="http://schemas.openxmlformats.org/drawingml/2006/main">
            <a:off x="1466850" y="271462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D233A"/>
                </a:solidFill>
              </a:defRPr>
            </a:defPPr>
          </a:lstStyle>
          <a:p xmlns:a="http://schemas.openxmlformats.org/drawingml/2006/main">
            <a:pPr>
              <a:lnSpc>
                <a:spcPct val="115000"/>
              </a:lnSpc>
              <a:buNone/>
              <a:defRPr sz="1500" b="1">
                <a:solidFill>
                  <a:srgbClr val="0D233A"/>
                </a:solidFill>
              </a:defRPr>
            </a:pPr>
            <a:r>
              <a:rPr sz="1500" b="1">
                <a:solidFill>
                  <a:srgbClr val="0D233A"/>
                </a:solidFill>
              </a:rPr>
              <a:t>El camino de una operacion completa</a:t>
            </a:r>
          </a:p>
        </p:txBody>
      </p:sp>
      <p:sp>
        <p:nvSpPr>
          <p:cNvPr id="9" name="">
            <a:extLst xmlns:a="http://schemas.openxmlformats.org/drawingml/2006/main">
              <a:ext uri="{FF2B5EF4-FFF2-40B4-BE49-F238E27FC236}">
                <a16:creationId xmlns:a16="http://schemas.microsoft.com/office/drawing/2014/main" id="{F91DBA7D-0DE9-40CA-AFF1-379F00DE127B}"/>
              </a:ext>
            </a:extLst>
          </p:cNvPr>
          <p:cNvSpPr>
            <a:spLocks xmlns:a="http://schemas.openxmlformats.org/drawingml/2006/main" noGrp="1"/>
          </p:cNvSpPr>
          <p:nvPr/>
        </p:nvSpPr>
        <p:spPr>
          <a:xfrm xmlns:a="http://schemas.openxmlformats.org/drawingml/2006/main">
            <a:off x="1466850" y="30003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Desde el menu en main.py hasta la consulta SQL que guarda.</a:t>
            </a:r>
          </a:p>
        </p:txBody>
      </p:sp>
      <p:sp>
        <p:nvSpPr>
          <p:cNvPr id="10" name="">
            <a:extLst xmlns:a="http://schemas.openxmlformats.org/drawingml/2006/main">
              <a:ext uri="{FF2B5EF4-FFF2-40B4-BE49-F238E27FC236}">
                <a16:creationId xmlns:a16="http://schemas.microsoft.com/office/drawing/2014/main" id="{3AAC4819-EEAD-411C-8B5E-E51D98CF6EE7}"/>
              </a:ext>
            </a:extLst>
          </p:cNvPr>
          <p:cNvSpPr>
            <a:spLocks xmlns:a="http://schemas.openxmlformats.org/drawingml/2006/main" noGrp="1"/>
          </p:cNvSpPr>
          <p:nvPr/>
        </p:nvSpPr>
        <p:spPr>
          <a:xfrm xmlns:a="http://schemas.openxmlformats.org/drawingml/2006/main">
            <a:off x="609600" y="3724275"/>
            <a:ext cx="628650" cy="628650"/>
          </a:xfrm>
          <a:prstGeom xmlns:a="http://schemas.openxmlformats.org/drawingml/2006/main" prst="roundRect">
            <a:avLst>
              <a:gd name="adj" fmla="val 12121"/>
            </a:avLst>
          </a:prstGeom>
          <a:solidFill xmlns:a="http://schemas.openxmlformats.org/drawingml/2006/main">
            <a:srgbClr val="0D23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3</a:t>
            </a:r>
          </a:p>
        </p:txBody>
      </p:sp>
      <p:sp>
        <p:nvSpPr>
          <p:cNvPr id="11" name="">
            <a:extLst xmlns:a="http://schemas.openxmlformats.org/drawingml/2006/main">
              <a:ext uri="{FF2B5EF4-FFF2-40B4-BE49-F238E27FC236}">
                <a16:creationId xmlns:a16="http://schemas.microsoft.com/office/drawing/2014/main" id="{32BC528F-954D-4844-814B-1672C0570C74}"/>
              </a:ext>
            </a:extLst>
          </p:cNvPr>
          <p:cNvSpPr>
            <a:spLocks xmlns:a="http://schemas.openxmlformats.org/drawingml/2006/main" noGrp="1"/>
          </p:cNvSpPr>
          <p:nvPr/>
        </p:nvSpPr>
        <p:spPr>
          <a:xfrm xmlns:a="http://schemas.openxmlformats.org/drawingml/2006/main">
            <a:off x="1466850" y="374332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D233A"/>
                </a:solidFill>
              </a:defRPr>
            </a:defPPr>
          </a:lstStyle>
          <a:p xmlns:a="http://schemas.openxmlformats.org/drawingml/2006/main">
            <a:pPr>
              <a:lnSpc>
                <a:spcPct val="115000"/>
              </a:lnSpc>
              <a:buNone/>
              <a:defRPr sz="1500" b="1">
                <a:solidFill>
                  <a:srgbClr val="0D233A"/>
                </a:solidFill>
              </a:defRPr>
            </a:pPr>
            <a:r>
              <a:rPr sz="1500" b="1">
                <a:solidFill>
                  <a:srgbClr val="0D233A"/>
                </a:solidFill>
              </a:rPr>
              <a:t>Que cambio despues de la retroalimentacion</a:t>
            </a:r>
          </a:p>
        </p:txBody>
      </p:sp>
      <p:sp>
        <p:nvSpPr>
          <p:cNvPr id="12" name="">
            <a:extLst xmlns:a="http://schemas.openxmlformats.org/drawingml/2006/main">
              <a:ext uri="{FF2B5EF4-FFF2-40B4-BE49-F238E27FC236}">
                <a16:creationId xmlns:a16="http://schemas.microsoft.com/office/drawing/2014/main" id="{E9481CF7-666F-47F2-BD22-3A4027B5D422}"/>
              </a:ext>
            </a:extLst>
          </p:cNvPr>
          <p:cNvSpPr>
            <a:spLocks xmlns:a="http://schemas.openxmlformats.org/drawingml/2006/main" noGrp="1"/>
          </p:cNvSpPr>
          <p:nvPr/>
        </p:nvSpPr>
        <p:spPr>
          <a:xfrm xmlns:a="http://schemas.openxmlformats.org/drawingml/2006/main">
            <a:off x="1466850" y="40290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Codigos automaticos y rediseno de la interfaz.</a:t>
            </a:r>
          </a:p>
        </p:txBody>
      </p:sp>
      <p:sp>
        <p:nvSpPr>
          <p:cNvPr id="13" name="">
            <a:extLst xmlns:a="http://schemas.openxmlformats.org/drawingml/2006/main">
              <a:ext uri="{FF2B5EF4-FFF2-40B4-BE49-F238E27FC236}">
                <a16:creationId xmlns:a16="http://schemas.microsoft.com/office/drawing/2014/main" id="{A73D9AB0-4689-407C-A60A-614DA066B162}"/>
              </a:ext>
            </a:extLst>
          </p:cNvPr>
          <p:cNvSpPr>
            <a:spLocks xmlns:a="http://schemas.openxmlformats.org/drawingml/2006/main" noGrp="1"/>
          </p:cNvSpPr>
          <p:nvPr/>
        </p:nvSpPr>
        <p:spPr>
          <a:xfrm xmlns:a="http://schemas.openxmlformats.org/drawingml/2006/main">
            <a:off x="609600" y="4752975"/>
            <a:ext cx="628650" cy="628650"/>
          </a:xfrm>
          <a:prstGeom xmlns:a="http://schemas.openxmlformats.org/drawingml/2006/main" prst="roundRect">
            <a:avLst>
              <a:gd name="adj" fmla="val 12121"/>
            </a:avLst>
          </a:prstGeom>
          <a:solidFill xmlns:a="http://schemas.openxmlformats.org/drawingml/2006/main">
            <a:srgbClr val="0D23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4</a:t>
            </a:r>
          </a:p>
        </p:txBody>
      </p:sp>
      <p:sp>
        <p:nvSpPr>
          <p:cNvPr id="14" name="">
            <a:extLst xmlns:a="http://schemas.openxmlformats.org/drawingml/2006/main">
              <a:ext uri="{FF2B5EF4-FFF2-40B4-BE49-F238E27FC236}">
                <a16:creationId xmlns:a16="http://schemas.microsoft.com/office/drawing/2014/main" id="{7028DC4D-7B1B-4D1C-A18E-FC3F1E21A1DA}"/>
              </a:ext>
            </a:extLst>
          </p:cNvPr>
          <p:cNvSpPr>
            <a:spLocks xmlns:a="http://schemas.openxmlformats.org/drawingml/2006/main" noGrp="1"/>
          </p:cNvSpPr>
          <p:nvPr/>
        </p:nvSpPr>
        <p:spPr>
          <a:xfrm xmlns:a="http://schemas.openxmlformats.org/drawingml/2006/main">
            <a:off x="1466850" y="477202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D233A"/>
                </a:solidFill>
              </a:defRPr>
            </a:defPPr>
          </a:lstStyle>
          <a:p xmlns:a="http://schemas.openxmlformats.org/drawingml/2006/main">
            <a:pPr>
              <a:lnSpc>
                <a:spcPct val="115000"/>
              </a:lnSpc>
              <a:buNone/>
              <a:defRPr sz="1500" b="1">
                <a:solidFill>
                  <a:srgbClr val="0D233A"/>
                </a:solidFill>
              </a:defRPr>
            </a:pPr>
            <a:r>
              <a:rPr sz="1500" b="1">
                <a:solidFill>
                  <a:srgbClr val="0D233A"/>
                </a:solidFill>
              </a:rPr>
              <a:t>Como el codigo protege los datos</a:t>
            </a:r>
          </a:p>
        </p:txBody>
      </p:sp>
      <p:sp>
        <p:nvSpPr>
          <p:cNvPr id="15" name="">
            <a:extLst xmlns:a="http://schemas.openxmlformats.org/drawingml/2006/main">
              <a:ext uri="{FF2B5EF4-FFF2-40B4-BE49-F238E27FC236}">
                <a16:creationId xmlns:a16="http://schemas.microsoft.com/office/drawing/2014/main" id="{B14B8577-C271-4B37-A7B8-02B86A395A84}"/>
              </a:ext>
            </a:extLst>
          </p:cNvPr>
          <p:cNvSpPr>
            <a:spLocks xmlns:a="http://schemas.openxmlformats.org/drawingml/2006/main" noGrp="1"/>
          </p:cNvSpPr>
          <p:nvPr/>
        </p:nvSpPr>
        <p:spPr>
          <a:xfrm xmlns:a="http://schemas.openxmlformats.org/drawingml/2006/main">
            <a:off x="1466850" y="50577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Consultas parametrizadas, validacion y manejo de la falla de la API.</a:t>
            </a:r>
          </a:p>
        </p:txBody>
      </p:sp>
    </p:spTree>
    <p:extLst>
      <p:ext uri="{BB962C8B-B14F-4D97-AF65-F5344CB8AC3E}">
        <p14:creationId xmlns:p14="http://schemas.microsoft.com/office/powerpoint/2010/main" val="78123718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DE879F3-F637-4F7E-BA08-4B372A20A057}"/>
              </a:ext>
            </a:extLst>
          </p:cNvPr>
          <p:cNvSpPr>
            <a:spLocks xmlns:a="http://schemas.openxmlformats.org/drawingml/2006/main" noGrp="1"/>
          </p:cNvSpPr>
          <p:nvPr/>
        </p:nvSpPr>
        <p:spPr>
          <a:xfrm xmlns:a="http://schemas.openxmlformats.org/drawingml/2006/main">
            <a:off x="609600" y="38100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ARQUITECTURA</a:t>
            </a:r>
          </a:p>
        </p:txBody>
      </p:sp>
      <p:sp>
        <p:nvSpPr>
          <p:cNvPr id="2" name="">
            <a:extLst xmlns:a="http://schemas.openxmlformats.org/drawingml/2006/main">
              <a:ext uri="{FF2B5EF4-FFF2-40B4-BE49-F238E27FC236}">
                <a16:creationId xmlns:a16="http://schemas.microsoft.com/office/drawing/2014/main" id="{DFF58765-434D-4FB2-9388-DD96BA2094BC}"/>
              </a:ext>
            </a:extLst>
          </p:cNvPr>
          <p:cNvSpPr>
            <a:spLocks xmlns:a="http://schemas.openxmlformats.org/drawingml/2006/main" noGrp="1"/>
          </p:cNvSpPr>
          <p:nvPr/>
        </p:nvSpPr>
        <p:spPr>
          <a:xfrm xmlns:a="http://schemas.openxmlformats.org/drawingml/2006/main">
            <a:off x="609600" y="6096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D233A"/>
                </a:solidFill>
              </a:defRPr>
            </a:defPPr>
          </a:lstStyle>
          <a:p xmlns:a="http://schemas.openxmlformats.org/drawingml/2006/main">
            <a:pPr>
              <a:lnSpc>
                <a:spcPct val="115000"/>
              </a:lnSpc>
              <a:buNone/>
              <a:defRPr sz="2400" b="1">
                <a:solidFill>
                  <a:srgbClr val="0D233A"/>
                </a:solidFill>
              </a:defRPr>
            </a:pPr>
            <a:r>
              <a:rPr sz="2400" b="1">
                <a:solidFill>
                  <a:srgbClr val="0D233A"/>
                </a:solidFill>
              </a:rPr>
              <a:t>Cuatro capas, una responsabilidad cada una</a:t>
            </a:r>
          </a:p>
        </p:txBody>
      </p:sp>
      <p:sp>
        <p:nvSpPr>
          <p:cNvPr id="3" name="">
            <a:extLst xmlns:a="http://schemas.openxmlformats.org/drawingml/2006/main">
              <a:ext uri="{FF2B5EF4-FFF2-40B4-BE49-F238E27FC236}">
                <a16:creationId xmlns:a16="http://schemas.microsoft.com/office/drawing/2014/main" id="{7BE6F5C5-20D5-4C16-864F-B75F3C352E68}"/>
              </a:ext>
            </a:extLst>
          </p:cNvPr>
          <p:cNvSpPr>
            <a:spLocks xmlns:a="http://schemas.openxmlformats.org/drawingml/2006/main" noGrp="1"/>
          </p:cNvSpPr>
          <p:nvPr/>
        </p:nvSpPr>
        <p:spPr>
          <a:xfrm xmlns:a="http://schemas.openxmlformats.org/drawingml/2006/main">
            <a:off x="609600" y="10477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Cada capa se puede cambiar sin tocar las demas</a:t>
            </a:r>
          </a:p>
        </p:txBody>
      </p:sp>
      <p:sp>
        <p:nvSpPr>
          <p:cNvPr id="4" name="">
            <a:extLst xmlns:a="http://schemas.openxmlformats.org/drawingml/2006/main">
              <a:ext uri="{FF2B5EF4-FFF2-40B4-BE49-F238E27FC236}">
                <a16:creationId xmlns:a16="http://schemas.microsoft.com/office/drawing/2014/main" id="{3CAE6AFA-F895-4742-A2D6-1D0AC29AD5F0}"/>
              </a:ext>
            </a:extLst>
          </p:cNvPr>
          <p:cNvSpPr>
            <a:spLocks xmlns:a="http://schemas.openxmlformats.org/drawingml/2006/main" noGrp="1"/>
          </p:cNvSpPr>
          <p:nvPr/>
        </p:nvSpPr>
        <p:spPr>
          <a:xfrm xmlns:a="http://schemas.openxmlformats.org/drawingml/2006/main">
            <a:off x="609600" y="1600200"/>
            <a:ext cx="10972800" cy="723900"/>
          </a:xfrm>
          <a:prstGeom xmlns:a="http://schemas.openxmlformats.org/drawingml/2006/main" prst="roundRect">
            <a:avLst>
              <a:gd name="adj" fmla="val 10526"/>
            </a:avLst>
          </a:prstGeom>
          <a:solidFill xmlns:a="http://schemas.openxmlformats.org/drawingml/2006/main">
            <a:srgbClr val="F2F5F9"/>
          </a:solidFill>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EDA9EAF4-CAF9-4288-96A1-4B412CC2A117}"/>
              </a:ext>
            </a:extLst>
          </p:cNvPr>
          <p:cNvSpPr>
            <a:spLocks xmlns:a="http://schemas.openxmlformats.org/drawingml/2006/main" noGrp="1"/>
          </p:cNvSpPr>
          <p:nvPr/>
        </p:nvSpPr>
        <p:spPr>
          <a:xfrm xmlns:a="http://schemas.openxmlformats.org/drawingml/2006/main">
            <a:off x="609600" y="1600200"/>
            <a:ext cx="76200" cy="723900"/>
          </a:xfrm>
          <a:prstGeom xmlns:a="http://schemas.openxmlformats.org/drawingml/2006/main" prst="rect">
            <a:avLst/>
          </a:prstGeom>
          <a:solidFill xmlns:a="http://schemas.openxmlformats.org/drawingml/2006/main">
            <a:srgbClr val="1C4E8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4EB7B1E-7E88-48C6-BC29-89835601AA8C}"/>
              </a:ext>
            </a:extLst>
          </p:cNvPr>
          <p:cNvSpPr>
            <a:spLocks xmlns:a="http://schemas.openxmlformats.org/drawingml/2006/main" noGrp="1"/>
          </p:cNvSpPr>
          <p:nvPr/>
        </p:nvSpPr>
        <p:spPr>
          <a:xfrm xmlns:a="http://schemas.openxmlformats.org/drawingml/2006/main">
            <a:off x="895350" y="16764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D233A"/>
                </a:solidFill>
              </a:defRPr>
            </a:defPPr>
          </a:lstStyle>
          <a:p xmlns:a="http://schemas.openxmlformats.org/drawingml/2006/main">
            <a:pPr>
              <a:lnSpc>
                <a:spcPct val="115000"/>
              </a:lnSpc>
              <a:buNone/>
              <a:defRPr sz="1500" b="1">
                <a:solidFill>
                  <a:srgbClr val="0D233A"/>
                </a:solidFill>
              </a:defRPr>
            </a:pPr>
            <a:r>
              <a:rPr sz="1500" b="1">
                <a:solidFill>
                  <a:srgbClr val="0D233A"/>
                </a:solidFill>
              </a:rPr>
              <a:t>main.py</a:t>
            </a:r>
          </a:p>
        </p:txBody>
      </p:sp>
      <p:sp>
        <p:nvSpPr>
          <p:cNvPr id="7" name="">
            <a:extLst xmlns:a="http://schemas.openxmlformats.org/drawingml/2006/main">
              <a:ext uri="{FF2B5EF4-FFF2-40B4-BE49-F238E27FC236}">
                <a16:creationId xmlns:a16="http://schemas.microsoft.com/office/drawing/2014/main" id="{EF2D1B00-DC01-410F-8EBA-49D2E0B3B614}"/>
              </a:ext>
            </a:extLst>
          </p:cNvPr>
          <p:cNvSpPr>
            <a:spLocks xmlns:a="http://schemas.openxmlformats.org/drawingml/2006/main" noGrp="1"/>
          </p:cNvSpPr>
          <p:nvPr/>
        </p:nvSpPr>
        <p:spPr>
          <a:xfrm xmlns:a="http://schemas.openxmlformats.org/drawingml/2006/main">
            <a:off x="2990850" y="1695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1C4E80"/>
                </a:solidFill>
              </a:defRPr>
            </a:defPPr>
          </a:lstStyle>
          <a:p xmlns:a="http://schemas.openxmlformats.org/drawingml/2006/main">
            <a:pPr>
              <a:lnSpc>
                <a:spcPct val="115000"/>
              </a:lnSpc>
              <a:buNone/>
              <a:defRPr sz="1200" b="1">
                <a:solidFill>
                  <a:srgbClr val="1C4E80"/>
                </a:solidFill>
              </a:defRPr>
            </a:pPr>
            <a:r>
              <a:rPr sz="1200" b="1">
                <a:solidFill>
                  <a:srgbClr val="1C4E80"/>
                </a:solidFill>
              </a:rPr>
              <a:t>Menu de consola</a:t>
            </a:r>
          </a:p>
        </p:txBody>
      </p:sp>
      <p:sp>
        <p:nvSpPr>
          <p:cNvPr id="8" name="">
            <a:extLst xmlns:a="http://schemas.openxmlformats.org/drawingml/2006/main">
              <a:ext uri="{FF2B5EF4-FFF2-40B4-BE49-F238E27FC236}">
                <a16:creationId xmlns:a16="http://schemas.microsoft.com/office/drawing/2014/main" id="{09C28EEF-4E04-41F3-9087-239C365EE98E}"/>
              </a:ext>
            </a:extLst>
          </p:cNvPr>
          <p:cNvSpPr>
            <a:spLocks xmlns:a="http://schemas.openxmlformats.org/drawingml/2006/main" noGrp="1"/>
          </p:cNvSpPr>
          <p:nvPr/>
        </p:nvSpPr>
        <p:spPr>
          <a:xfrm xmlns:a="http://schemas.openxmlformats.org/drawingml/2006/main">
            <a:off x="2990850" y="19621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A6B7C"/>
                </a:solidFill>
              </a:defRPr>
            </a:defPPr>
          </a:lstStyle>
          <a:p xmlns:a="http://schemas.openxmlformats.org/drawingml/2006/main">
            <a:pPr>
              <a:lnSpc>
                <a:spcPct val="115000"/>
              </a:lnSpc>
              <a:buNone/>
              <a:defRPr sz="1050" b="0">
                <a:solidFill>
                  <a:srgbClr val="5A6B7C"/>
                </a:solidFill>
              </a:defRPr>
            </a:pPr>
            <a:r>
              <a:rPr sz="1050" b="0">
                <a:solidFill>
                  <a:srgbClr val="5A6B7C"/>
                </a:solidFill>
              </a:rPr>
              <a:t>Pide los datos y captura los errores de negocio.</a:t>
            </a:r>
          </a:p>
        </p:txBody>
      </p:sp>
      <p:sp>
        <p:nvSpPr>
          <p:cNvPr id="9" name="">
            <a:extLst xmlns:a="http://schemas.openxmlformats.org/drawingml/2006/main">
              <a:ext uri="{FF2B5EF4-FFF2-40B4-BE49-F238E27FC236}">
                <a16:creationId xmlns:a16="http://schemas.microsoft.com/office/drawing/2014/main" id="{016E0220-A9B8-4F89-9386-8173963689B3}"/>
              </a:ext>
            </a:extLst>
          </p:cNvPr>
          <p:cNvSpPr>
            <a:spLocks xmlns:a="http://schemas.openxmlformats.org/drawingml/2006/main" noGrp="1"/>
          </p:cNvSpPr>
          <p:nvPr/>
        </p:nvSpPr>
        <p:spPr>
          <a:xfrm xmlns:a="http://schemas.openxmlformats.org/drawingml/2006/main">
            <a:off x="609600" y="2476500"/>
            <a:ext cx="10972800" cy="723900"/>
          </a:xfrm>
          <a:prstGeom xmlns:a="http://schemas.openxmlformats.org/drawingml/2006/main" prst="roundRect">
            <a:avLst>
              <a:gd name="adj" fmla="val 10526"/>
            </a:avLst>
          </a:prstGeom>
          <a:solidFill xmlns:a="http://schemas.openxmlformats.org/drawingml/2006/main">
            <a:srgbClr val="F2F5F9"/>
          </a:solidFill>
          <a:ln xmlns:a="http://schemas.openxmlformats.org/drawingml/2006/main" w="9525">
            <a:solidFill>
              <a:srgbClr val="D6DEE8"/>
            </a:solidFill>
            <a:prstDash val="solid"/>
          </a:ln>
        </p:spPr>
      </p:sp>
      <p:sp>
        <p:nvSpPr>
          <p:cNvPr id="10" name="">
            <a:extLst xmlns:a="http://schemas.openxmlformats.org/drawingml/2006/main">
              <a:ext uri="{FF2B5EF4-FFF2-40B4-BE49-F238E27FC236}">
                <a16:creationId xmlns:a16="http://schemas.microsoft.com/office/drawing/2014/main" id="{DA39F3C1-4322-40BD-BB4A-78A69562BA78}"/>
              </a:ext>
            </a:extLst>
          </p:cNvPr>
          <p:cNvSpPr>
            <a:spLocks xmlns:a="http://schemas.openxmlformats.org/drawingml/2006/main" noGrp="1"/>
          </p:cNvSpPr>
          <p:nvPr/>
        </p:nvSpPr>
        <p:spPr>
          <a:xfrm xmlns:a="http://schemas.openxmlformats.org/drawingml/2006/main">
            <a:off x="609600" y="2476500"/>
            <a:ext cx="76200" cy="723900"/>
          </a:xfrm>
          <a:prstGeom xmlns:a="http://schemas.openxmlformats.org/drawingml/2006/main" prst="rect">
            <a:avLst/>
          </a:prstGeom>
          <a:solidFill xmlns:a="http://schemas.openxmlformats.org/drawingml/2006/main">
            <a:srgbClr val="2E6DA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F734013-4D3C-4903-A36B-A133F3A8A1AE}"/>
              </a:ext>
            </a:extLst>
          </p:cNvPr>
          <p:cNvSpPr>
            <a:spLocks xmlns:a="http://schemas.openxmlformats.org/drawingml/2006/main" noGrp="1"/>
          </p:cNvSpPr>
          <p:nvPr/>
        </p:nvSpPr>
        <p:spPr>
          <a:xfrm xmlns:a="http://schemas.openxmlformats.org/drawingml/2006/main">
            <a:off x="895350" y="25527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D233A"/>
                </a:solidFill>
              </a:defRPr>
            </a:defPPr>
          </a:lstStyle>
          <a:p xmlns:a="http://schemas.openxmlformats.org/drawingml/2006/main">
            <a:pPr>
              <a:lnSpc>
                <a:spcPct val="115000"/>
              </a:lnSpc>
              <a:buNone/>
              <a:defRPr sz="1500" b="1">
                <a:solidFill>
                  <a:srgbClr val="0D233A"/>
                </a:solidFill>
              </a:defRPr>
            </a:pPr>
            <a:r>
              <a:rPr sz="1500" b="1">
                <a:solidFill>
                  <a:srgbClr val="0D233A"/>
                </a:solidFill>
              </a:rPr>
              <a:t>servicios/</a:t>
            </a:r>
          </a:p>
        </p:txBody>
      </p:sp>
      <p:sp>
        <p:nvSpPr>
          <p:cNvPr id="12" name="">
            <a:extLst xmlns:a="http://schemas.openxmlformats.org/drawingml/2006/main">
              <a:ext uri="{FF2B5EF4-FFF2-40B4-BE49-F238E27FC236}">
                <a16:creationId xmlns:a16="http://schemas.microsoft.com/office/drawing/2014/main" id="{C5D15CE0-37AD-4C17-90F9-A7E4FEFF796E}"/>
              </a:ext>
            </a:extLst>
          </p:cNvPr>
          <p:cNvSpPr>
            <a:spLocks xmlns:a="http://schemas.openxmlformats.org/drawingml/2006/main" noGrp="1"/>
          </p:cNvSpPr>
          <p:nvPr/>
        </p:nvSpPr>
        <p:spPr>
          <a:xfrm xmlns:a="http://schemas.openxmlformats.org/drawingml/2006/main">
            <a:off x="2990850" y="2571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2E6DA4"/>
                </a:solidFill>
              </a:defRPr>
            </a:defPPr>
          </a:lstStyle>
          <a:p xmlns:a="http://schemas.openxmlformats.org/drawingml/2006/main">
            <a:pPr>
              <a:lnSpc>
                <a:spcPct val="115000"/>
              </a:lnSpc>
              <a:buNone/>
              <a:defRPr sz="1200" b="1">
                <a:solidFill>
                  <a:srgbClr val="2E6DA4"/>
                </a:solidFill>
              </a:defRPr>
            </a:pPr>
            <a:r>
              <a:rPr sz="1200" b="1">
                <a:solidFill>
                  <a:srgbClr val="2E6DA4"/>
                </a:solidFill>
              </a:rPr>
              <a:t>Validacion, codigos y API</a:t>
            </a:r>
          </a:p>
        </p:txBody>
      </p:sp>
      <p:sp>
        <p:nvSpPr>
          <p:cNvPr id="13" name="">
            <a:extLst xmlns:a="http://schemas.openxmlformats.org/drawingml/2006/main">
              <a:ext uri="{FF2B5EF4-FFF2-40B4-BE49-F238E27FC236}">
                <a16:creationId xmlns:a16="http://schemas.microsoft.com/office/drawing/2014/main" id="{AEB53D89-EC45-4E33-B14E-B5AFFB73D1B4}"/>
              </a:ext>
            </a:extLst>
          </p:cNvPr>
          <p:cNvSpPr>
            <a:spLocks xmlns:a="http://schemas.openxmlformats.org/drawingml/2006/main" noGrp="1"/>
          </p:cNvSpPr>
          <p:nvPr/>
        </p:nvSpPr>
        <p:spPr>
          <a:xfrm xmlns:a="http://schemas.openxmlformats.org/drawingml/2006/main">
            <a:off x="2990850" y="28384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A6B7C"/>
                </a:solidFill>
              </a:defRPr>
            </a:defPPr>
          </a:lstStyle>
          <a:p xmlns:a="http://schemas.openxmlformats.org/drawingml/2006/main">
            <a:pPr>
              <a:lnSpc>
                <a:spcPct val="115000"/>
              </a:lnSpc>
              <a:buNone/>
              <a:defRPr sz="1050" b="0">
                <a:solidFill>
                  <a:srgbClr val="5A6B7C"/>
                </a:solidFill>
              </a:defRPr>
            </a:pPr>
            <a:r>
              <a:rPr sz="1050" b="0">
                <a:solidFill>
                  <a:srgbClr val="5A6B7C"/>
                </a:solidFill>
              </a:rPr>
              <a:t>Valida entradas, genera codigos y consulta el dolar.</a:t>
            </a:r>
          </a:p>
        </p:txBody>
      </p:sp>
      <p:sp>
        <p:nvSpPr>
          <p:cNvPr id="14" name="">
            <a:extLst xmlns:a="http://schemas.openxmlformats.org/drawingml/2006/main">
              <a:ext uri="{FF2B5EF4-FFF2-40B4-BE49-F238E27FC236}">
                <a16:creationId xmlns:a16="http://schemas.microsoft.com/office/drawing/2014/main" id="{6ADE1088-899E-4D80-BA55-5BD937D69EF4}"/>
              </a:ext>
            </a:extLst>
          </p:cNvPr>
          <p:cNvSpPr>
            <a:spLocks xmlns:a="http://schemas.openxmlformats.org/drawingml/2006/main" noGrp="1"/>
          </p:cNvSpPr>
          <p:nvPr/>
        </p:nvSpPr>
        <p:spPr>
          <a:xfrm xmlns:a="http://schemas.openxmlformats.org/drawingml/2006/main">
            <a:off x="609600" y="3352800"/>
            <a:ext cx="10972800" cy="723900"/>
          </a:xfrm>
          <a:prstGeom xmlns:a="http://schemas.openxmlformats.org/drawingml/2006/main" prst="roundRect">
            <a:avLst>
              <a:gd name="adj" fmla="val 10526"/>
            </a:avLst>
          </a:prstGeom>
          <a:solidFill xmlns:a="http://schemas.openxmlformats.org/drawingml/2006/main">
            <a:srgbClr val="F2F5F9"/>
          </a:solidFill>
          <a:ln xmlns:a="http://schemas.openxmlformats.org/drawingml/2006/main" w="9525">
            <a:solidFill>
              <a:srgbClr val="D6DEE8"/>
            </a:solidFill>
            <a:prstDash val="solid"/>
          </a:ln>
        </p:spPr>
      </p:sp>
      <p:sp>
        <p:nvSpPr>
          <p:cNvPr id="15" name="">
            <a:extLst xmlns:a="http://schemas.openxmlformats.org/drawingml/2006/main">
              <a:ext uri="{FF2B5EF4-FFF2-40B4-BE49-F238E27FC236}">
                <a16:creationId xmlns:a16="http://schemas.microsoft.com/office/drawing/2014/main" id="{C9E3AF3F-A4A8-4E75-865D-104992C717E8}"/>
              </a:ext>
            </a:extLst>
          </p:cNvPr>
          <p:cNvSpPr>
            <a:spLocks xmlns:a="http://schemas.openxmlformats.org/drawingml/2006/main" noGrp="1"/>
          </p:cNvSpPr>
          <p:nvPr/>
        </p:nvSpPr>
        <p:spPr>
          <a:xfrm xmlns:a="http://schemas.openxmlformats.org/drawingml/2006/main">
            <a:off x="609600" y="3352800"/>
            <a:ext cx="76200" cy="723900"/>
          </a:xfrm>
          <a:prstGeom xmlns:a="http://schemas.openxmlformats.org/drawingml/2006/main" prst="rect">
            <a:avLst/>
          </a:prstGeom>
          <a:solidFill xmlns:a="http://schemas.openxmlformats.org/drawingml/2006/main">
            <a:srgbClr val="3F88C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CC1F506-8F87-42EB-A16C-4F68C9D87440}"/>
              </a:ext>
            </a:extLst>
          </p:cNvPr>
          <p:cNvSpPr>
            <a:spLocks xmlns:a="http://schemas.openxmlformats.org/drawingml/2006/main" noGrp="1"/>
          </p:cNvSpPr>
          <p:nvPr/>
        </p:nvSpPr>
        <p:spPr>
          <a:xfrm xmlns:a="http://schemas.openxmlformats.org/drawingml/2006/main">
            <a:off x="895350" y="34290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D233A"/>
                </a:solidFill>
              </a:defRPr>
            </a:defPPr>
          </a:lstStyle>
          <a:p xmlns:a="http://schemas.openxmlformats.org/drawingml/2006/main">
            <a:pPr>
              <a:lnSpc>
                <a:spcPct val="115000"/>
              </a:lnSpc>
              <a:buNone/>
              <a:defRPr sz="1500" b="1">
                <a:solidFill>
                  <a:srgbClr val="0D233A"/>
                </a:solidFill>
              </a:defRPr>
            </a:pPr>
            <a:r>
              <a:rPr sz="1500" b="1">
                <a:solidFill>
                  <a:srgbClr val="0D233A"/>
                </a:solidFill>
              </a:rPr>
              <a:t>model/</a:t>
            </a:r>
          </a:p>
        </p:txBody>
      </p:sp>
      <p:sp>
        <p:nvSpPr>
          <p:cNvPr id="17" name="">
            <a:extLst xmlns:a="http://schemas.openxmlformats.org/drawingml/2006/main">
              <a:ext uri="{FF2B5EF4-FFF2-40B4-BE49-F238E27FC236}">
                <a16:creationId xmlns:a16="http://schemas.microsoft.com/office/drawing/2014/main" id="{06599181-F10A-47D4-B0B8-13A61F26A35B}"/>
              </a:ext>
            </a:extLst>
          </p:cNvPr>
          <p:cNvSpPr>
            <a:spLocks xmlns:a="http://schemas.openxmlformats.org/drawingml/2006/main" noGrp="1"/>
          </p:cNvSpPr>
          <p:nvPr/>
        </p:nvSpPr>
        <p:spPr>
          <a:xfrm xmlns:a="http://schemas.openxmlformats.org/drawingml/2006/main">
            <a:off x="2990850" y="34480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3F88C5"/>
                </a:solidFill>
              </a:defRPr>
            </a:defPPr>
          </a:lstStyle>
          <a:p xmlns:a="http://schemas.openxmlformats.org/drawingml/2006/main">
            <a:pPr>
              <a:lnSpc>
                <a:spcPct val="115000"/>
              </a:lnSpc>
              <a:buNone/>
              <a:defRPr sz="1200" b="1">
                <a:solidFill>
                  <a:srgbClr val="3F88C5"/>
                </a:solidFill>
              </a:defRPr>
            </a:pPr>
            <a:r>
              <a:rPr sz="1200" b="1">
                <a:solidFill>
                  <a:srgbClr val="3F88C5"/>
                </a:solidFill>
              </a:rPr>
              <a:t>Reglas del negocio</a:t>
            </a:r>
          </a:p>
        </p:txBody>
      </p:sp>
      <p:sp>
        <p:nvSpPr>
          <p:cNvPr id="18" name="">
            <a:extLst xmlns:a="http://schemas.openxmlformats.org/drawingml/2006/main">
              <a:ext uri="{FF2B5EF4-FFF2-40B4-BE49-F238E27FC236}">
                <a16:creationId xmlns:a16="http://schemas.microsoft.com/office/drawing/2014/main" id="{5F664D2F-0CA0-473F-995A-1C3EB83B7F2F}"/>
              </a:ext>
            </a:extLst>
          </p:cNvPr>
          <p:cNvSpPr>
            <a:spLocks xmlns:a="http://schemas.openxmlformats.org/drawingml/2006/main" noGrp="1"/>
          </p:cNvSpPr>
          <p:nvPr/>
        </p:nvSpPr>
        <p:spPr>
          <a:xfrm xmlns:a="http://schemas.openxmlformats.org/drawingml/2006/main">
            <a:off x="2990850" y="37147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A6B7C"/>
                </a:solidFill>
              </a:defRPr>
            </a:defPPr>
          </a:lstStyle>
          <a:p xmlns:a="http://schemas.openxmlformats.org/drawingml/2006/main">
            <a:pPr>
              <a:lnSpc>
                <a:spcPct val="115000"/>
              </a:lnSpc>
              <a:buNone/>
              <a:defRPr sz="1050" b="0">
                <a:solidFill>
                  <a:srgbClr val="5A6B7C"/>
                </a:solidFill>
              </a:defRPr>
            </a:pPr>
            <a:r>
              <a:rPr sz="1050" b="0">
                <a:solidFill>
                  <a:srgbClr val="5A6B7C"/>
                </a:solidFill>
              </a:rPr>
              <a:t>Clases, herencia, polimorfismo y excepciones propias.</a:t>
            </a:r>
          </a:p>
        </p:txBody>
      </p:sp>
      <p:sp>
        <p:nvSpPr>
          <p:cNvPr id="19" name="">
            <a:extLst xmlns:a="http://schemas.openxmlformats.org/drawingml/2006/main">
              <a:ext uri="{FF2B5EF4-FFF2-40B4-BE49-F238E27FC236}">
                <a16:creationId xmlns:a16="http://schemas.microsoft.com/office/drawing/2014/main" id="{47386BE7-D01C-453C-B1E1-9EA1E1D48EFF}"/>
              </a:ext>
            </a:extLst>
          </p:cNvPr>
          <p:cNvSpPr>
            <a:spLocks xmlns:a="http://schemas.openxmlformats.org/drawingml/2006/main" noGrp="1"/>
          </p:cNvSpPr>
          <p:nvPr/>
        </p:nvSpPr>
        <p:spPr>
          <a:xfrm xmlns:a="http://schemas.openxmlformats.org/drawingml/2006/main">
            <a:off x="609600" y="4229100"/>
            <a:ext cx="10972800" cy="723900"/>
          </a:xfrm>
          <a:prstGeom xmlns:a="http://schemas.openxmlformats.org/drawingml/2006/main" prst="roundRect">
            <a:avLst>
              <a:gd name="adj" fmla="val 10526"/>
            </a:avLst>
          </a:prstGeom>
          <a:solidFill xmlns:a="http://schemas.openxmlformats.org/drawingml/2006/main">
            <a:srgbClr val="F2F5F9"/>
          </a:solidFill>
          <a:ln xmlns:a="http://schemas.openxmlformats.org/drawingml/2006/main" w="9525">
            <a:solidFill>
              <a:srgbClr val="D6DEE8"/>
            </a:solidFill>
            <a:prstDash val="solid"/>
          </a:ln>
        </p:spPr>
      </p:sp>
      <p:sp>
        <p:nvSpPr>
          <p:cNvPr id="20" name="">
            <a:extLst xmlns:a="http://schemas.openxmlformats.org/drawingml/2006/main">
              <a:ext uri="{FF2B5EF4-FFF2-40B4-BE49-F238E27FC236}">
                <a16:creationId xmlns:a16="http://schemas.microsoft.com/office/drawing/2014/main" id="{229B929A-FD02-4F8B-9B46-5B54EE123FD3}"/>
              </a:ext>
            </a:extLst>
          </p:cNvPr>
          <p:cNvSpPr>
            <a:spLocks xmlns:a="http://schemas.openxmlformats.org/drawingml/2006/main" noGrp="1"/>
          </p:cNvSpPr>
          <p:nvPr/>
        </p:nvSpPr>
        <p:spPr>
          <a:xfrm xmlns:a="http://schemas.openxmlformats.org/drawingml/2006/main">
            <a:off x="609600" y="4229100"/>
            <a:ext cx="76200" cy="723900"/>
          </a:xfrm>
          <a:prstGeom xmlns:a="http://schemas.openxmlformats.org/drawingml/2006/main" prst="rect">
            <a:avLst/>
          </a:prstGeom>
          <a:solidFill xmlns:a="http://schemas.openxmlformats.org/drawingml/2006/main">
            <a:srgbClr val="59A5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2B0DE39-2DCC-4D12-9DE2-BDD8FB3A9A35}"/>
              </a:ext>
            </a:extLst>
          </p:cNvPr>
          <p:cNvSpPr>
            <a:spLocks xmlns:a="http://schemas.openxmlformats.org/drawingml/2006/main" noGrp="1"/>
          </p:cNvSpPr>
          <p:nvPr/>
        </p:nvSpPr>
        <p:spPr>
          <a:xfrm xmlns:a="http://schemas.openxmlformats.org/drawingml/2006/main">
            <a:off x="895350" y="43053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D233A"/>
                </a:solidFill>
              </a:defRPr>
            </a:defPPr>
          </a:lstStyle>
          <a:p xmlns:a="http://schemas.openxmlformats.org/drawingml/2006/main">
            <a:pPr>
              <a:lnSpc>
                <a:spcPct val="115000"/>
              </a:lnSpc>
              <a:buNone/>
              <a:defRPr sz="1500" b="1">
                <a:solidFill>
                  <a:srgbClr val="0D233A"/>
                </a:solidFill>
              </a:defRPr>
            </a:pPr>
            <a:r>
              <a:rPr sz="1500" b="1">
                <a:solidFill>
                  <a:srgbClr val="0D233A"/>
                </a:solidFill>
              </a:rPr>
              <a:t>dao/</a:t>
            </a:r>
          </a:p>
        </p:txBody>
      </p:sp>
      <p:sp>
        <p:nvSpPr>
          <p:cNvPr id="22" name="">
            <a:extLst xmlns:a="http://schemas.openxmlformats.org/drawingml/2006/main">
              <a:ext uri="{FF2B5EF4-FFF2-40B4-BE49-F238E27FC236}">
                <a16:creationId xmlns:a16="http://schemas.microsoft.com/office/drawing/2014/main" id="{A949620F-6B0C-4C28-9B51-2D89A485DB2A}"/>
              </a:ext>
            </a:extLst>
          </p:cNvPr>
          <p:cNvSpPr>
            <a:spLocks xmlns:a="http://schemas.openxmlformats.org/drawingml/2006/main" noGrp="1"/>
          </p:cNvSpPr>
          <p:nvPr/>
        </p:nvSpPr>
        <p:spPr>
          <a:xfrm xmlns:a="http://schemas.openxmlformats.org/drawingml/2006/main">
            <a:off x="2990850" y="43243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59A5D8"/>
                </a:solidFill>
              </a:defRPr>
            </a:defPPr>
          </a:lstStyle>
          <a:p xmlns:a="http://schemas.openxmlformats.org/drawingml/2006/main">
            <a:pPr>
              <a:lnSpc>
                <a:spcPct val="115000"/>
              </a:lnSpc>
              <a:buNone/>
              <a:defRPr sz="1200" b="1">
                <a:solidFill>
                  <a:srgbClr val="59A5D8"/>
                </a:solidFill>
              </a:defRPr>
            </a:pPr>
            <a:r>
              <a:rPr sz="1200" b="1">
                <a:solidFill>
                  <a:srgbClr val="59A5D8"/>
                </a:solidFill>
              </a:rPr>
              <a:t>Persistencia</a:t>
            </a:r>
          </a:p>
        </p:txBody>
      </p:sp>
      <p:sp>
        <p:nvSpPr>
          <p:cNvPr id="23" name="">
            <a:extLst xmlns:a="http://schemas.openxmlformats.org/drawingml/2006/main">
              <a:ext uri="{FF2B5EF4-FFF2-40B4-BE49-F238E27FC236}">
                <a16:creationId xmlns:a16="http://schemas.microsoft.com/office/drawing/2014/main" id="{C60D5F57-842A-4E4D-B8BB-2A334C59C0A9}"/>
              </a:ext>
            </a:extLst>
          </p:cNvPr>
          <p:cNvSpPr>
            <a:spLocks xmlns:a="http://schemas.openxmlformats.org/drawingml/2006/main" noGrp="1"/>
          </p:cNvSpPr>
          <p:nvPr/>
        </p:nvSpPr>
        <p:spPr>
          <a:xfrm xmlns:a="http://schemas.openxmlformats.org/drawingml/2006/main">
            <a:off x="2990850" y="45910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5A6B7C"/>
                </a:solidFill>
              </a:defRPr>
            </a:defPPr>
          </a:lstStyle>
          <a:p xmlns:a="http://schemas.openxmlformats.org/drawingml/2006/main">
            <a:pPr>
              <a:lnSpc>
                <a:spcPct val="115000"/>
              </a:lnSpc>
              <a:buNone/>
              <a:defRPr sz="1050" b="0">
                <a:solidFill>
                  <a:srgbClr val="5A6B7C"/>
                </a:solidFill>
              </a:defRPr>
            </a:pPr>
            <a:r>
              <a:rPr sz="1050" b="0">
                <a:solidFill>
                  <a:srgbClr val="5A6B7C"/>
                </a:solidFill>
              </a:rPr>
              <a:t>CRUD en SQLite con consultas parametrizadas.</a:t>
            </a:r>
          </a:p>
        </p:txBody>
      </p:sp>
      <p:sp>
        <p:nvSpPr>
          <p:cNvPr id="24" name="">
            <a:extLst xmlns:a="http://schemas.openxmlformats.org/drawingml/2006/main">
              <a:ext uri="{FF2B5EF4-FFF2-40B4-BE49-F238E27FC236}">
                <a16:creationId xmlns:a16="http://schemas.microsoft.com/office/drawing/2014/main" id="{56D4B76D-9225-42B5-BBE3-6669F0972FE8}"/>
              </a:ext>
            </a:extLst>
          </p:cNvPr>
          <p:cNvSpPr>
            <a:spLocks xmlns:a="http://schemas.openxmlformats.org/drawingml/2006/main" noGrp="1"/>
          </p:cNvSpPr>
          <p:nvPr/>
        </p:nvSpPr>
        <p:spPr>
          <a:xfrm xmlns:a="http://schemas.openxmlformats.org/drawingml/2006/main">
            <a:off x="609600" y="533400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A6B7C"/>
                </a:solidFill>
              </a:defRPr>
            </a:defPPr>
          </a:lstStyle>
          <a:p xmlns:a="http://schemas.openxmlformats.org/drawingml/2006/main">
            <a:pPr>
              <a:lnSpc>
                <a:spcPct val="115000"/>
              </a:lnSpc>
              <a:buNone/>
              <a:defRPr sz="1050" b="0" i="1">
                <a:solidFill>
                  <a:srgbClr val="5A6B7C"/>
                </a:solidFill>
              </a:defRPr>
            </a:pPr>
            <a:r>
              <a:rPr sz="1050" b="0" i="1">
                <a:solidFill>
                  <a:srgbClr val="5A6B7C"/>
                </a:solidFill>
              </a:rPr>
              <a:t>Datos guardados en datos/clickandgo.db  |  Las tablas se crean solas al iniciar</a:t>
            </a:r>
          </a:p>
        </p:txBody>
      </p:sp>
    </p:spTree>
    <p:extLst>
      <p:ext uri="{BB962C8B-B14F-4D97-AF65-F5344CB8AC3E}">
        <p14:creationId xmlns:p14="http://schemas.microsoft.com/office/powerpoint/2010/main" val="63724434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8F0825-F9FD-4DF1-91B6-D57C216F70FC}"/>
              </a:ext>
            </a:extLst>
          </p:cNvPr>
          <p:cNvSpPr>
            <a:spLocks xmlns:a="http://schemas.openxmlformats.org/drawingml/2006/main" noGrp="1"/>
          </p:cNvSpPr>
          <p:nvPr/>
        </p:nvSpPr>
        <p:spPr>
          <a:xfrm xmlns:a="http://schemas.openxmlformats.org/drawingml/2006/main">
            <a:off x="609600" y="38100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REQUISITOS FUNCIONALES</a:t>
            </a:r>
          </a:p>
        </p:txBody>
      </p:sp>
      <p:sp>
        <p:nvSpPr>
          <p:cNvPr id="2" name="">
            <a:extLst xmlns:a="http://schemas.openxmlformats.org/drawingml/2006/main">
              <a:ext uri="{FF2B5EF4-FFF2-40B4-BE49-F238E27FC236}">
                <a16:creationId xmlns:a16="http://schemas.microsoft.com/office/drawing/2014/main" id="{7A627141-D36A-4795-A47D-EA9594911B0D}"/>
              </a:ext>
            </a:extLst>
          </p:cNvPr>
          <p:cNvSpPr>
            <a:spLocks xmlns:a="http://schemas.openxmlformats.org/drawingml/2006/main" noGrp="1"/>
          </p:cNvSpPr>
          <p:nvPr/>
        </p:nvSpPr>
        <p:spPr>
          <a:xfrm xmlns:a="http://schemas.openxmlformats.org/drawingml/2006/main">
            <a:off x="609600" y="6096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D233A"/>
                </a:solidFill>
              </a:defRPr>
            </a:defPPr>
          </a:lstStyle>
          <a:p xmlns:a="http://schemas.openxmlformats.org/drawingml/2006/main">
            <a:pPr>
              <a:lnSpc>
                <a:spcPct val="115000"/>
              </a:lnSpc>
              <a:buNone/>
              <a:defRPr sz="2400" b="1">
                <a:solidFill>
                  <a:srgbClr val="0D233A"/>
                </a:solidFill>
              </a:defRPr>
            </a:pPr>
            <a:r>
              <a:rPr sz="2400" b="1">
                <a:solidFill>
                  <a:srgbClr val="0D233A"/>
                </a:solidFill>
              </a:rPr>
              <a:t>Los cinco requisitos de la ficha, ubicados en el codigo</a:t>
            </a:r>
          </a:p>
        </p:txBody>
      </p:sp>
      <p:sp>
        <p:nvSpPr>
          <p:cNvPr id="3" name="">
            <a:extLst xmlns:a="http://schemas.openxmlformats.org/drawingml/2006/main">
              <a:ext uri="{FF2B5EF4-FFF2-40B4-BE49-F238E27FC236}">
                <a16:creationId xmlns:a16="http://schemas.microsoft.com/office/drawing/2014/main" id="{BD8F7702-3A33-4293-87BB-F7AB82A9AE21}"/>
              </a:ext>
            </a:extLst>
          </p:cNvPr>
          <p:cNvSpPr>
            <a:spLocks xmlns:a="http://schemas.openxmlformats.org/drawingml/2006/main" noGrp="1"/>
          </p:cNvSpPr>
          <p:nvPr/>
        </p:nvSpPr>
        <p:spPr>
          <a:xfrm xmlns:a="http://schemas.openxmlformats.org/drawingml/2006/main">
            <a:off x="609600" y="10477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Cada fila es un requisito; cada archivo es el que abrimos en el editor</a:t>
            </a:r>
          </a:p>
        </p:txBody>
      </p:sp>
      <p:graphicFrame>
        <p:nvGraphicFramePr>
          <p:cNvPr id="4" name="">
            <a:extLst xmlns:a="http://schemas.openxmlformats.org/drawingml/2006/main">
              <a:ext uri="{FF2B5EF4-FFF2-40B4-BE49-F238E27FC236}">
                <a16:creationId xmlns:a16="http://schemas.microsoft.com/office/drawing/2014/main" id="{D68E93A2-1AE7-4AC6-97E9-3C7D16664154}"/>
              </a:ext>
            </a:extLst>
          </p:cNvPr>
          <p:cNvGraphicFramePr/>
          <p:nvPr/>
        </p:nvGraphicFramePr>
        <p:xfrm>
          <a:off xmlns:a="http://schemas.openxmlformats.org/drawingml/2006/main" x="609600" y="1600200"/>
          <a:ext xmlns:a="http://schemas.openxmlformats.org/drawingml/2006/main" cx="10972800" cy="3924300"/>
        </p:xfrm>
        <a:graphic xmlns:a="http://schemas.openxmlformats.org/drawingml/2006/main">
          <a:graphicData uri="http://schemas.openxmlformats.org/drawingml/2006/table">
            <a:tbl>
              <a:tblPr/>
              <a:tblGrid>
                <a:gridCol w="3270738"/>
                <a:gridCol w="4431323"/>
                <a:gridCol w="3270738"/>
              </a:tblGrid>
              <a:tr h="654050">
                <a:tc>
                  <a:txBody>
                    <a:bodyPr/>
                    <a:lstStyle/>
                    <a:p>
                      <a:r>
                        <a:rPr sz="1013" b="1">
                          <a:solidFill>
                            <a:srgbClr val="FFFFFF"/>
                          </a:solidFill>
                        </a:rPr>
                        <a:t>Requisito</a:t>
                      </a:r>
                    </a:p>
                  </a:txBody>
                  <a:tcPr marL="91440" marR="91440" marT="45720" marB="45720">
                    <a:solidFill>
                      <a:srgbClr val="0D233A"/>
                    </a:solidFill>
                  </a:tcPr>
                </a:tc>
                <a:tc>
                  <a:txBody>
                    <a:bodyPr/>
                    <a:lstStyle/>
                    <a:p>
                      <a:r>
                        <a:rPr sz="1013" b="1">
                          <a:solidFill>
                            <a:srgbClr val="FFFFFF"/>
                          </a:solidFill>
                        </a:rPr>
                        <a:t>Archivo</a:t>
                      </a:r>
                    </a:p>
                  </a:txBody>
                  <a:tcPr marL="91440" marR="91440" marT="45720" marB="45720">
                    <a:solidFill>
                      <a:srgbClr val="0D233A"/>
                    </a:solidFill>
                  </a:tcPr>
                </a:tc>
                <a:tc>
                  <a:txBody>
                    <a:bodyPr/>
                    <a:lstStyle/>
                    <a:p>
                      <a:r>
                        <a:rPr sz="1013" b="1">
                          <a:solidFill>
                            <a:srgbClr val="FFFFFF"/>
                          </a:solidFill>
                        </a:rPr>
                        <a:t>Clase o funcion</a:t>
                      </a:r>
                    </a:p>
                  </a:txBody>
                  <a:tcPr marL="91440" marR="91440" marT="45720" marB="45720">
                    <a:solidFill>
                      <a:srgbClr val="0D233A"/>
                    </a:solidFill>
                  </a:tcPr>
                </a:tc>
              </a:tr>
              <a:tr h="654050">
                <a:tc>
                  <a:txBody>
                    <a:bodyPr/>
                    <a:lstStyle/>
                    <a:p>
                      <a:r>
                        <a:rPr sz="975" b="0">
                          <a:solidFill>
                            <a:srgbClr val="1F2933"/>
                          </a:solidFill>
                        </a:rPr>
                        <a:t>1. Tres subtipos con un metodo que cambia</a:t>
                      </a:r>
                    </a:p>
                  </a:txBody>
                  <a:tcPr marL="91440" marR="91440" marT="45720" marB="45720">
                    <a:solidFill>
                      <a:srgbClr val="FFFFFF"/>
                    </a:solidFill>
                  </a:tcPr>
                </a:tc>
                <a:tc>
                  <a:txBody>
                    <a:bodyPr/>
                    <a:lstStyle/>
                    <a:p>
                      <a:r>
                        <a:rPr sz="975" b="0">
                          <a:solidFill>
                            <a:srgbClr val="1F2933"/>
                          </a:solidFill>
                        </a:rPr>
                        <a:t>model/producto_fisico.py, producto_digital.py, producto_servicio.py</a:t>
                      </a:r>
                    </a:p>
                  </a:txBody>
                  <a:tcPr marL="91440" marR="91440" marT="45720" marB="45720">
                    <a:solidFill>
                      <a:srgbClr val="FFFFFF"/>
                    </a:solidFill>
                  </a:tcPr>
                </a:tc>
                <a:tc>
                  <a:txBody>
                    <a:bodyPr/>
                    <a:lstStyle/>
                    <a:p>
                      <a:r>
                        <a:rPr sz="975" b="0">
                          <a:solidFill>
                            <a:srgbClr val="1F2933"/>
                          </a:solidFill>
                        </a:rPr>
                        <a:t>procesar_entrega() sobrescrito</a:t>
                      </a:r>
                    </a:p>
                  </a:txBody>
                  <a:tcPr marL="91440" marR="91440" marT="45720" marB="45720">
                    <a:solidFill>
                      <a:srgbClr val="FFFFFF"/>
                    </a:solidFill>
                  </a:tcPr>
                </a:tc>
              </a:tr>
              <a:tr h="654050">
                <a:tc>
                  <a:txBody>
                    <a:bodyPr/>
                    <a:lstStyle/>
                    <a:p>
                      <a:r>
                        <a:rPr sz="975" b="0">
                          <a:solidFill>
                            <a:srgbClr val="1F2933"/>
                          </a:solidFill>
                        </a:rPr>
                        <a:t>2. Dato con validacion obligatoria</a:t>
                      </a:r>
                    </a:p>
                  </a:txBody>
                  <a:tcPr marL="91440" marR="91440" marT="45720" marB="45720">
                    <a:solidFill>
                      <a:srgbClr val="F2F5F9"/>
                    </a:solidFill>
                  </a:tcPr>
                </a:tc>
                <a:tc>
                  <a:txBody>
                    <a:bodyPr/>
                    <a:lstStyle/>
                    <a:p>
                      <a:r>
                        <a:rPr sz="975" b="0">
                          <a:solidFill>
                            <a:srgbClr val="1F2933"/>
                          </a:solidFill>
                        </a:rPr>
                        <a:t>model/cliente.py</a:t>
                      </a:r>
                    </a:p>
                  </a:txBody>
                  <a:tcPr marL="91440" marR="91440" marT="45720" marB="45720">
                    <a:solidFill>
                      <a:srgbClr val="F2F5F9"/>
                    </a:solidFill>
                  </a:tcPr>
                </a:tc>
                <a:tc>
                  <a:txBody>
                    <a:bodyPr/>
                    <a:lstStyle/>
                    <a:p>
                      <a:r>
                        <a:rPr sz="975" b="0">
                          <a:solidFill>
                            <a:srgbClr val="1F2933"/>
                          </a:solidFill>
                        </a:rPr>
                        <a:t>Cliente.identificador (setter) y validar_rut()</a:t>
                      </a:r>
                    </a:p>
                  </a:txBody>
                  <a:tcPr marL="91440" marR="91440" marT="45720" marB="45720">
                    <a:solidFill>
                      <a:srgbClr val="F2F5F9"/>
                    </a:solidFill>
                  </a:tcPr>
                </a:tc>
              </a:tr>
              <a:tr h="654050">
                <a:tc>
                  <a:txBody>
                    <a:bodyPr/>
                    <a:lstStyle/>
                    <a:p>
                      <a:r>
                        <a:rPr sz="975" b="0">
                          <a:solidFill>
                            <a:srgbClr val="1F2933"/>
                          </a:solidFill>
                        </a:rPr>
                        <a:t>3. Transaccion con lineas de detalle</a:t>
                      </a:r>
                    </a:p>
                  </a:txBody>
                  <a:tcPr marL="91440" marR="91440" marT="45720" marB="45720">
                    <a:solidFill>
                      <a:srgbClr val="FFFFFF"/>
                    </a:solidFill>
                  </a:tcPr>
                </a:tc>
                <a:tc>
                  <a:txBody>
                    <a:bodyPr/>
                    <a:lstStyle/>
                    <a:p>
                      <a:r>
                        <a:rPr sz="975" b="0">
                          <a:solidFill>
                            <a:srgbClr val="1F2933"/>
                          </a:solidFill>
                        </a:rPr>
                        <a:t>model/pedido.py  +  dao/pedido_dao.py</a:t>
                      </a:r>
                    </a:p>
                  </a:txBody>
                  <a:tcPr marL="91440" marR="91440" marT="45720" marB="45720">
                    <a:solidFill>
                      <a:srgbClr val="FFFFFF"/>
                    </a:solidFill>
                  </a:tcPr>
                </a:tc>
                <a:tc>
                  <a:txBody>
                    <a:bodyPr/>
                    <a:lstStyle/>
                    <a:p>
                      <a:r>
                        <a:rPr sz="975" b="0">
                          <a:solidFill>
                            <a:srgbClr val="1F2933"/>
                          </a:solidFill>
                        </a:rPr>
                        <a:t>Pedido.agregar_linea() y PedidoDAO.crear()</a:t>
                      </a:r>
                    </a:p>
                  </a:txBody>
                  <a:tcPr marL="91440" marR="91440" marT="45720" marB="45720">
                    <a:solidFill>
                      <a:srgbClr val="FFFFFF"/>
                    </a:solidFill>
                  </a:tcPr>
                </a:tc>
              </a:tr>
              <a:tr h="654050">
                <a:tc>
                  <a:txBody>
                    <a:bodyPr/>
                    <a:lstStyle/>
                    <a:p>
                      <a:r>
                        <a:rPr sz="975" b="0">
                          <a:solidFill>
                            <a:srgbClr val="1F2933"/>
                          </a:solidFill>
                        </a:rPr>
                        <a:t>4. Dos reglas con excepcion propia</a:t>
                      </a:r>
                    </a:p>
                  </a:txBody>
                  <a:tcPr marL="91440" marR="91440" marT="45720" marB="45720">
                    <a:solidFill>
                      <a:srgbClr val="F2F5F9"/>
                    </a:solidFill>
                  </a:tcPr>
                </a:tc>
                <a:tc>
                  <a:txBody>
                    <a:bodyPr/>
                    <a:lstStyle/>
                    <a:p>
                      <a:r>
                        <a:rPr sz="975" b="0">
                          <a:solidFill>
                            <a:srgbClr val="1F2933"/>
                          </a:solidFill>
                        </a:rPr>
                        <a:t>model/pedido.py  +  model/excepciones.py</a:t>
                      </a:r>
                    </a:p>
                  </a:txBody>
                  <a:tcPr marL="91440" marR="91440" marT="45720" marB="45720">
                    <a:solidFill>
                      <a:srgbClr val="F2F5F9"/>
                    </a:solidFill>
                  </a:tcPr>
                </a:tc>
                <a:tc>
                  <a:txBody>
                    <a:bodyPr/>
                    <a:lstStyle/>
                    <a:p>
                      <a:r>
                        <a:rPr sz="975" b="0">
                          <a:solidFill>
                            <a:srgbClr val="1F2933"/>
                          </a:solidFill>
                        </a:rPr>
                        <a:t>confirmar_pedido() y despachar()</a:t>
                      </a:r>
                    </a:p>
                  </a:txBody>
                  <a:tcPr marL="91440" marR="91440" marT="45720" marB="45720">
                    <a:solidFill>
                      <a:srgbClr val="F2F5F9"/>
                    </a:solidFill>
                  </a:tcPr>
                </a:tc>
              </a:tr>
              <a:tr h="654050">
                <a:tc>
                  <a:txBody>
                    <a:bodyPr/>
                    <a:lstStyle/>
                    <a:p>
                      <a:r>
                        <a:rPr sz="975" b="0">
                          <a:solidFill>
                            <a:srgbClr val="1F2933"/>
                          </a:solidFill>
                        </a:rPr>
                        <a:t>5. Precio con indicador externo</a:t>
                      </a:r>
                    </a:p>
                  </a:txBody>
                  <a:tcPr marL="91440" marR="91440" marT="45720" marB="45720">
                    <a:solidFill>
                      <a:srgbClr val="FFFFFF"/>
                    </a:solidFill>
                  </a:tcPr>
                </a:tc>
                <a:tc>
                  <a:txBody>
                    <a:bodyPr/>
                    <a:lstStyle/>
                    <a:p>
                      <a:r>
                        <a:rPr sz="975" b="0">
                          <a:solidFill>
                            <a:srgbClr val="1F2933"/>
                          </a:solidFill>
                        </a:rPr>
                        <a:t>model/producto_electronica.py  +  servicios/indicador_dolar.py</a:t>
                      </a:r>
                    </a:p>
                  </a:txBody>
                  <a:tcPr marL="91440" marR="91440" marT="45720" marB="45720">
                    <a:solidFill>
                      <a:srgbClr val="FFFFFF"/>
                    </a:solidFill>
                  </a:tcPr>
                </a:tc>
                <a:tc>
                  <a:txBody>
                    <a:bodyPr/>
                    <a:lstStyle/>
                    <a:p>
                      <a:r>
                        <a:rPr sz="975" b="0">
                          <a:solidFill>
                            <a:srgbClr val="1F2933"/>
                          </a:solidFill>
                        </a:rPr>
                        <a:t>calcular_precio_final() y obtener_valor_dolar()</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35C3AF9-7FDE-4FEB-9936-4897D14D465C}"/>
              </a:ext>
            </a:extLst>
          </p:cNvPr>
          <p:cNvSpPr>
            <a:spLocks xmlns:a="http://schemas.openxmlformats.org/drawingml/2006/main" noGrp="1"/>
          </p:cNvSpPr>
          <p:nvPr/>
        </p:nvSpPr>
        <p:spPr>
          <a:xfrm xmlns:a="http://schemas.openxmlformats.org/drawingml/2006/main">
            <a:off x="609600" y="533400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A6B7C"/>
                </a:solidFill>
              </a:defRPr>
            </a:defPPr>
          </a:lstStyle>
          <a:p xmlns:a="http://schemas.openxmlformats.org/drawingml/2006/main">
            <a:pPr>
              <a:lnSpc>
                <a:spcPct val="115000"/>
              </a:lnSpc>
              <a:buNone/>
              <a:defRPr sz="1050" b="0" i="1">
                <a:solidFill>
                  <a:srgbClr val="5A6B7C"/>
                </a:solidFill>
              </a:defRPr>
            </a:pPr>
            <a:r>
              <a:rPr sz="1050" b="0" i="1">
                <a:solidFill>
                  <a:srgbClr val="5A6B7C"/>
                </a:solidFill>
              </a:rPr>
              <a:t>En cada caso abrimos el archivo y mostramos la linea exacta.</a:t>
            </a:r>
          </a:p>
        </p:txBody>
      </p:sp>
    </p:spTree>
    <p:extLst>
      <p:ext uri="{BB962C8B-B14F-4D97-AF65-F5344CB8AC3E}">
        <p14:creationId xmlns:p14="http://schemas.microsoft.com/office/powerpoint/2010/main" val="7404145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5E9207C-A4BB-4620-94DA-DEE40DFD6796}"/>
              </a:ext>
            </a:extLst>
          </p:cNvPr>
          <p:cNvSpPr>
            <a:spLocks xmlns:a="http://schemas.openxmlformats.org/drawingml/2006/main" noGrp="1"/>
          </p:cNvSpPr>
          <p:nvPr/>
        </p:nvSpPr>
        <p:spPr>
          <a:xfrm xmlns:a="http://schemas.openxmlformats.org/drawingml/2006/main">
            <a:off x="609600" y="38100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REQUISITOS NO FUNCIONALES</a:t>
            </a:r>
          </a:p>
        </p:txBody>
      </p:sp>
      <p:sp>
        <p:nvSpPr>
          <p:cNvPr id="2" name="">
            <a:extLst xmlns:a="http://schemas.openxmlformats.org/drawingml/2006/main">
              <a:ext uri="{FF2B5EF4-FFF2-40B4-BE49-F238E27FC236}">
                <a16:creationId xmlns:a16="http://schemas.microsoft.com/office/drawing/2014/main" id="{DCBFE83D-885C-4E5F-BBE8-8C3DB386DB1C}"/>
              </a:ext>
            </a:extLst>
          </p:cNvPr>
          <p:cNvSpPr>
            <a:spLocks xmlns:a="http://schemas.openxmlformats.org/drawingml/2006/main" noGrp="1"/>
          </p:cNvSpPr>
          <p:nvPr/>
        </p:nvSpPr>
        <p:spPr>
          <a:xfrm xmlns:a="http://schemas.openxmlformats.org/drawingml/2006/main">
            <a:off x="609600" y="6096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D233A"/>
                </a:solidFill>
              </a:defRPr>
            </a:defPPr>
          </a:lstStyle>
          <a:p xmlns:a="http://schemas.openxmlformats.org/drawingml/2006/main">
            <a:pPr>
              <a:lnSpc>
                <a:spcPct val="115000"/>
              </a:lnSpc>
              <a:buNone/>
              <a:defRPr sz="2400" b="1">
                <a:solidFill>
                  <a:srgbClr val="0D233A"/>
                </a:solidFill>
              </a:defRPr>
            </a:pPr>
            <a:r>
              <a:rPr sz="2400" b="1">
                <a:solidFill>
                  <a:srgbClr val="0D233A"/>
                </a:solidFill>
              </a:rPr>
              <a:t>Dos requisitos que no se ven en el menu, pero sostienen el sistema</a:t>
            </a:r>
          </a:p>
        </p:txBody>
      </p:sp>
      <p:sp>
        <p:nvSpPr>
          <p:cNvPr id="3" name="">
            <a:extLst xmlns:a="http://schemas.openxmlformats.org/drawingml/2006/main">
              <a:ext uri="{FF2B5EF4-FFF2-40B4-BE49-F238E27FC236}">
                <a16:creationId xmlns:a16="http://schemas.microsoft.com/office/drawing/2014/main" id="{75A84E44-341B-4C47-BE7C-FEBA1CE6D1F2}"/>
              </a:ext>
            </a:extLst>
          </p:cNvPr>
          <p:cNvSpPr>
            <a:spLocks xmlns:a="http://schemas.openxmlformats.org/drawingml/2006/main" noGrp="1"/>
          </p:cNvSpPr>
          <p:nvPr/>
        </p:nvSpPr>
        <p:spPr>
          <a:xfrm xmlns:a="http://schemas.openxmlformats.org/drawingml/2006/main">
            <a:off x="609600" y="10477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La rubrica pide al menos dos: mostramos estos y, ademas, las consultas parametrizadas</a:t>
            </a:r>
          </a:p>
        </p:txBody>
      </p:sp>
      <p:sp>
        <p:nvSpPr>
          <p:cNvPr id="4" name="">
            <a:extLst xmlns:a="http://schemas.openxmlformats.org/drawingml/2006/main">
              <a:ext uri="{FF2B5EF4-FFF2-40B4-BE49-F238E27FC236}">
                <a16:creationId xmlns:a16="http://schemas.microsoft.com/office/drawing/2014/main" id="{680278D5-C71E-48F2-9120-8EB6583F45E3}"/>
              </a:ext>
            </a:extLst>
          </p:cNvPr>
          <p:cNvSpPr>
            <a:spLocks xmlns:a="http://schemas.openxmlformats.org/drawingml/2006/main" noGrp="1"/>
          </p:cNvSpPr>
          <p:nvPr/>
        </p:nvSpPr>
        <p:spPr>
          <a:xfrm xmlns:a="http://schemas.openxmlformats.org/drawingml/2006/main">
            <a:off x="609600" y="1666875"/>
            <a:ext cx="5353050" cy="3143250"/>
          </a:xfrm>
          <a:prstGeom xmlns:a="http://schemas.openxmlformats.org/drawingml/2006/main" prst="roundRect">
            <a:avLst>
              <a:gd name="adj" fmla="val 2424"/>
            </a:avLst>
          </a:prstGeom>
          <a:solidFill xmlns:a="http://schemas.openxmlformats.org/drawingml/2006/main">
            <a:srgbClr val="F2F5F9"/>
          </a:solidFill>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E7644068-0B9F-41B8-9623-B14384B92F36}"/>
              </a:ext>
            </a:extLst>
          </p:cNvPr>
          <p:cNvSpPr>
            <a:spLocks xmlns:a="http://schemas.openxmlformats.org/drawingml/2006/main" noGrp="1"/>
          </p:cNvSpPr>
          <p:nvPr/>
        </p:nvSpPr>
        <p:spPr>
          <a:xfrm xmlns:a="http://schemas.openxmlformats.org/drawingml/2006/main">
            <a:off x="857250" y="188595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D233A"/>
                </a:solidFill>
              </a:defRPr>
            </a:defPPr>
          </a:lstStyle>
          <a:p xmlns:a="http://schemas.openxmlformats.org/drawingml/2006/main">
            <a:pPr>
              <a:lnSpc>
                <a:spcPct val="115000"/>
              </a:lnSpc>
              <a:buNone/>
              <a:defRPr sz="1575" b="1">
                <a:solidFill>
                  <a:srgbClr val="0D233A"/>
                </a:solidFill>
              </a:defRPr>
            </a:pPr>
            <a:r>
              <a:rPr sz="1575" b="1">
                <a:solidFill>
                  <a:srgbClr val="0D233A"/>
                </a:solidFill>
              </a:rPr>
              <a:t>Validacion de entradas</a:t>
            </a:r>
          </a:p>
        </p:txBody>
      </p:sp>
      <p:sp>
        <p:nvSpPr>
          <p:cNvPr id="6" name="">
            <a:extLst xmlns:a="http://schemas.openxmlformats.org/drawingml/2006/main">
              <a:ext uri="{FF2B5EF4-FFF2-40B4-BE49-F238E27FC236}">
                <a16:creationId xmlns:a16="http://schemas.microsoft.com/office/drawing/2014/main" id="{9C6B6CF9-A1DF-4C98-A409-C15F5FB4144B}"/>
              </a:ext>
            </a:extLst>
          </p:cNvPr>
          <p:cNvSpPr>
            <a:spLocks xmlns:a="http://schemas.openxmlformats.org/drawingml/2006/main" noGrp="1"/>
          </p:cNvSpPr>
          <p:nvPr/>
        </p:nvSpPr>
        <p:spPr>
          <a:xfrm xmlns:a="http://schemas.openxmlformats.org/drawingml/2006/main">
            <a:off x="857250" y="22098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D63426"/>
                </a:solidFill>
              </a:defRPr>
            </a:defPPr>
          </a:lstStyle>
          <a:p xmlns:a="http://schemas.openxmlformats.org/drawingml/2006/main">
            <a:pPr>
              <a:lnSpc>
                <a:spcPct val="115000"/>
              </a:lnSpc>
              <a:buNone/>
              <a:defRPr sz="1050" b="0" i="1">
                <a:solidFill>
                  <a:srgbClr val="D63426"/>
                </a:solidFill>
              </a:defRPr>
            </a:pPr>
            <a:r>
              <a:rPr sz="1050" b="0" i="1">
                <a:solidFill>
                  <a:srgbClr val="D63426"/>
                </a:solidFill>
              </a:rPr>
              <a:t>servicios/validador.py</a:t>
            </a:r>
          </a:p>
        </p:txBody>
      </p:sp>
      <p:sp>
        <p:nvSpPr>
          <p:cNvPr id="7" name="">
            <a:extLst xmlns:a="http://schemas.openxmlformats.org/drawingml/2006/main">
              <a:ext uri="{FF2B5EF4-FFF2-40B4-BE49-F238E27FC236}">
                <a16:creationId xmlns:a16="http://schemas.microsoft.com/office/drawing/2014/main" id="{BB85F82F-359B-47A9-97E8-7B64A1C85876}"/>
              </a:ext>
            </a:extLst>
          </p:cNvPr>
          <p:cNvSpPr>
            <a:spLocks xmlns:a="http://schemas.openxmlformats.org/drawingml/2006/main" noGrp="1"/>
          </p:cNvSpPr>
          <p:nvPr/>
        </p:nvSpPr>
        <p:spPr>
          <a:xfrm xmlns:a="http://schemas.openxmlformats.org/drawingml/2006/main">
            <a:off x="857250" y="25527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1F2933"/>
                </a:solidFill>
              </a:defRPr>
            </a:defPPr>
          </a:lstStyle>
          <a:p xmlns:a="http://schemas.openxmlformats.org/drawingml/2006/main">
            <a:pPr>
              <a:lnSpc>
                <a:spcPct val="115000"/>
              </a:lnSpc>
              <a:buNone/>
              <a:defRPr sz="1050" b="0">
                <a:solidFill>
                  <a:srgbClr val="1F2933"/>
                </a:solidFill>
              </a:defRPr>
            </a:pPr>
            <a:r>
              <a:rPr sz="1050" b="0">
                <a:solidFill>
                  <a:srgbClr val="1F2933"/>
                </a:solidFill>
              </a:rPr>
              <a:t>-  pedir_entero(), pedir_decimal() y pedir_fecha_futura() reintentan sin caer.</a:t>
            </a:r>
          </a:p>
        </p:txBody>
      </p:sp>
      <p:sp>
        <p:nvSpPr>
          <p:cNvPr id="8" name="">
            <a:extLst xmlns:a="http://schemas.openxmlformats.org/drawingml/2006/main">
              <a:ext uri="{FF2B5EF4-FFF2-40B4-BE49-F238E27FC236}">
                <a16:creationId xmlns:a16="http://schemas.microsoft.com/office/drawing/2014/main" id="{D1141181-167E-48F2-9961-B4FBAE110AFE}"/>
              </a:ext>
            </a:extLst>
          </p:cNvPr>
          <p:cNvSpPr>
            <a:spLocks xmlns:a="http://schemas.openxmlformats.org/drawingml/2006/main" noGrp="1"/>
          </p:cNvSpPr>
          <p:nvPr/>
        </p:nvSpPr>
        <p:spPr>
          <a:xfrm xmlns:a="http://schemas.openxmlformats.org/drawingml/2006/main">
            <a:off x="857250" y="32004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1F2933"/>
                </a:solidFill>
              </a:defRPr>
            </a:defPPr>
          </a:lstStyle>
          <a:p xmlns:a="http://schemas.openxmlformats.org/drawingml/2006/main">
            <a:pPr>
              <a:lnSpc>
                <a:spcPct val="115000"/>
              </a:lnSpc>
              <a:buNone/>
              <a:defRPr sz="1050" b="0">
                <a:solidFill>
                  <a:srgbClr val="1F2933"/>
                </a:solidFill>
              </a:defRPr>
            </a:pPr>
            <a:r>
              <a:rPr sz="1050" b="0">
                <a:solidFill>
                  <a:srgbClr val="1F2933"/>
                </a:solidFill>
              </a:rPr>
              <a:t>-  Cliente.identificador, Producto.stock y ProductoServicio.fecha_agendada validan en el setter.</a:t>
            </a:r>
          </a:p>
        </p:txBody>
      </p:sp>
      <p:sp>
        <p:nvSpPr>
          <p:cNvPr id="9" name="">
            <a:extLst xmlns:a="http://schemas.openxmlformats.org/drawingml/2006/main">
              <a:ext uri="{FF2B5EF4-FFF2-40B4-BE49-F238E27FC236}">
                <a16:creationId xmlns:a16="http://schemas.microsoft.com/office/drawing/2014/main" id="{7189321F-BB0A-449E-943E-7B5C0F49ABE3}"/>
              </a:ext>
            </a:extLst>
          </p:cNvPr>
          <p:cNvSpPr>
            <a:spLocks xmlns:a="http://schemas.openxmlformats.org/drawingml/2006/main" noGrp="1"/>
          </p:cNvSpPr>
          <p:nvPr/>
        </p:nvSpPr>
        <p:spPr>
          <a:xfrm xmlns:a="http://schemas.openxmlformats.org/drawingml/2006/main">
            <a:off x="857250" y="38481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1F2933"/>
                </a:solidFill>
              </a:defRPr>
            </a:defPPr>
          </a:lstStyle>
          <a:p xmlns:a="http://schemas.openxmlformats.org/drawingml/2006/main">
            <a:pPr>
              <a:lnSpc>
                <a:spcPct val="115000"/>
              </a:lnSpc>
              <a:buNone/>
              <a:defRPr sz="1050" b="0">
                <a:solidFill>
                  <a:srgbClr val="1F2933"/>
                </a:solidFill>
              </a:defRPr>
            </a:pPr>
            <a:r>
              <a:rPr sz="1050" b="0">
                <a:solidFill>
                  <a:srgbClr val="1F2933"/>
                </a:solidFill>
              </a:rPr>
              <a:t>-  El caso P19 del guion de pruebas escribe letras donde va un numero y el programa sigue.</a:t>
            </a:r>
          </a:p>
        </p:txBody>
      </p:sp>
      <p:sp>
        <p:nvSpPr>
          <p:cNvPr id="10" name="">
            <a:extLst xmlns:a="http://schemas.openxmlformats.org/drawingml/2006/main">
              <a:ext uri="{FF2B5EF4-FFF2-40B4-BE49-F238E27FC236}">
                <a16:creationId xmlns:a16="http://schemas.microsoft.com/office/drawing/2014/main" id="{0DB7EE4E-E507-4032-982C-1A4601CE257C}"/>
              </a:ext>
            </a:extLst>
          </p:cNvPr>
          <p:cNvSpPr>
            <a:spLocks xmlns:a="http://schemas.openxmlformats.org/drawingml/2006/main" noGrp="1"/>
          </p:cNvSpPr>
          <p:nvPr/>
        </p:nvSpPr>
        <p:spPr>
          <a:xfrm xmlns:a="http://schemas.openxmlformats.org/drawingml/2006/main">
            <a:off x="6229350" y="1666875"/>
            <a:ext cx="5353050" cy="3143250"/>
          </a:xfrm>
          <a:prstGeom xmlns:a="http://schemas.openxmlformats.org/drawingml/2006/main" prst="roundRect">
            <a:avLst>
              <a:gd name="adj" fmla="val 2424"/>
            </a:avLst>
          </a:prstGeom>
          <a:solidFill xmlns:a="http://schemas.openxmlformats.org/drawingml/2006/main">
            <a:srgbClr val="F2F5F9"/>
          </a:solidFill>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27F448E2-D5D6-49B5-8F22-692101DB94DA}"/>
              </a:ext>
            </a:extLst>
          </p:cNvPr>
          <p:cNvSpPr>
            <a:spLocks xmlns:a="http://schemas.openxmlformats.org/drawingml/2006/main" noGrp="1"/>
          </p:cNvSpPr>
          <p:nvPr/>
        </p:nvSpPr>
        <p:spPr>
          <a:xfrm xmlns:a="http://schemas.openxmlformats.org/drawingml/2006/main">
            <a:off x="6477000" y="188595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D233A"/>
                </a:solidFill>
              </a:defRPr>
            </a:defPPr>
          </a:lstStyle>
          <a:p xmlns:a="http://schemas.openxmlformats.org/drawingml/2006/main">
            <a:pPr>
              <a:lnSpc>
                <a:spcPct val="115000"/>
              </a:lnSpc>
              <a:buNone/>
              <a:defRPr sz="1575" b="1">
                <a:solidFill>
                  <a:srgbClr val="0D233A"/>
                </a:solidFill>
              </a:defRPr>
            </a:pPr>
            <a:r>
              <a:rPr sz="1575" b="1">
                <a:solidFill>
                  <a:srgbClr val="0D233A"/>
                </a:solidFill>
              </a:rPr>
              <a:t>Continuidad si la API falla</a:t>
            </a:r>
          </a:p>
        </p:txBody>
      </p:sp>
      <p:sp>
        <p:nvSpPr>
          <p:cNvPr id="12" name="">
            <a:extLst xmlns:a="http://schemas.openxmlformats.org/drawingml/2006/main">
              <a:ext uri="{FF2B5EF4-FFF2-40B4-BE49-F238E27FC236}">
                <a16:creationId xmlns:a16="http://schemas.microsoft.com/office/drawing/2014/main" id="{374A32EC-B514-4446-A366-2B4BD3DDC9C8}"/>
              </a:ext>
            </a:extLst>
          </p:cNvPr>
          <p:cNvSpPr>
            <a:spLocks xmlns:a="http://schemas.openxmlformats.org/drawingml/2006/main" noGrp="1"/>
          </p:cNvSpPr>
          <p:nvPr/>
        </p:nvSpPr>
        <p:spPr>
          <a:xfrm xmlns:a="http://schemas.openxmlformats.org/drawingml/2006/main">
            <a:off x="6477000" y="22098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D63426"/>
                </a:solidFill>
              </a:defRPr>
            </a:defPPr>
          </a:lstStyle>
          <a:p xmlns:a="http://schemas.openxmlformats.org/drawingml/2006/main">
            <a:pPr>
              <a:lnSpc>
                <a:spcPct val="115000"/>
              </a:lnSpc>
              <a:buNone/>
              <a:defRPr sz="1050" b="0" i="1">
                <a:solidFill>
                  <a:srgbClr val="D63426"/>
                </a:solidFill>
              </a:defRPr>
            </a:pPr>
            <a:r>
              <a:rPr sz="1050" b="0" i="1">
                <a:solidFill>
                  <a:srgbClr val="D63426"/>
                </a:solidFill>
              </a:rPr>
              <a:t>servicios/indicador_dolar.py</a:t>
            </a:r>
          </a:p>
        </p:txBody>
      </p:sp>
      <p:sp>
        <p:nvSpPr>
          <p:cNvPr id="13" name="">
            <a:extLst xmlns:a="http://schemas.openxmlformats.org/drawingml/2006/main">
              <a:ext uri="{FF2B5EF4-FFF2-40B4-BE49-F238E27FC236}">
                <a16:creationId xmlns:a16="http://schemas.microsoft.com/office/drawing/2014/main" id="{C49CBA58-A11A-4BF1-B7F2-772A74CBFFE7}"/>
              </a:ext>
            </a:extLst>
          </p:cNvPr>
          <p:cNvSpPr>
            <a:spLocks xmlns:a="http://schemas.openxmlformats.org/drawingml/2006/main" noGrp="1"/>
          </p:cNvSpPr>
          <p:nvPr/>
        </p:nvSpPr>
        <p:spPr>
          <a:xfrm xmlns:a="http://schemas.openxmlformats.org/drawingml/2006/main">
            <a:off x="6477000" y="25527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1F2933"/>
                </a:solidFill>
              </a:defRPr>
            </a:defPPr>
          </a:lstStyle>
          <a:p xmlns:a="http://schemas.openxmlformats.org/drawingml/2006/main">
            <a:pPr>
              <a:lnSpc>
                <a:spcPct val="115000"/>
              </a:lnSpc>
              <a:buNone/>
              <a:defRPr sz="1050" b="0">
                <a:solidFill>
                  <a:srgbClr val="1F2933"/>
                </a:solidFill>
              </a:defRPr>
            </a:pPr>
            <a:r>
              <a:rPr sz="1050" b="0">
                <a:solidFill>
                  <a:srgbClr val="1F2933"/>
                </a:solidFill>
              </a:rPr>
              <a:t>-  requests.get con timeout=5: la consulta no puede colgar el programa.</a:t>
            </a:r>
          </a:p>
        </p:txBody>
      </p:sp>
      <p:sp>
        <p:nvSpPr>
          <p:cNvPr id="14" name="">
            <a:extLst xmlns:a="http://schemas.openxmlformats.org/drawingml/2006/main">
              <a:ext uri="{FF2B5EF4-FFF2-40B4-BE49-F238E27FC236}">
                <a16:creationId xmlns:a16="http://schemas.microsoft.com/office/drawing/2014/main" id="{8763C1C8-E37E-428E-B097-B1EF76B12289}"/>
              </a:ext>
            </a:extLst>
          </p:cNvPr>
          <p:cNvSpPr>
            <a:spLocks xmlns:a="http://schemas.openxmlformats.org/drawingml/2006/main" noGrp="1"/>
          </p:cNvSpPr>
          <p:nvPr/>
        </p:nvSpPr>
        <p:spPr>
          <a:xfrm xmlns:a="http://schemas.openxmlformats.org/drawingml/2006/main">
            <a:off x="6477000" y="32004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1F2933"/>
                </a:solidFill>
              </a:defRPr>
            </a:defPPr>
          </a:lstStyle>
          <a:p xmlns:a="http://schemas.openxmlformats.org/drawingml/2006/main">
            <a:pPr>
              <a:lnSpc>
                <a:spcPct val="115000"/>
              </a:lnSpc>
              <a:buNone/>
              <a:defRPr sz="1050" b="0">
                <a:solidFill>
                  <a:srgbClr val="1F2933"/>
                </a:solidFill>
              </a:defRPr>
            </a:pPr>
            <a:r>
              <a:rPr sz="1050" b="0">
                <a:solidFill>
                  <a:srgbClr val="1F2933"/>
                </a:solidFill>
              </a:rPr>
              <a:t>-  Si falla, se lanza IndicadorNoDisponibleError y se usa el ultimo valor guardado.</a:t>
            </a:r>
          </a:p>
        </p:txBody>
      </p:sp>
      <p:sp>
        <p:nvSpPr>
          <p:cNvPr id="15" name="">
            <a:extLst xmlns:a="http://schemas.openxmlformats.org/drawingml/2006/main">
              <a:ext uri="{FF2B5EF4-FFF2-40B4-BE49-F238E27FC236}">
                <a16:creationId xmlns:a16="http://schemas.microsoft.com/office/drawing/2014/main" id="{5EFFECB5-FFED-4605-A24C-9BD24AB20C69}"/>
              </a:ext>
            </a:extLst>
          </p:cNvPr>
          <p:cNvSpPr>
            <a:spLocks xmlns:a="http://schemas.openxmlformats.org/drawingml/2006/main" noGrp="1"/>
          </p:cNvSpPr>
          <p:nvPr/>
        </p:nvSpPr>
        <p:spPr>
          <a:xfrm xmlns:a="http://schemas.openxmlformats.org/drawingml/2006/main">
            <a:off x="6477000" y="38481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1F2933"/>
                </a:solidFill>
              </a:defRPr>
            </a:defPPr>
          </a:lstStyle>
          <a:p xmlns:a="http://schemas.openxmlformats.org/drawingml/2006/main">
            <a:pPr>
              <a:lnSpc>
                <a:spcPct val="115000"/>
              </a:lnSpc>
              <a:buNone/>
              <a:defRPr sz="1050" b="0">
                <a:solidFill>
                  <a:srgbClr val="1F2933"/>
                </a:solidFill>
              </a:defRPr>
            </a:pPr>
            <a:r>
              <a:rPr sz="1050" b="0">
                <a:solidFill>
                  <a:srgbClr val="1F2933"/>
                </a:solidFill>
              </a:rPr>
              <a:t>-  El caso P17 del guion de pruebas desconecta el wifi y el sistema avisa y continua.</a:t>
            </a:r>
          </a:p>
        </p:txBody>
      </p:sp>
    </p:spTree>
    <p:extLst>
      <p:ext uri="{BB962C8B-B14F-4D97-AF65-F5344CB8AC3E}">
        <p14:creationId xmlns:p14="http://schemas.microsoft.com/office/powerpoint/2010/main" val="94488944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BECE547-D92B-4964-95C2-3F63C7671D7C}"/>
              </a:ext>
            </a:extLst>
          </p:cNvPr>
          <p:cNvSpPr>
            <a:spLocks xmlns:a="http://schemas.openxmlformats.org/drawingml/2006/main" noGrp="1"/>
          </p:cNvSpPr>
          <p:nvPr/>
        </p:nvSpPr>
        <p:spPr>
          <a:xfrm xmlns:a="http://schemas.openxmlformats.org/drawingml/2006/main">
            <a:off x="609600" y="38100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RECORRIDO COMPLETO</a:t>
            </a:r>
          </a:p>
        </p:txBody>
      </p:sp>
      <p:sp>
        <p:nvSpPr>
          <p:cNvPr id="2" name="">
            <a:extLst xmlns:a="http://schemas.openxmlformats.org/drawingml/2006/main">
              <a:ext uri="{FF2B5EF4-FFF2-40B4-BE49-F238E27FC236}">
                <a16:creationId xmlns:a16="http://schemas.microsoft.com/office/drawing/2014/main" id="{67F804FB-6AF9-40BA-816C-FFFD1EF144B2}"/>
              </a:ext>
            </a:extLst>
          </p:cNvPr>
          <p:cNvSpPr>
            <a:spLocks xmlns:a="http://schemas.openxmlformats.org/drawingml/2006/main" noGrp="1"/>
          </p:cNvSpPr>
          <p:nvPr/>
        </p:nvSpPr>
        <p:spPr>
          <a:xfrm xmlns:a="http://schemas.openxmlformats.org/drawingml/2006/main">
            <a:off x="609600" y="6096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D233A"/>
                </a:solidFill>
              </a:defRPr>
            </a:defPPr>
          </a:lstStyle>
          <a:p xmlns:a="http://schemas.openxmlformats.org/drawingml/2006/main">
            <a:pPr>
              <a:lnSpc>
                <a:spcPct val="115000"/>
              </a:lnSpc>
              <a:buNone/>
              <a:defRPr sz="2400" b="1">
                <a:solidFill>
                  <a:srgbClr val="0D233A"/>
                </a:solidFill>
              </a:defRPr>
            </a:pPr>
            <a:r>
              <a:rPr sz="2400" b="1">
                <a:solidFill>
                  <a:srgbClr val="0D233A"/>
                </a:solidFill>
              </a:rPr>
              <a:t>El camino de una operacion: registrar el pago de un pedido</a:t>
            </a:r>
          </a:p>
        </p:txBody>
      </p:sp>
      <p:sp>
        <p:nvSpPr>
          <p:cNvPr id="3" name="">
            <a:extLst xmlns:a="http://schemas.openxmlformats.org/drawingml/2006/main">
              <a:ext uri="{FF2B5EF4-FFF2-40B4-BE49-F238E27FC236}">
                <a16:creationId xmlns:a16="http://schemas.microsoft.com/office/drawing/2014/main" id="{C1B7BF57-9F18-4D91-8CBF-B641D3D6B697}"/>
              </a:ext>
            </a:extLst>
          </p:cNvPr>
          <p:cNvSpPr>
            <a:spLocks xmlns:a="http://schemas.openxmlformats.org/drawingml/2006/main" noGrp="1"/>
          </p:cNvSpPr>
          <p:nvPr/>
        </p:nvSpPr>
        <p:spPr>
          <a:xfrm xmlns:a="http://schemas.openxmlformats.org/drawingml/2006/main">
            <a:off x="609600" y="10477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Del menu a la consulta SQL, capa por capa</a:t>
            </a:r>
          </a:p>
        </p:txBody>
      </p:sp>
      <p:sp>
        <p:nvSpPr>
          <p:cNvPr id="4" name="">
            <a:extLst xmlns:a="http://schemas.openxmlformats.org/drawingml/2006/main">
              <a:ext uri="{FF2B5EF4-FFF2-40B4-BE49-F238E27FC236}">
                <a16:creationId xmlns:a16="http://schemas.microsoft.com/office/drawing/2014/main" id="{12CCF90D-C33B-47DC-A750-AF73DAFAB230}"/>
              </a:ext>
            </a:extLst>
          </p:cNvPr>
          <p:cNvSpPr>
            <a:spLocks xmlns:a="http://schemas.openxmlformats.org/drawingml/2006/main" noGrp="1"/>
          </p:cNvSpPr>
          <p:nvPr/>
        </p:nvSpPr>
        <p:spPr>
          <a:xfrm xmlns:a="http://schemas.openxmlformats.org/drawingml/2006/main">
            <a:off x="609600" y="1524000"/>
            <a:ext cx="419100" cy="419100"/>
          </a:xfrm>
          <a:prstGeom xmlns:a="http://schemas.openxmlformats.org/drawingml/2006/main" prst="roundRect">
            <a:avLst>
              <a:gd name="adj" fmla="val 18182"/>
            </a:avLst>
          </a:prstGeom>
          <a:solidFill xmlns:a="http://schemas.openxmlformats.org/drawingml/2006/main">
            <a:srgbClr val="0D23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1</a:t>
            </a:r>
          </a:p>
        </p:txBody>
      </p:sp>
      <p:sp>
        <p:nvSpPr>
          <p:cNvPr id="5" name="">
            <a:extLst xmlns:a="http://schemas.openxmlformats.org/drawingml/2006/main">
              <a:ext uri="{FF2B5EF4-FFF2-40B4-BE49-F238E27FC236}">
                <a16:creationId xmlns:a16="http://schemas.microsoft.com/office/drawing/2014/main" id="{5058AEBF-F28E-4BE2-9276-C124B5F2EE2B}"/>
              </a:ext>
            </a:extLst>
          </p:cNvPr>
          <p:cNvSpPr>
            <a:spLocks xmlns:a="http://schemas.openxmlformats.org/drawingml/2006/main" noGrp="1"/>
          </p:cNvSpPr>
          <p:nvPr/>
        </p:nvSpPr>
        <p:spPr>
          <a:xfrm xmlns:a="http://schemas.openxmlformats.org/drawingml/2006/main">
            <a:off x="1219200" y="15430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D233A"/>
                </a:solidFill>
              </a:defRPr>
            </a:defPPr>
          </a:lstStyle>
          <a:p xmlns:a="http://schemas.openxmlformats.org/drawingml/2006/main">
            <a:pPr>
              <a:lnSpc>
                <a:spcPct val="115000"/>
              </a:lnSpc>
              <a:buNone/>
              <a:defRPr sz="1125" b="1">
                <a:solidFill>
                  <a:srgbClr val="0D233A"/>
                </a:solidFill>
              </a:defRPr>
            </a:pPr>
            <a:r>
              <a:rPr sz="1125" b="1">
                <a:solidFill>
                  <a:srgbClr val="0D233A"/>
                </a:solidFill>
              </a:rPr>
              <a:t>main.py</a:t>
            </a:r>
          </a:p>
        </p:txBody>
      </p:sp>
      <p:sp>
        <p:nvSpPr>
          <p:cNvPr id="6" name="">
            <a:extLst xmlns:a="http://schemas.openxmlformats.org/drawingml/2006/main">
              <a:ext uri="{FF2B5EF4-FFF2-40B4-BE49-F238E27FC236}">
                <a16:creationId xmlns:a16="http://schemas.microsoft.com/office/drawing/2014/main" id="{5C1C1734-ADEF-48C3-9505-B8DFE4045D7D}"/>
              </a:ext>
            </a:extLst>
          </p:cNvPr>
          <p:cNvSpPr>
            <a:spLocks xmlns:a="http://schemas.openxmlformats.org/drawingml/2006/main" noGrp="1"/>
          </p:cNvSpPr>
          <p:nvPr/>
        </p:nvSpPr>
        <p:spPr>
          <a:xfrm xmlns:a="http://schemas.openxmlformats.org/drawingml/2006/main">
            <a:off x="1219200" y="17526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63426"/>
                </a:solidFill>
              </a:defRPr>
            </a:defPPr>
          </a:lstStyle>
          <a:p xmlns:a="http://schemas.openxmlformats.org/drawingml/2006/main">
            <a:pPr>
              <a:lnSpc>
                <a:spcPct val="115000"/>
              </a:lnSpc>
              <a:buNone/>
              <a:defRPr sz="975" b="0">
                <a:solidFill>
                  <a:srgbClr val="D63426"/>
                </a:solidFill>
              </a:defRPr>
            </a:pPr>
            <a:r>
              <a:rPr sz="975" b="0">
                <a:solidFill>
                  <a:srgbClr val="D63426"/>
                </a:solidFill>
              </a:rPr>
              <a:t>_registrar_pago()</a:t>
            </a:r>
          </a:p>
        </p:txBody>
      </p:sp>
      <p:sp>
        <p:nvSpPr>
          <p:cNvPr id="7" name="">
            <a:extLst xmlns:a="http://schemas.openxmlformats.org/drawingml/2006/main">
              <a:ext uri="{FF2B5EF4-FFF2-40B4-BE49-F238E27FC236}">
                <a16:creationId xmlns:a16="http://schemas.microsoft.com/office/drawing/2014/main" id="{0360E02E-D31C-4440-968B-CF79BF29EF89}"/>
              </a:ext>
            </a:extLst>
          </p:cNvPr>
          <p:cNvSpPr>
            <a:spLocks xmlns:a="http://schemas.openxmlformats.org/drawingml/2006/main" noGrp="1"/>
          </p:cNvSpPr>
          <p:nvPr/>
        </p:nvSpPr>
        <p:spPr>
          <a:xfrm xmlns:a="http://schemas.openxmlformats.org/drawingml/2006/main">
            <a:off x="4991100" y="1600200"/>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13" b="0">
                <a:solidFill>
                  <a:srgbClr val="1F2933"/>
                </a:solidFill>
              </a:defRPr>
            </a:defPPr>
          </a:lstStyle>
          <a:p xmlns:a="http://schemas.openxmlformats.org/drawingml/2006/main">
            <a:pPr>
              <a:lnSpc>
                <a:spcPct val="115000"/>
              </a:lnSpc>
              <a:buNone/>
              <a:defRPr sz="1013" b="0">
                <a:solidFill>
                  <a:srgbClr val="1F2933"/>
                </a:solidFill>
              </a:defRPr>
            </a:pPr>
            <a:r>
              <a:rPr sz="1013" b="0">
                <a:solidFill>
                  <a:srgbClr val="1F2933"/>
                </a:solidFill>
              </a:rPr>
              <a:t>El menu elige el pedido y llama al objeto del modelo.</a:t>
            </a:r>
          </a:p>
        </p:txBody>
      </p:sp>
      <p:sp>
        <p:nvSpPr>
          <p:cNvPr id="8" name="">
            <a:extLst xmlns:a="http://schemas.openxmlformats.org/drawingml/2006/main">
              <a:ext uri="{FF2B5EF4-FFF2-40B4-BE49-F238E27FC236}">
                <a16:creationId xmlns:a16="http://schemas.microsoft.com/office/drawing/2014/main" id="{D056654D-660B-45EB-8E66-70470AEBA331}"/>
              </a:ext>
            </a:extLst>
          </p:cNvPr>
          <p:cNvSpPr>
            <a:spLocks xmlns:a="http://schemas.openxmlformats.org/drawingml/2006/main" noGrp="1"/>
          </p:cNvSpPr>
          <p:nvPr/>
        </p:nvSpPr>
        <p:spPr>
          <a:xfrm xmlns:a="http://schemas.openxmlformats.org/drawingml/2006/main">
            <a:off x="609600" y="2266950"/>
            <a:ext cx="419100" cy="419100"/>
          </a:xfrm>
          <a:prstGeom xmlns:a="http://schemas.openxmlformats.org/drawingml/2006/main" prst="roundRect">
            <a:avLst>
              <a:gd name="adj" fmla="val 18182"/>
            </a:avLst>
          </a:prstGeom>
          <a:solidFill xmlns:a="http://schemas.openxmlformats.org/drawingml/2006/main">
            <a:srgbClr val="0D23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2</a:t>
            </a:r>
          </a:p>
        </p:txBody>
      </p:sp>
      <p:sp>
        <p:nvSpPr>
          <p:cNvPr id="9" name="">
            <a:extLst xmlns:a="http://schemas.openxmlformats.org/drawingml/2006/main">
              <a:ext uri="{FF2B5EF4-FFF2-40B4-BE49-F238E27FC236}">
                <a16:creationId xmlns:a16="http://schemas.microsoft.com/office/drawing/2014/main" id="{750863EC-AA6F-4E13-933A-84A195AAE0CC}"/>
              </a:ext>
            </a:extLst>
          </p:cNvPr>
          <p:cNvSpPr>
            <a:spLocks xmlns:a="http://schemas.openxmlformats.org/drawingml/2006/main" noGrp="1"/>
          </p:cNvSpPr>
          <p:nvPr/>
        </p:nvSpPr>
        <p:spPr>
          <a:xfrm xmlns:a="http://schemas.openxmlformats.org/drawingml/2006/main">
            <a:off x="1219200" y="2286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D233A"/>
                </a:solidFill>
              </a:defRPr>
            </a:defPPr>
          </a:lstStyle>
          <a:p xmlns:a="http://schemas.openxmlformats.org/drawingml/2006/main">
            <a:pPr>
              <a:lnSpc>
                <a:spcPct val="115000"/>
              </a:lnSpc>
              <a:buNone/>
              <a:defRPr sz="1125" b="1">
                <a:solidFill>
                  <a:srgbClr val="0D233A"/>
                </a:solidFill>
              </a:defRPr>
            </a:pPr>
            <a:r>
              <a:rPr sz="1125" b="1">
                <a:solidFill>
                  <a:srgbClr val="0D233A"/>
                </a:solidFill>
              </a:rPr>
              <a:t>model/pedido.py</a:t>
            </a:r>
          </a:p>
        </p:txBody>
      </p:sp>
      <p:sp>
        <p:nvSpPr>
          <p:cNvPr id="10" name="">
            <a:extLst xmlns:a="http://schemas.openxmlformats.org/drawingml/2006/main">
              <a:ext uri="{FF2B5EF4-FFF2-40B4-BE49-F238E27FC236}">
                <a16:creationId xmlns:a16="http://schemas.microsoft.com/office/drawing/2014/main" id="{3057013E-0AF9-4277-B3C7-D31BEE6E6BFC}"/>
              </a:ext>
            </a:extLst>
          </p:cNvPr>
          <p:cNvSpPr>
            <a:spLocks xmlns:a="http://schemas.openxmlformats.org/drawingml/2006/main" noGrp="1"/>
          </p:cNvSpPr>
          <p:nvPr/>
        </p:nvSpPr>
        <p:spPr>
          <a:xfrm xmlns:a="http://schemas.openxmlformats.org/drawingml/2006/main">
            <a:off x="1219200" y="249555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63426"/>
                </a:solidFill>
              </a:defRPr>
            </a:defPPr>
          </a:lstStyle>
          <a:p xmlns:a="http://schemas.openxmlformats.org/drawingml/2006/main">
            <a:pPr>
              <a:lnSpc>
                <a:spcPct val="115000"/>
              </a:lnSpc>
              <a:buNone/>
              <a:defRPr sz="975" b="0">
                <a:solidFill>
                  <a:srgbClr val="D63426"/>
                </a:solidFill>
              </a:defRPr>
            </a:pPr>
            <a:r>
              <a:rPr sz="975" b="0">
                <a:solidFill>
                  <a:srgbClr val="D63426"/>
                </a:solidFill>
              </a:rPr>
              <a:t>Pedido.registrar_pago()</a:t>
            </a:r>
          </a:p>
        </p:txBody>
      </p:sp>
      <p:sp>
        <p:nvSpPr>
          <p:cNvPr id="11" name="">
            <a:extLst xmlns:a="http://schemas.openxmlformats.org/drawingml/2006/main">
              <a:ext uri="{FF2B5EF4-FFF2-40B4-BE49-F238E27FC236}">
                <a16:creationId xmlns:a16="http://schemas.microsoft.com/office/drawing/2014/main" id="{BD88DF38-61D3-4C59-AE5F-A6D50FB16ACF}"/>
              </a:ext>
            </a:extLst>
          </p:cNvPr>
          <p:cNvSpPr>
            <a:spLocks xmlns:a="http://schemas.openxmlformats.org/drawingml/2006/main" noGrp="1"/>
          </p:cNvSpPr>
          <p:nvPr/>
        </p:nvSpPr>
        <p:spPr>
          <a:xfrm xmlns:a="http://schemas.openxmlformats.org/drawingml/2006/main">
            <a:off x="4991100" y="2343150"/>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13" b="0">
                <a:solidFill>
                  <a:srgbClr val="1F2933"/>
                </a:solidFill>
              </a:defRPr>
            </a:defPPr>
          </a:lstStyle>
          <a:p xmlns:a="http://schemas.openxmlformats.org/drawingml/2006/main">
            <a:pPr>
              <a:lnSpc>
                <a:spcPct val="115000"/>
              </a:lnSpc>
              <a:buNone/>
              <a:defRPr sz="1013" b="0">
                <a:solidFill>
                  <a:srgbClr val="1F2933"/>
                </a:solidFill>
              </a:defRPr>
            </a:pPr>
            <a:r>
              <a:rPr sz="1013" b="0">
                <a:solidFill>
                  <a:srgbClr val="1F2933"/>
                </a:solidFill>
              </a:rPr>
              <a:t>Primero confirma el stock y despues descuenta.</a:t>
            </a:r>
          </a:p>
        </p:txBody>
      </p:sp>
      <p:sp>
        <p:nvSpPr>
          <p:cNvPr id="12" name="">
            <a:extLst xmlns:a="http://schemas.openxmlformats.org/drawingml/2006/main">
              <a:ext uri="{FF2B5EF4-FFF2-40B4-BE49-F238E27FC236}">
                <a16:creationId xmlns:a16="http://schemas.microsoft.com/office/drawing/2014/main" id="{59060587-4CE2-4A0F-94DF-AD3C63ED4236}"/>
              </a:ext>
            </a:extLst>
          </p:cNvPr>
          <p:cNvSpPr>
            <a:spLocks xmlns:a="http://schemas.openxmlformats.org/drawingml/2006/main" noGrp="1"/>
          </p:cNvSpPr>
          <p:nvPr/>
        </p:nvSpPr>
        <p:spPr>
          <a:xfrm xmlns:a="http://schemas.openxmlformats.org/drawingml/2006/main">
            <a:off x="609600" y="3009900"/>
            <a:ext cx="419100" cy="419100"/>
          </a:xfrm>
          <a:prstGeom xmlns:a="http://schemas.openxmlformats.org/drawingml/2006/main" prst="roundRect">
            <a:avLst>
              <a:gd name="adj" fmla="val 18182"/>
            </a:avLst>
          </a:prstGeom>
          <a:solidFill xmlns:a="http://schemas.openxmlformats.org/drawingml/2006/main">
            <a:srgbClr val="0D23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3</a:t>
            </a:r>
          </a:p>
        </p:txBody>
      </p:sp>
      <p:sp>
        <p:nvSpPr>
          <p:cNvPr id="13" name="">
            <a:extLst xmlns:a="http://schemas.openxmlformats.org/drawingml/2006/main">
              <a:ext uri="{FF2B5EF4-FFF2-40B4-BE49-F238E27FC236}">
                <a16:creationId xmlns:a16="http://schemas.microsoft.com/office/drawing/2014/main" id="{5C393CA0-66F6-43B5-8486-41AAB9F86E5A}"/>
              </a:ext>
            </a:extLst>
          </p:cNvPr>
          <p:cNvSpPr>
            <a:spLocks xmlns:a="http://schemas.openxmlformats.org/drawingml/2006/main" noGrp="1"/>
          </p:cNvSpPr>
          <p:nvPr/>
        </p:nvSpPr>
        <p:spPr>
          <a:xfrm xmlns:a="http://schemas.openxmlformats.org/drawingml/2006/main">
            <a:off x="1219200" y="30289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D233A"/>
                </a:solidFill>
              </a:defRPr>
            </a:defPPr>
          </a:lstStyle>
          <a:p xmlns:a="http://schemas.openxmlformats.org/drawingml/2006/main">
            <a:pPr>
              <a:lnSpc>
                <a:spcPct val="115000"/>
              </a:lnSpc>
              <a:buNone/>
              <a:defRPr sz="1125" b="1">
                <a:solidFill>
                  <a:srgbClr val="0D233A"/>
                </a:solidFill>
              </a:defRPr>
            </a:pPr>
            <a:r>
              <a:rPr sz="1125" b="1">
                <a:solidFill>
                  <a:srgbClr val="0D233A"/>
                </a:solidFill>
              </a:rPr>
              <a:t>model/producto.py</a:t>
            </a:r>
          </a:p>
        </p:txBody>
      </p:sp>
      <p:sp>
        <p:nvSpPr>
          <p:cNvPr id="14" name="">
            <a:extLst xmlns:a="http://schemas.openxmlformats.org/drawingml/2006/main">
              <a:ext uri="{FF2B5EF4-FFF2-40B4-BE49-F238E27FC236}">
                <a16:creationId xmlns:a16="http://schemas.microsoft.com/office/drawing/2014/main" id="{FEC95946-C539-46A7-8054-1DC67D490592}"/>
              </a:ext>
            </a:extLst>
          </p:cNvPr>
          <p:cNvSpPr>
            <a:spLocks xmlns:a="http://schemas.openxmlformats.org/drawingml/2006/main" noGrp="1"/>
          </p:cNvSpPr>
          <p:nvPr/>
        </p:nvSpPr>
        <p:spPr>
          <a:xfrm xmlns:a="http://schemas.openxmlformats.org/drawingml/2006/main">
            <a:off x="1219200" y="32385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63426"/>
                </a:solidFill>
              </a:defRPr>
            </a:defPPr>
          </a:lstStyle>
          <a:p xmlns:a="http://schemas.openxmlformats.org/drawingml/2006/main">
            <a:pPr>
              <a:lnSpc>
                <a:spcPct val="115000"/>
              </a:lnSpc>
              <a:buNone/>
              <a:defRPr sz="975" b="0">
                <a:solidFill>
                  <a:srgbClr val="D63426"/>
                </a:solidFill>
              </a:defRPr>
            </a:pPr>
            <a:r>
              <a:rPr sz="975" b="0">
                <a:solidFill>
                  <a:srgbClr val="D63426"/>
                </a:solidFill>
              </a:rPr>
              <a:t>descontar_stock()</a:t>
            </a:r>
          </a:p>
        </p:txBody>
      </p:sp>
      <p:sp>
        <p:nvSpPr>
          <p:cNvPr id="15" name="">
            <a:extLst xmlns:a="http://schemas.openxmlformats.org/drawingml/2006/main">
              <a:ext uri="{FF2B5EF4-FFF2-40B4-BE49-F238E27FC236}">
                <a16:creationId xmlns:a16="http://schemas.microsoft.com/office/drawing/2014/main" id="{D566CA13-374D-4106-B3AC-13EF60F501E0}"/>
              </a:ext>
            </a:extLst>
          </p:cNvPr>
          <p:cNvSpPr>
            <a:spLocks xmlns:a="http://schemas.openxmlformats.org/drawingml/2006/main" noGrp="1"/>
          </p:cNvSpPr>
          <p:nvPr/>
        </p:nvSpPr>
        <p:spPr>
          <a:xfrm xmlns:a="http://schemas.openxmlformats.org/drawingml/2006/main">
            <a:off x="4991100" y="3086100"/>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13" b="0">
                <a:solidFill>
                  <a:srgbClr val="1F2933"/>
                </a:solidFill>
              </a:defRPr>
            </a:defPPr>
          </a:lstStyle>
          <a:p xmlns:a="http://schemas.openxmlformats.org/drawingml/2006/main">
            <a:pPr>
              <a:lnSpc>
                <a:spcPct val="115000"/>
              </a:lnSpc>
              <a:buNone/>
              <a:defRPr sz="1013" b="0">
                <a:solidFill>
                  <a:srgbClr val="1F2933"/>
                </a:solidFill>
              </a:defRPr>
            </a:pPr>
            <a:r>
              <a:rPr sz="1013" b="0">
                <a:solidFill>
                  <a:srgbClr val="1F2933"/>
                </a:solidFill>
              </a:rPr>
              <a:t>Cada producto valida y rebaja su propio stock.</a:t>
            </a:r>
          </a:p>
        </p:txBody>
      </p:sp>
      <p:sp>
        <p:nvSpPr>
          <p:cNvPr id="16" name="">
            <a:extLst xmlns:a="http://schemas.openxmlformats.org/drawingml/2006/main">
              <a:ext uri="{FF2B5EF4-FFF2-40B4-BE49-F238E27FC236}">
                <a16:creationId xmlns:a16="http://schemas.microsoft.com/office/drawing/2014/main" id="{ABE4F4C5-6825-42D5-B55E-732D96146F2D}"/>
              </a:ext>
            </a:extLst>
          </p:cNvPr>
          <p:cNvSpPr>
            <a:spLocks xmlns:a="http://schemas.openxmlformats.org/drawingml/2006/main" noGrp="1"/>
          </p:cNvSpPr>
          <p:nvPr/>
        </p:nvSpPr>
        <p:spPr>
          <a:xfrm xmlns:a="http://schemas.openxmlformats.org/drawingml/2006/main">
            <a:off x="609600" y="3752850"/>
            <a:ext cx="419100" cy="419100"/>
          </a:xfrm>
          <a:prstGeom xmlns:a="http://schemas.openxmlformats.org/drawingml/2006/main" prst="roundRect">
            <a:avLst>
              <a:gd name="adj" fmla="val 18182"/>
            </a:avLst>
          </a:prstGeom>
          <a:solidFill xmlns:a="http://schemas.openxmlformats.org/drawingml/2006/main">
            <a:srgbClr val="0D23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4</a:t>
            </a:r>
          </a:p>
        </p:txBody>
      </p:sp>
      <p:sp>
        <p:nvSpPr>
          <p:cNvPr id="17" name="">
            <a:extLst xmlns:a="http://schemas.openxmlformats.org/drawingml/2006/main">
              <a:ext uri="{FF2B5EF4-FFF2-40B4-BE49-F238E27FC236}">
                <a16:creationId xmlns:a16="http://schemas.microsoft.com/office/drawing/2014/main" id="{2CC61E1C-D5F6-4CF2-8D99-BC6DE4448B77}"/>
              </a:ext>
            </a:extLst>
          </p:cNvPr>
          <p:cNvSpPr>
            <a:spLocks xmlns:a="http://schemas.openxmlformats.org/drawingml/2006/main" noGrp="1"/>
          </p:cNvSpPr>
          <p:nvPr/>
        </p:nvSpPr>
        <p:spPr>
          <a:xfrm xmlns:a="http://schemas.openxmlformats.org/drawingml/2006/main">
            <a:off x="1219200" y="37719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D233A"/>
                </a:solidFill>
              </a:defRPr>
            </a:defPPr>
          </a:lstStyle>
          <a:p xmlns:a="http://schemas.openxmlformats.org/drawingml/2006/main">
            <a:pPr>
              <a:lnSpc>
                <a:spcPct val="115000"/>
              </a:lnSpc>
              <a:buNone/>
              <a:defRPr sz="1125" b="1">
                <a:solidFill>
                  <a:srgbClr val="0D233A"/>
                </a:solidFill>
              </a:defRPr>
            </a:pPr>
            <a:r>
              <a:rPr sz="1125" b="1">
                <a:solidFill>
                  <a:srgbClr val="0D233A"/>
                </a:solidFill>
              </a:rPr>
              <a:t>dao/pedido_dao.py</a:t>
            </a:r>
          </a:p>
        </p:txBody>
      </p:sp>
      <p:sp>
        <p:nvSpPr>
          <p:cNvPr id="18" name="">
            <a:extLst xmlns:a="http://schemas.openxmlformats.org/drawingml/2006/main">
              <a:ext uri="{FF2B5EF4-FFF2-40B4-BE49-F238E27FC236}">
                <a16:creationId xmlns:a16="http://schemas.microsoft.com/office/drawing/2014/main" id="{22E5C39F-4433-41DB-9D7E-A09E1E1BCEA0}"/>
              </a:ext>
            </a:extLst>
          </p:cNvPr>
          <p:cNvSpPr>
            <a:spLocks xmlns:a="http://schemas.openxmlformats.org/drawingml/2006/main" noGrp="1"/>
          </p:cNvSpPr>
          <p:nvPr/>
        </p:nvSpPr>
        <p:spPr>
          <a:xfrm xmlns:a="http://schemas.openxmlformats.org/drawingml/2006/main">
            <a:off x="1219200" y="398145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63426"/>
                </a:solidFill>
              </a:defRPr>
            </a:defPPr>
          </a:lstStyle>
          <a:p xmlns:a="http://schemas.openxmlformats.org/drawingml/2006/main">
            <a:pPr>
              <a:lnSpc>
                <a:spcPct val="115000"/>
              </a:lnSpc>
              <a:buNone/>
              <a:defRPr sz="975" b="0">
                <a:solidFill>
                  <a:srgbClr val="D63426"/>
                </a:solidFill>
              </a:defRPr>
            </a:pPr>
            <a:r>
              <a:rPr sz="975" b="0">
                <a:solidFill>
                  <a:srgbClr val="D63426"/>
                </a:solidFill>
              </a:rPr>
              <a:t>actualizar_estado()</a:t>
            </a:r>
          </a:p>
        </p:txBody>
      </p:sp>
      <p:sp>
        <p:nvSpPr>
          <p:cNvPr id="19" name="">
            <a:extLst xmlns:a="http://schemas.openxmlformats.org/drawingml/2006/main">
              <a:ext uri="{FF2B5EF4-FFF2-40B4-BE49-F238E27FC236}">
                <a16:creationId xmlns:a16="http://schemas.microsoft.com/office/drawing/2014/main" id="{0FE43389-31E9-46E1-B66B-C2E831AB94F6}"/>
              </a:ext>
            </a:extLst>
          </p:cNvPr>
          <p:cNvSpPr>
            <a:spLocks xmlns:a="http://schemas.openxmlformats.org/drawingml/2006/main" noGrp="1"/>
          </p:cNvSpPr>
          <p:nvPr/>
        </p:nvSpPr>
        <p:spPr>
          <a:xfrm xmlns:a="http://schemas.openxmlformats.org/drawingml/2006/main">
            <a:off x="4991100" y="3829050"/>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13" b="0">
                <a:solidFill>
                  <a:srgbClr val="1F2933"/>
                </a:solidFill>
              </a:defRPr>
            </a:defPPr>
          </a:lstStyle>
          <a:p xmlns:a="http://schemas.openxmlformats.org/drawingml/2006/main">
            <a:pPr>
              <a:lnSpc>
                <a:spcPct val="115000"/>
              </a:lnSpc>
              <a:buNone/>
              <a:defRPr sz="1013" b="0">
                <a:solidFill>
                  <a:srgbClr val="1F2933"/>
                </a:solidFill>
              </a:defRPr>
            </a:pPr>
            <a:r>
              <a:rPr sz="1013" b="0">
                <a:solidFill>
                  <a:srgbClr val="1F2933"/>
                </a:solidFill>
              </a:rPr>
              <a:t>Guarda el nuevo estado del pedido.</a:t>
            </a:r>
          </a:p>
        </p:txBody>
      </p:sp>
      <p:sp>
        <p:nvSpPr>
          <p:cNvPr id="20" name="">
            <a:extLst xmlns:a="http://schemas.openxmlformats.org/drawingml/2006/main">
              <a:ext uri="{FF2B5EF4-FFF2-40B4-BE49-F238E27FC236}">
                <a16:creationId xmlns:a16="http://schemas.microsoft.com/office/drawing/2014/main" id="{536F6375-E8FC-488F-8BF9-2C8A7E3D6616}"/>
              </a:ext>
            </a:extLst>
          </p:cNvPr>
          <p:cNvSpPr>
            <a:spLocks xmlns:a="http://schemas.openxmlformats.org/drawingml/2006/main" noGrp="1"/>
          </p:cNvSpPr>
          <p:nvPr/>
        </p:nvSpPr>
        <p:spPr>
          <a:xfrm xmlns:a="http://schemas.openxmlformats.org/drawingml/2006/main">
            <a:off x="609600" y="4495800"/>
            <a:ext cx="419100" cy="419100"/>
          </a:xfrm>
          <a:prstGeom xmlns:a="http://schemas.openxmlformats.org/drawingml/2006/main" prst="roundRect">
            <a:avLst>
              <a:gd name="adj" fmla="val 18182"/>
            </a:avLst>
          </a:prstGeom>
          <a:solidFill xmlns:a="http://schemas.openxmlformats.org/drawingml/2006/main">
            <a:srgbClr val="0D233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5</a:t>
            </a:r>
          </a:p>
        </p:txBody>
      </p:sp>
      <p:sp>
        <p:nvSpPr>
          <p:cNvPr id="21" name="">
            <a:extLst xmlns:a="http://schemas.openxmlformats.org/drawingml/2006/main">
              <a:ext uri="{FF2B5EF4-FFF2-40B4-BE49-F238E27FC236}">
                <a16:creationId xmlns:a16="http://schemas.microsoft.com/office/drawing/2014/main" id="{3B1D4E9E-0348-4DDD-837C-EFEC45EBD789}"/>
              </a:ext>
            </a:extLst>
          </p:cNvPr>
          <p:cNvSpPr>
            <a:spLocks xmlns:a="http://schemas.openxmlformats.org/drawingml/2006/main" noGrp="1"/>
          </p:cNvSpPr>
          <p:nvPr/>
        </p:nvSpPr>
        <p:spPr>
          <a:xfrm xmlns:a="http://schemas.openxmlformats.org/drawingml/2006/main">
            <a:off x="1219200" y="45148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D233A"/>
                </a:solidFill>
              </a:defRPr>
            </a:defPPr>
          </a:lstStyle>
          <a:p xmlns:a="http://schemas.openxmlformats.org/drawingml/2006/main">
            <a:pPr>
              <a:lnSpc>
                <a:spcPct val="115000"/>
              </a:lnSpc>
              <a:buNone/>
              <a:defRPr sz="1125" b="1">
                <a:solidFill>
                  <a:srgbClr val="0D233A"/>
                </a:solidFill>
              </a:defRPr>
            </a:pPr>
            <a:r>
              <a:rPr sz="1125" b="1">
                <a:solidFill>
                  <a:srgbClr val="0D233A"/>
                </a:solidFill>
              </a:rPr>
              <a:t>dao/producto_dao.py</a:t>
            </a:r>
          </a:p>
        </p:txBody>
      </p:sp>
      <p:sp>
        <p:nvSpPr>
          <p:cNvPr id="22" name="">
            <a:extLst xmlns:a="http://schemas.openxmlformats.org/drawingml/2006/main">
              <a:ext uri="{FF2B5EF4-FFF2-40B4-BE49-F238E27FC236}">
                <a16:creationId xmlns:a16="http://schemas.microsoft.com/office/drawing/2014/main" id="{4B186AB0-7169-4DA0-96CC-EEDF508AA0E0}"/>
              </a:ext>
            </a:extLst>
          </p:cNvPr>
          <p:cNvSpPr>
            <a:spLocks xmlns:a="http://schemas.openxmlformats.org/drawingml/2006/main" noGrp="1"/>
          </p:cNvSpPr>
          <p:nvPr/>
        </p:nvSpPr>
        <p:spPr>
          <a:xfrm xmlns:a="http://schemas.openxmlformats.org/drawingml/2006/main">
            <a:off x="1219200" y="47244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63426"/>
                </a:solidFill>
              </a:defRPr>
            </a:defPPr>
          </a:lstStyle>
          <a:p xmlns:a="http://schemas.openxmlformats.org/drawingml/2006/main">
            <a:pPr>
              <a:lnSpc>
                <a:spcPct val="115000"/>
              </a:lnSpc>
              <a:buNone/>
              <a:defRPr sz="975" b="0">
                <a:solidFill>
                  <a:srgbClr val="D63426"/>
                </a:solidFill>
              </a:defRPr>
            </a:pPr>
            <a:r>
              <a:rPr sz="975" b="0">
                <a:solidFill>
                  <a:srgbClr val="D63426"/>
                </a:solidFill>
              </a:rPr>
              <a:t>actualizar_stock()</a:t>
            </a:r>
          </a:p>
        </p:txBody>
      </p:sp>
      <p:sp>
        <p:nvSpPr>
          <p:cNvPr id="23" name="">
            <a:extLst xmlns:a="http://schemas.openxmlformats.org/drawingml/2006/main">
              <a:ext uri="{FF2B5EF4-FFF2-40B4-BE49-F238E27FC236}">
                <a16:creationId xmlns:a16="http://schemas.microsoft.com/office/drawing/2014/main" id="{6FD75CF3-5D78-4C1D-A2B8-732857DFA677}"/>
              </a:ext>
            </a:extLst>
          </p:cNvPr>
          <p:cNvSpPr>
            <a:spLocks xmlns:a="http://schemas.openxmlformats.org/drawingml/2006/main" noGrp="1"/>
          </p:cNvSpPr>
          <p:nvPr/>
        </p:nvSpPr>
        <p:spPr>
          <a:xfrm xmlns:a="http://schemas.openxmlformats.org/drawingml/2006/main">
            <a:off x="4991100" y="4572000"/>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13" b="0">
                <a:solidFill>
                  <a:srgbClr val="1F2933"/>
                </a:solidFill>
              </a:defRPr>
            </a:defPPr>
          </a:lstStyle>
          <a:p xmlns:a="http://schemas.openxmlformats.org/drawingml/2006/main">
            <a:pPr>
              <a:lnSpc>
                <a:spcPct val="115000"/>
              </a:lnSpc>
              <a:buNone/>
              <a:defRPr sz="1013" b="0">
                <a:solidFill>
                  <a:srgbClr val="1F2933"/>
                </a:solidFill>
              </a:defRPr>
            </a:pPr>
            <a:r>
              <a:rPr sz="1013" b="0">
                <a:solidFill>
                  <a:srgbClr val="1F2933"/>
                </a:solidFill>
              </a:rPr>
              <a:t>Guarda el stock por producto.</a:t>
            </a:r>
          </a:p>
        </p:txBody>
      </p:sp>
      <p:sp>
        <p:nvSpPr>
          <p:cNvPr id="24" name="">
            <a:extLst xmlns:a="http://schemas.openxmlformats.org/drawingml/2006/main">
              <a:ext uri="{FF2B5EF4-FFF2-40B4-BE49-F238E27FC236}">
                <a16:creationId xmlns:a16="http://schemas.microsoft.com/office/drawing/2014/main" id="{76D19CF2-C82B-406E-A857-A8B355EAEBBF}"/>
              </a:ext>
            </a:extLst>
          </p:cNvPr>
          <p:cNvSpPr>
            <a:spLocks xmlns:a="http://schemas.openxmlformats.org/drawingml/2006/main" noGrp="1"/>
          </p:cNvSpPr>
          <p:nvPr/>
        </p:nvSpPr>
        <p:spPr>
          <a:xfrm xmlns:a="http://schemas.openxmlformats.org/drawingml/2006/main">
            <a:off x="609600" y="5238750"/>
            <a:ext cx="419100" cy="419100"/>
          </a:xfrm>
          <a:prstGeom xmlns:a="http://schemas.openxmlformats.org/drawingml/2006/main" prst="roundRect">
            <a:avLst>
              <a:gd name="adj" fmla="val 18182"/>
            </a:avLst>
          </a:prstGeom>
          <a:solidFill xmlns:a="http://schemas.openxmlformats.org/drawingml/2006/main">
            <a:srgbClr val="1A7F4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6</a:t>
            </a:r>
          </a:p>
        </p:txBody>
      </p:sp>
      <p:sp>
        <p:nvSpPr>
          <p:cNvPr id="25" name="">
            <a:extLst xmlns:a="http://schemas.openxmlformats.org/drawingml/2006/main">
              <a:ext uri="{FF2B5EF4-FFF2-40B4-BE49-F238E27FC236}">
                <a16:creationId xmlns:a16="http://schemas.microsoft.com/office/drawing/2014/main" id="{2294D96E-5302-4E65-81BF-E630D839B4F5}"/>
              </a:ext>
            </a:extLst>
          </p:cNvPr>
          <p:cNvSpPr>
            <a:spLocks xmlns:a="http://schemas.openxmlformats.org/drawingml/2006/main" noGrp="1"/>
          </p:cNvSpPr>
          <p:nvPr/>
        </p:nvSpPr>
        <p:spPr>
          <a:xfrm xmlns:a="http://schemas.openxmlformats.org/drawingml/2006/main">
            <a:off x="1219200" y="52578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D233A"/>
                </a:solidFill>
              </a:defRPr>
            </a:defPPr>
          </a:lstStyle>
          <a:p xmlns:a="http://schemas.openxmlformats.org/drawingml/2006/main">
            <a:pPr>
              <a:lnSpc>
                <a:spcPct val="115000"/>
              </a:lnSpc>
              <a:buNone/>
              <a:defRPr sz="1125" b="1">
                <a:solidFill>
                  <a:srgbClr val="0D233A"/>
                </a:solidFill>
              </a:defRPr>
            </a:pPr>
            <a:r>
              <a:rPr sz="1125" b="1">
                <a:solidFill>
                  <a:srgbClr val="0D233A"/>
                </a:solidFill>
              </a:rPr>
              <a:t>SQLite</a:t>
            </a:r>
          </a:p>
        </p:txBody>
      </p:sp>
      <p:sp>
        <p:nvSpPr>
          <p:cNvPr id="26" name="">
            <a:extLst xmlns:a="http://schemas.openxmlformats.org/drawingml/2006/main">
              <a:ext uri="{FF2B5EF4-FFF2-40B4-BE49-F238E27FC236}">
                <a16:creationId xmlns:a16="http://schemas.microsoft.com/office/drawing/2014/main" id="{B8267C7D-D6CE-4A8D-9A43-7EC813B2954F}"/>
              </a:ext>
            </a:extLst>
          </p:cNvPr>
          <p:cNvSpPr>
            <a:spLocks xmlns:a="http://schemas.openxmlformats.org/drawingml/2006/main" noGrp="1"/>
          </p:cNvSpPr>
          <p:nvPr/>
        </p:nvSpPr>
        <p:spPr>
          <a:xfrm xmlns:a="http://schemas.openxmlformats.org/drawingml/2006/main">
            <a:off x="1219200" y="546735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63426"/>
                </a:solidFill>
              </a:defRPr>
            </a:defPPr>
          </a:lstStyle>
          <a:p xmlns:a="http://schemas.openxmlformats.org/drawingml/2006/main">
            <a:pPr>
              <a:lnSpc>
                <a:spcPct val="115000"/>
              </a:lnSpc>
              <a:buNone/>
              <a:defRPr sz="975" b="0">
                <a:solidFill>
                  <a:srgbClr val="D63426"/>
                </a:solidFill>
              </a:defRPr>
            </a:pPr>
            <a:r>
              <a:rPr sz="975" b="0">
                <a:solidFill>
                  <a:srgbClr val="D63426"/>
                </a:solidFill>
              </a:rPr>
              <a:t>UPDATE ... WHERE</a:t>
            </a:r>
          </a:p>
        </p:txBody>
      </p:sp>
      <p:sp>
        <p:nvSpPr>
          <p:cNvPr id="27" name="">
            <a:extLst xmlns:a="http://schemas.openxmlformats.org/drawingml/2006/main">
              <a:ext uri="{FF2B5EF4-FFF2-40B4-BE49-F238E27FC236}">
                <a16:creationId xmlns:a16="http://schemas.microsoft.com/office/drawing/2014/main" id="{9FDA6585-E8B4-48B3-A4AE-EA8C2EA5B10A}"/>
              </a:ext>
            </a:extLst>
          </p:cNvPr>
          <p:cNvSpPr>
            <a:spLocks xmlns:a="http://schemas.openxmlformats.org/drawingml/2006/main" noGrp="1"/>
          </p:cNvSpPr>
          <p:nvPr/>
        </p:nvSpPr>
        <p:spPr>
          <a:xfrm xmlns:a="http://schemas.openxmlformats.org/drawingml/2006/main">
            <a:off x="4991100" y="5314950"/>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13" b="0">
                <a:solidFill>
                  <a:srgbClr val="1F2933"/>
                </a:solidFill>
              </a:defRPr>
            </a:defPPr>
          </a:lstStyle>
          <a:p xmlns:a="http://schemas.openxmlformats.org/drawingml/2006/main">
            <a:pPr>
              <a:lnSpc>
                <a:spcPct val="115000"/>
              </a:lnSpc>
              <a:buNone/>
              <a:defRPr sz="1013" b="0">
                <a:solidFill>
                  <a:srgbClr val="1F2933"/>
                </a:solidFill>
              </a:defRPr>
            </a:pPr>
            <a:r>
              <a:rPr sz="1013" b="0">
                <a:solidFill>
                  <a:srgbClr val="1F2933"/>
                </a:solidFill>
              </a:rPr>
              <a:t>Consulta parametrizada: UPDATE productos SET stock = :stock WHERE id_producto = :id</a:t>
            </a:r>
          </a:p>
        </p:txBody>
      </p:sp>
    </p:spTree>
    <p:extLst>
      <p:ext uri="{BB962C8B-B14F-4D97-AF65-F5344CB8AC3E}">
        <p14:creationId xmlns:p14="http://schemas.microsoft.com/office/powerpoint/2010/main" val="193942164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A6B145B-E986-4B3B-ADA7-90493902EA25}"/>
              </a:ext>
            </a:extLst>
          </p:cNvPr>
          <p:cNvSpPr>
            <a:spLocks xmlns:a="http://schemas.openxmlformats.org/drawingml/2006/main" noGrp="1"/>
          </p:cNvSpPr>
          <p:nvPr/>
        </p:nvSpPr>
        <p:spPr>
          <a:xfrm xmlns:a="http://schemas.openxmlformats.org/drawingml/2006/main">
            <a:off x="609600" y="38100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POLIMORFISMO</a:t>
            </a:r>
          </a:p>
        </p:txBody>
      </p:sp>
      <p:sp>
        <p:nvSpPr>
          <p:cNvPr id="2" name="">
            <a:extLst xmlns:a="http://schemas.openxmlformats.org/drawingml/2006/main">
              <a:ext uri="{FF2B5EF4-FFF2-40B4-BE49-F238E27FC236}">
                <a16:creationId xmlns:a16="http://schemas.microsoft.com/office/drawing/2014/main" id="{12F07220-8433-4D2D-A0F6-636BA6E8B238}"/>
              </a:ext>
            </a:extLst>
          </p:cNvPr>
          <p:cNvSpPr>
            <a:spLocks xmlns:a="http://schemas.openxmlformats.org/drawingml/2006/main" noGrp="1"/>
          </p:cNvSpPr>
          <p:nvPr/>
        </p:nvSpPr>
        <p:spPr>
          <a:xfrm xmlns:a="http://schemas.openxmlformats.org/drawingml/2006/main">
            <a:off x="609600" y="6096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D233A"/>
                </a:solidFill>
              </a:defRPr>
            </a:defPPr>
          </a:lstStyle>
          <a:p xmlns:a="http://schemas.openxmlformats.org/drawingml/2006/main">
            <a:pPr>
              <a:lnSpc>
                <a:spcPct val="115000"/>
              </a:lnSpc>
              <a:buNone/>
              <a:defRPr sz="2400" b="1">
                <a:solidFill>
                  <a:srgbClr val="0D233A"/>
                </a:solidFill>
              </a:defRPr>
            </a:pPr>
            <a:r>
              <a:rPr sz="2400" b="1">
                <a:solidFill>
                  <a:srgbClr val="0D233A"/>
                </a:solidFill>
              </a:rPr>
              <a:t>Un mismo metodo, cuatro comportamientos distintos</a:t>
            </a:r>
          </a:p>
        </p:txBody>
      </p:sp>
      <p:sp>
        <p:nvSpPr>
          <p:cNvPr id="3" name="">
            <a:extLst xmlns:a="http://schemas.openxmlformats.org/drawingml/2006/main">
              <a:ext uri="{FF2B5EF4-FFF2-40B4-BE49-F238E27FC236}">
                <a16:creationId xmlns:a16="http://schemas.microsoft.com/office/drawing/2014/main" id="{11E8B92D-F435-431E-816C-17DC6A6D8C8C}"/>
              </a:ext>
            </a:extLst>
          </p:cNvPr>
          <p:cNvSpPr>
            <a:spLocks xmlns:a="http://schemas.openxmlformats.org/drawingml/2006/main" noGrp="1"/>
          </p:cNvSpPr>
          <p:nvPr/>
        </p:nvSpPr>
        <p:spPr>
          <a:xfrm xmlns:a="http://schemas.openxmlformats.org/drawingml/2006/main">
            <a:off x="609600" y="10477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Pedido.procesar_despacho_entregas() recorre las lineas sin preguntar el tipo de producto</a:t>
            </a:r>
          </a:p>
        </p:txBody>
      </p:sp>
      <p:sp>
        <p:nvSpPr>
          <p:cNvPr id="4" name="">
            <a:extLst xmlns:a="http://schemas.openxmlformats.org/drawingml/2006/main">
              <a:ext uri="{FF2B5EF4-FFF2-40B4-BE49-F238E27FC236}">
                <a16:creationId xmlns:a16="http://schemas.microsoft.com/office/drawing/2014/main" id="{34E5BD4D-9E12-452D-8033-64D531F84DDF}"/>
              </a:ext>
            </a:extLst>
          </p:cNvPr>
          <p:cNvSpPr>
            <a:spLocks xmlns:a="http://schemas.openxmlformats.org/drawingml/2006/main" noGrp="1"/>
          </p:cNvSpPr>
          <p:nvPr/>
        </p:nvSpPr>
        <p:spPr>
          <a:xfrm xmlns:a="http://schemas.openxmlformats.org/drawingml/2006/main">
            <a:off x="609600" y="1638300"/>
            <a:ext cx="53530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19050">
            <a:solidFill>
              <a:srgbClr val="3F88C5"/>
            </a:solidFill>
            <a:prstDash val="solid"/>
          </a:ln>
        </p:spPr>
      </p:sp>
      <p:sp>
        <p:nvSpPr>
          <p:cNvPr id="5" name="">
            <a:extLst xmlns:a="http://schemas.openxmlformats.org/drawingml/2006/main">
              <a:ext uri="{FF2B5EF4-FFF2-40B4-BE49-F238E27FC236}">
                <a16:creationId xmlns:a16="http://schemas.microsoft.com/office/drawing/2014/main" id="{CBC8A5E0-B97F-44DB-9A66-7C493A10E874}"/>
              </a:ext>
            </a:extLst>
          </p:cNvPr>
          <p:cNvSpPr>
            <a:spLocks xmlns:a="http://schemas.openxmlformats.org/drawingml/2006/main" noGrp="1"/>
          </p:cNvSpPr>
          <p:nvPr/>
        </p:nvSpPr>
        <p:spPr>
          <a:xfrm xmlns:a="http://schemas.openxmlformats.org/drawingml/2006/main">
            <a:off x="838200" y="18097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D233A"/>
                </a:solidFill>
              </a:defRPr>
            </a:defPPr>
          </a:lstStyle>
          <a:p xmlns:a="http://schemas.openxmlformats.org/drawingml/2006/main">
            <a:pPr>
              <a:lnSpc>
                <a:spcPct val="115000"/>
              </a:lnSpc>
              <a:buNone/>
              <a:defRPr sz="1350" b="1">
                <a:solidFill>
                  <a:srgbClr val="0D233A"/>
                </a:solidFill>
              </a:defRPr>
            </a:pPr>
            <a:r>
              <a:rPr sz="1350" b="1">
                <a:solidFill>
                  <a:srgbClr val="0D233A"/>
                </a:solidFill>
              </a:rPr>
              <a:t>ProductoFisico</a:t>
            </a:r>
          </a:p>
        </p:txBody>
      </p:sp>
      <p:sp>
        <p:nvSpPr>
          <p:cNvPr id="6" name="">
            <a:extLst xmlns:a="http://schemas.openxmlformats.org/drawingml/2006/main">
              <a:ext uri="{FF2B5EF4-FFF2-40B4-BE49-F238E27FC236}">
                <a16:creationId xmlns:a16="http://schemas.microsoft.com/office/drawing/2014/main" id="{47FA1C0A-DEDC-4DF6-A112-55221EF7E382}"/>
              </a:ext>
            </a:extLst>
          </p:cNvPr>
          <p:cNvSpPr>
            <a:spLocks xmlns:a="http://schemas.openxmlformats.org/drawingml/2006/main" noGrp="1"/>
          </p:cNvSpPr>
          <p:nvPr/>
        </p:nvSpPr>
        <p:spPr>
          <a:xfrm xmlns:a="http://schemas.openxmlformats.org/drawingml/2006/main">
            <a:off x="838200" y="21145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3F88C5"/>
                </a:solidFill>
              </a:defRPr>
            </a:defPPr>
          </a:lstStyle>
          <a:p xmlns:a="http://schemas.openxmlformats.org/drawingml/2006/main">
            <a:pPr>
              <a:lnSpc>
                <a:spcPct val="115000"/>
              </a:lnSpc>
              <a:buNone/>
              <a:defRPr sz="1050" b="1">
                <a:solidFill>
                  <a:srgbClr val="3F88C5"/>
                </a:solidFill>
              </a:defRPr>
            </a:pPr>
            <a:r>
              <a:rPr sz="1050" b="1">
                <a:solidFill>
                  <a:srgbClr val="3F88C5"/>
                </a:solidFill>
              </a:rPr>
              <a:t>Despacho por transporte</a:t>
            </a:r>
          </a:p>
        </p:txBody>
      </p:sp>
      <p:sp>
        <p:nvSpPr>
          <p:cNvPr id="7" name="">
            <a:extLst xmlns:a="http://schemas.openxmlformats.org/drawingml/2006/main">
              <a:ext uri="{FF2B5EF4-FFF2-40B4-BE49-F238E27FC236}">
                <a16:creationId xmlns:a16="http://schemas.microsoft.com/office/drawing/2014/main" id="{4F60D3B6-BA95-45E3-9A9B-7B6484F94375}"/>
              </a:ext>
            </a:extLst>
          </p:cNvPr>
          <p:cNvSpPr>
            <a:spLocks xmlns:a="http://schemas.openxmlformats.org/drawingml/2006/main" noGrp="1"/>
          </p:cNvSpPr>
          <p:nvPr/>
        </p:nvSpPr>
        <p:spPr>
          <a:xfrm xmlns:a="http://schemas.openxmlformats.org/drawingml/2006/main">
            <a:off x="838200" y="2381250"/>
            <a:ext cx="485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1F2933"/>
                </a:solidFill>
              </a:defRPr>
            </a:defPPr>
          </a:lstStyle>
          <a:p xmlns:a="http://schemas.openxmlformats.org/drawingml/2006/main">
            <a:pPr>
              <a:lnSpc>
                <a:spcPct val="115000"/>
              </a:lnSpc>
              <a:buNone/>
              <a:defRPr sz="1050" b="0">
                <a:solidFill>
                  <a:srgbClr val="1F2933"/>
                </a:solidFill>
              </a:defRPr>
            </a:pPr>
            <a:r>
              <a:rPr sz="1050" b="0">
                <a:solidFill>
                  <a:srgbClr val="1F2933"/>
                </a:solidFill>
              </a:rPr>
              <a:t>Calcula flete por peso, volumen y distancia.</a:t>
            </a:r>
          </a:p>
        </p:txBody>
      </p:sp>
      <p:sp>
        <p:nvSpPr>
          <p:cNvPr id="8" name="">
            <a:extLst xmlns:a="http://schemas.openxmlformats.org/drawingml/2006/main">
              <a:ext uri="{FF2B5EF4-FFF2-40B4-BE49-F238E27FC236}">
                <a16:creationId xmlns:a16="http://schemas.microsoft.com/office/drawing/2014/main" id="{71C51135-A3A3-438C-97D2-BE22C60705C7}"/>
              </a:ext>
            </a:extLst>
          </p:cNvPr>
          <p:cNvSpPr>
            <a:spLocks xmlns:a="http://schemas.openxmlformats.org/drawingml/2006/main" noGrp="1"/>
          </p:cNvSpPr>
          <p:nvPr/>
        </p:nvSpPr>
        <p:spPr>
          <a:xfrm xmlns:a="http://schemas.openxmlformats.org/drawingml/2006/main">
            <a:off x="6229350" y="1638300"/>
            <a:ext cx="53530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19050">
            <a:solidFill>
              <a:srgbClr val="59A5D8"/>
            </a:solidFill>
            <a:prstDash val="solid"/>
          </a:ln>
        </p:spPr>
      </p:sp>
      <p:sp>
        <p:nvSpPr>
          <p:cNvPr id="9" name="">
            <a:extLst xmlns:a="http://schemas.openxmlformats.org/drawingml/2006/main">
              <a:ext uri="{FF2B5EF4-FFF2-40B4-BE49-F238E27FC236}">
                <a16:creationId xmlns:a16="http://schemas.microsoft.com/office/drawing/2014/main" id="{658456B6-0D3F-4597-A0CF-8BC11B872857}"/>
              </a:ext>
            </a:extLst>
          </p:cNvPr>
          <p:cNvSpPr>
            <a:spLocks xmlns:a="http://schemas.openxmlformats.org/drawingml/2006/main" noGrp="1"/>
          </p:cNvSpPr>
          <p:nvPr/>
        </p:nvSpPr>
        <p:spPr>
          <a:xfrm xmlns:a="http://schemas.openxmlformats.org/drawingml/2006/main">
            <a:off x="6457950" y="18097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D233A"/>
                </a:solidFill>
              </a:defRPr>
            </a:defPPr>
          </a:lstStyle>
          <a:p xmlns:a="http://schemas.openxmlformats.org/drawingml/2006/main">
            <a:pPr>
              <a:lnSpc>
                <a:spcPct val="115000"/>
              </a:lnSpc>
              <a:buNone/>
              <a:defRPr sz="1350" b="1">
                <a:solidFill>
                  <a:srgbClr val="0D233A"/>
                </a:solidFill>
              </a:defRPr>
            </a:pPr>
            <a:r>
              <a:rPr sz="1350" b="1">
                <a:solidFill>
                  <a:srgbClr val="0D233A"/>
                </a:solidFill>
              </a:rPr>
              <a:t>ProductoDigital</a:t>
            </a:r>
          </a:p>
        </p:txBody>
      </p:sp>
      <p:sp>
        <p:nvSpPr>
          <p:cNvPr id="10" name="">
            <a:extLst xmlns:a="http://schemas.openxmlformats.org/drawingml/2006/main">
              <a:ext uri="{FF2B5EF4-FFF2-40B4-BE49-F238E27FC236}">
                <a16:creationId xmlns:a16="http://schemas.microsoft.com/office/drawing/2014/main" id="{D5E972EC-8E74-43D1-AB7C-C0049268870F}"/>
              </a:ext>
            </a:extLst>
          </p:cNvPr>
          <p:cNvSpPr>
            <a:spLocks xmlns:a="http://schemas.openxmlformats.org/drawingml/2006/main" noGrp="1"/>
          </p:cNvSpPr>
          <p:nvPr/>
        </p:nvSpPr>
        <p:spPr>
          <a:xfrm xmlns:a="http://schemas.openxmlformats.org/drawingml/2006/main">
            <a:off x="6457950" y="21145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9A5D8"/>
                </a:solidFill>
              </a:defRPr>
            </a:defPPr>
          </a:lstStyle>
          <a:p xmlns:a="http://schemas.openxmlformats.org/drawingml/2006/main">
            <a:pPr>
              <a:lnSpc>
                <a:spcPct val="115000"/>
              </a:lnSpc>
              <a:buNone/>
              <a:defRPr sz="1050" b="1">
                <a:solidFill>
                  <a:srgbClr val="59A5D8"/>
                </a:solidFill>
              </a:defRPr>
            </a:pPr>
            <a:r>
              <a:rPr sz="1050" b="1">
                <a:solidFill>
                  <a:srgbClr val="59A5D8"/>
                </a:solidFill>
              </a:rPr>
              <a:t>Entrega inmediata</a:t>
            </a:r>
          </a:p>
        </p:txBody>
      </p:sp>
      <p:sp>
        <p:nvSpPr>
          <p:cNvPr id="11" name="">
            <a:extLst xmlns:a="http://schemas.openxmlformats.org/drawingml/2006/main">
              <a:ext uri="{FF2B5EF4-FFF2-40B4-BE49-F238E27FC236}">
                <a16:creationId xmlns:a16="http://schemas.microsoft.com/office/drawing/2014/main" id="{6F1F58BC-3D78-4417-92F7-4F00FC5337EC}"/>
              </a:ext>
            </a:extLst>
          </p:cNvPr>
          <p:cNvSpPr>
            <a:spLocks xmlns:a="http://schemas.openxmlformats.org/drawingml/2006/main" noGrp="1"/>
          </p:cNvSpPr>
          <p:nvPr/>
        </p:nvSpPr>
        <p:spPr>
          <a:xfrm xmlns:a="http://schemas.openxmlformats.org/drawingml/2006/main">
            <a:off x="6457950" y="2381250"/>
            <a:ext cx="485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1F2933"/>
                </a:solidFill>
              </a:defRPr>
            </a:defPPr>
          </a:lstStyle>
          <a:p xmlns:a="http://schemas.openxmlformats.org/drawingml/2006/main">
            <a:pPr>
              <a:lnSpc>
                <a:spcPct val="115000"/>
              </a:lnSpc>
              <a:buNone/>
              <a:defRPr sz="1050" b="0">
                <a:solidFill>
                  <a:srgbClr val="1F2933"/>
                </a:solidFill>
              </a:defRPr>
            </a:pPr>
            <a:r>
              <a:rPr sz="1050" b="0">
                <a:solidFill>
                  <a:srgbClr val="1F2933"/>
                </a:solidFill>
              </a:rPr>
              <a:t>Entrega el enlace y la licencia, con flete cero.</a:t>
            </a:r>
          </a:p>
        </p:txBody>
      </p:sp>
      <p:sp>
        <p:nvSpPr>
          <p:cNvPr id="12" name="">
            <a:extLst xmlns:a="http://schemas.openxmlformats.org/drawingml/2006/main">
              <a:ext uri="{FF2B5EF4-FFF2-40B4-BE49-F238E27FC236}">
                <a16:creationId xmlns:a16="http://schemas.microsoft.com/office/drawing/2014/main" id="{AD595276-0BDE-4783-9D52-EA08A56041EE}"/>
              </a:ext>
            </a:extLst>
          </p:cNvPr>
          <p:cNvSpPr>
            <a:spLocks xmlns:a="http://schemas.openxmlformats.org/drawingml/2006/main" noGrp="1"/>
          </p:cNvSpPr>
          <p:nvPr/>
        </p:nvSpPr>
        <p:spPr>
          <a:xfrm xmlns:a="http://schemas.openxmlformats.org/drawingml/2006/main">
            <a:off x="609600" y="3314700"/>
            <a:ext cx="53530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19050">
            <a:solidFill>
              <a:srgbClr val="7FB8DD"/>
            </a:solidFill>
            <a:prstDash val="solid"/>
          </a:ln>
        </p:spPr>
      </p:sp>
      <p:sp>
        <p:nvSpPr>
          <p:cNvPr id="13" name="">
            <a:extLst xmlns:a="http://schemas.openxmlformats.org/drawingml/2006/main">
              <a:ext uri="{FF2B5EF4-FFF2-40B4-BE49-F238E27FC236}">
                <a16:creationId xmlns:a16="http://schemas.microsoft.com/office/drawing/2014/main" id="{34701040-880F-433F-BA46-CBA75014F2A4}"/>
              </a:ext>
            </a:extLst>
          </p:cNvPr>
          <p:cNvSpPr>
            <a:spLocks xmlns:a="http://schemas.openxmlformats.org/drawingml/2006/main" noGrp="1"/>
          </p:cNvSpPr>
          <p:nvPr/>
        </p:nvSpPr>
        <p:spPr>
          <a:xfrm xmlns:a="http://schemas.openxmlformats.org/drawingml/2006/main">
            <a:off x="838200" y="34861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D233A"/>
                </a:solidFill>
              </a:defRPr>
            </a:defPPr>
          </a:lstStyle>
          <a:p xmlns:a="http://schemas.openxmlformats.org/drawingml/2006/main">
            <a:pPr>
              <a:lnSpc>
                <a:spcPct val="115000"/>
              </a:lnSpc>
              <a:buNone/>
              <a:defRPr sz="1350" b="1">
                <a:solidFill>
                  <a:srgbClr val="0D233A"/>
                </a:solidFill>
              </a:defRPr>
            </a:pPr>
            <a:r>
              <a:rPr sz="1350" b="1">
                <a:solidFill>
                  <a:srgbClr val="0D233A"/>
                </a:solidFill>
              </a:rPr>
              <a:t>ProductoServicio</a:t>
            </a:r>
          </a:p>
        </p:txBody>
      </p:sp>
      <p:sp>
        <p:nvSpPr>
          <p:cNvPr id="14" name="">
            <a:extLst xmlns:a="http://schemas.openxmlformats.org/drawingml/2006/main">
              <a:ext uri="{FF2B5EF4-FFF2-40B4-BE49-F238E27FC236}">
                <a16:creationId xmlns:a16="http://schemas.microsoft.com/office/drawing/2014/main" id="{EDB8E6E0-80FE-4888-9565-99F1C4969720}"/>
              </a:ext>
            </a:extLst>
          </p:cNvPr>
          <p:cNvSpPr>
            <a:spLocks xmlns:a="http://schemas.openxmlformats.org/drawingml/2006/main" noGrp="1"/>
          </p:cNvSpPr>
          <p:nvPr/>
        </p:nvSpPr>
        <p:spPr>
          <a:xfrm xmlns:a="http://schemas.openxmlformats.org/drawingml/2006/main">
            <a:off x="838200" y="37909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7FB8DD"/>
                </a:solidFill>
              </a:defRPr>
            </a:defPPr>
          </a:lstStyle>
          <a:p xmlns:a="http://schemas.openxmlformats.org/drawingml/2006/main">
            <a:pPr>
              <a:lnSpc>
                <a:spcPct val="115000"/>
              </a:lnSpc>
              <a:buNone/>
              <a:defRPr sz="1050" b="1">
                <a:solidFill>
                  <a:srgbClr val="7FB8DD"/>
                </a:solidFill>
              </a:defRPr>
            </a:pPr>
            <a:r>
              <a:rPr sz="1050" b="1">
                <a:solidFill>
                  <a:srgbClr val="7FB8DD"/>
                </a:solidFill>
              </a:rPr>
              <a:t>Agenda tecnica</a:t>
            </a:r>
          </a:p>
        </p:txBody>
      </p:sp>
      <p:sp>
        <p:nvSpPr>
          <p:cNvPr id="15" name="">
            <a:extLst xmlns:a="http://schemas.openxmlformats.org/drawingml/2006/main">
              <a:ext uri="{FF2B5EF4-FFF2-40B4-BE49-F238E27FC236}">
                <a16:creationId xmlns:a16="http://schemas.microsoft.com/office/drawing/2014/main" id="{CCAC939D-FE5A-4215-BD07-1A980484F787}"/>
              </a:ext>
            </a:extLst>
          </p:cNvPr>
          <p:cNvSpPr>
            <a:spLocks xmlns:a="http://schemas.openxmlformats.org/drawingml/2006/main" noGrp="1"/>
          </p:cNvSpPr>
          <p:nvPr/>
        </p:nvSpPr>
        <p:spPr>
          <a:xfrm xmlns:a="http://schemas.openxmlformats.org/drawingml/2006/main">
            <a:off x="838200" y="4057650"/>
            <a:ext cx="485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1F2933"/>
                </a:solidFill>
              </a:defRPr>
            </a:defPPr>
          </a:lstStyle>
          <a:p xmlns:a="http://schemas.openxmlformats.org/drawingml/2006/main">
            <a:pPr>
              <a:lnSpc>
                <a:spcPct val="115000"/>
              </a:lnSpc>
              <a:buNone/>
              <a:defRPr sz="1050" b="0">
                <a:solidFill>
                  <a:srgbClr val="1F2933"/>
                </a:solidFill>
              </a:defRPr>
            </a:pPr>
            <a:r>
              <a:rPr sz="1050" b="0">
                <a:solidFill>
                  <a:srgbClr val="1F2933"/>
                </a:solidFill>
              </a:rPr>
              <a:t>Registra fecha futura, direccion y duracion.</a:t>
            </a:r>
          </a:p>
        </p:txBody>
      </p:sp>
      <p:sp>
        <p:nvSpPr>
          <p:cNvPr id="16" name="">
            <a:extLst xmlns:a="http://schemas.openxmlformats.org/drawingml/2006/main">
              <a:ext uri="{FF2B5EF4-FFF2-40B4-BE49-F238E27FC236}">
                <a16:creationId xmlns:a16="http://schemas.microsoft.com/office/drawing/2014/main" id="{4BCC19E0-64B2-416B-BFDC-633565D1635B}"/>
              </a:ext>
            </a:extLst>
          </p:cNvPr>
          <p:cNvSpPr>
            <a:spLocks xmlns:a="http://schemas.openxmlformats.org/drawingml/2006/main" noGrp="1"/>
          </p:cNvSpPr>
          <p:nvPr/>
        </p:nvSpPr>
        <p:spPr>
          <a:xfrm xmlns:a="http://schemas.openxmlformats.org/drawingml/2006/main">
            <a:off x="6229350" y="3314700"/>
            <a:ext cx="53530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19050">
            <a:solidFill>
              <a:srgbClr val="2E6DA4"/>
            </a:solidFill>
            <a:prstDash val="solid"/>
          </a:ln>
        </p:spPr>
      </p:sp>
      <p:sp>
        <p:nvSpPr>
          <p:cNvPr id="17" name="">
            <a:extLst xmlns:a="http://schemas.openxmlformats.org/drawingml/2006/main">
              <a:ext uri="{FF2B5EF4-FFF2-40B4-BE49-F238E27FC236}">
                <a16:creationId xmlns:a16="http://schemas.microsoft.com/office/drawing/2014/main" id="{67F8D8A3-9AED-4652-AD0D-5806A5D32B33}"/>
              </a:ext>
            </a:extLst>
          </p:cNvPr>
          <p:cNvSpPr>
            <a:spLocks xmlns:a="http://schemas.openxmlformats.org/drawingml/2006/main" noGrp="1"/>
          </p:cNvSpPr>
          <p:nvPr/>
        </p:nvSpPr>
        <p:spPr>
          <a:xfrm xmlns:a="http://schemas.openxmlformats.org/drawingml/2006/main">
            <a:off x="6457950" y="34861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D233A"/>
                </a:solidFill>
              </a:defRPr>
            </a:defPPr>
          </a:lstStyle>
          <a:p xmlns:a="http://schemas.openxmlformats.org/drawingml/2006/main">
            <a:pPr>
              <a:lnSpc>
                <a:spcPct val="115000"/>
              </a:lnSpc>
              <a:buNone/>
              <a:defRPr sz="1350" b="1">
                <a:solidFill>
                  <a:srgbClr val="0D233A"/>
                </a:solidFill>
              </a:defRPr>
            </a:pPr>
            <a:r>
              <a:rPr sz="1350" b="1">
                <a:solidFill>
                  <a:srgbClr val="0D233A"/>
                </a:solidFill>
              </a:rPr>
              <a:t>ProductoElectronica</a:t>
            </a:r>
          </a:p>
        </p:txBody>
      </p:sp>
      <p:sp>
        <p:nvSpPr>
          <p:cNvPr id="18" name="">
            <a:extLst xmlns:a="http://schemas.openxmlformats.org/drawingml/2006/main">
              <a:ext uri="{FF2B5EF4-FFF2-40B4-BE49-F238E27FC236}">
                <a16:creationId xmlns:a16="http://schemas.microsoft.com/office/drawing/2014/main" id="{563599D4-F58D-40F3-BD83-DC192DE1EE72}"/>
              </a:ext>
            </a:extLst>
          </p:cNvPr>
          <p:cNvSpPr>
            <a:spLocks xmlns:a="http://schemas.openxmlformats.org/drawingml/2006/main" noGrp="1"/>
          </p:cNvSpPr>
          <p:nvPr/>
        </p:nvSpPr>
        <p:spPr>
          <a:xfrm xmlns:a="http://schemas.openxmlformats.org/drawingml/2006/main">
            <a:off x="6457950" y="37909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2E6DA4"/>
                </a:solidFill>
              </a:defRPr>
            </a:defPPr>
          </a:lstStyle>
          <a:p xmlns:a="http://schemas.openxmlformats.org/drawingml/2006/main">
            <a:pPr>
              <a:lnSpc>
                <a:spcPct val="115000"/>
              </a:lnSpc>
              <a:buNone/>
              <a:defRPr sz="1050" b="1">
                <a:solidFill>
                  <a:srgbClr val="2E6DA4"/>
                </a:solidFill>
              </a:defRPr>
            </a:pPr>
            <a:r>
              <a:rPr sz="1050" b="1">
                <a:solidFill>
                  <a:srgbClr val="2E6DA4"/>
                </a:solidFill>
              </a:rPr>
              <a:t>Hereda de ProductoFisico</a:t>
            </a:r>
          </a:p>
        </p:txBody>
      </p:sp>
      <p:sp>
        <p:nvSpPr>
          <p:cNvPr id="19" name="">
            <a:extLst xmlns:a="http://schemas.openxmlformats.org/drawingml/2006/main">
              <a:ext uri="{FF2B5EF4-FFF2-40B4-BE49-F238E27FC236}">
                <a16:creationId xmlns:a16="http://schemas.microsoft.com/office/drawing/2014/main" id="{27027517-9339-4A05-9EBE-335F4A1F6293}"/>
              </a:ext>
            </a:extLst>
          </p:cNvPr>
          <p:cNvSpPr>
            <a:spLocks xmlns:a="http://schemas.openxmlformats.org/drawingml/2006/main" noGrp="1"/>
          </p:cNvSpPr>
          <p:nvPr/>
        </p:nvSpPr>
        <p:spPr>
          <a:xfrm xmlns:a="http://schemas.openxmlformats.org/drawingml/2006/main">
            <a:off x="6457950" y="4057650"/>
            <a:ext cx="485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1F2933"/>
                </a:solidFill>
              </a:defRPr>
            </a:defPPr>
          </a:lstStyle>
          <a:p xmlns:a="http://schemas.openxmlformats.org/drawingml/2006/main">
            <a:pPr>
              <a:lnSpc>
                <a:spcPct val="115000"/>
              </a:lnSpc>
              <a:buNone/>
              <a:defRPr sz="1050" b="0">
                <a:solidFill>
                  <a:srgbClr val="1F2933"/>
                </a:solidFill>
              </a:defRPr>
            </a:pPr>
            <a:r>
              <a:rPr sz="1050" b="0">
                <a:solidFill>
                  <a:srgbClr val="1F2933"/>
                </a:solidFill>
              </a:rPr>
              <a:t>Mismo despacho, pero cotiza en USD con el dolar del dia.</a:t>
            </a:r>
          </a:p>
        </p:txBody>
      </p:sp>
      <p:sp>
        <p:nvSpPr>
          <p:cNvPr id="20" name="">
            <a:extLst xmlns:a="http://schemas.openxmlformats.org/drawingml/2006/main">
              <a:ext uri="{FF2B5EF4-FFF2-40B4-BE49-F238E27FC236}">
                <a16:creationId xmlns:a16="http://schemas.microsoft.com/office/drawing/2014/main" id="{8F186A99-698B-4BC9-8E40-9E7AF404AF47}"/>
              </a:ext>
            </a:extLst>
          </p:cNvPr>
          <p:cNvSpPr>
            <a:spLocks xmlns:a="http://schemas.openxmlformats.org/drawingml/2006/main" noGrp="1"/>
          </p:cNvSpPr>
          <p:nvPr/>
        </p:nvSpPr>
        <p:spPr>
          <a:xfrm xmlns:a="http://schemas.openxmlformats.org/drawingml/2006/main">
            <a:off x="609600" y="5143500"/>
            <a:ext cx="10972800" cy="381000"/>
          </a:xfrm>
          <a:prstGeom xmlns:a="http://schemas.openxmlformats.org/drawingml/2006/main" prst="rect">
            <a:avLst/>
          </a:prstGeom>
          <a:solidFill xmlns:a="http://schemas.openxmlformats.org/drawingml/2006/main">
            <a:srgbClr val="F2F5F9"/>
          </a:solidFill>
          <a:ln xmlns:a="http://schemas.openxmlformats.org/drawingml/2006/main" w="0">
            <a:noFill/>
            <a:prstDash val="solid"/>
          </a:ln>
        </p:spPr>
        <p:txBody>
          <a:bodyPr xmlns:a="http://schemas.openxmlformats.org/drawingml/2006/main"/>
          <a:lstStyle xmlns:a="http://schemas.openxmlformats.org/drawingml/2006/main">
            <a:defPPr algn="ctr">
              <a:defRPr sz="1125" b="0">
                <a:solidFill>
                  <a:srgbClr val="0D233A"/>
                </a:solidFill>
              </a:defRPr>
            </a:defPPr>
          </a:lstStyle>
          <a:p xmlns:a="http://schemas.openxmlformats.org/drawingml/2006/main">
            <a:pPr algn="ctr">
              <a:lnSpc>
                <a:spcPct val="115000"/>
              </a:lnSpc>
              <a:buNone/>
              <a:defRPr sz="1125" b="0">
                <a:solidFill>
                  <a:srgbClr val="0D233A"/>
                </a:solidFill>
              </a:defRPr>
            </a:pPr>
            <a:r>
              <a:rPr sz="1125" b="0">
                <a:solidFill>
                  <a:srgbClr val="0D233A"/>
                </a:solidFill>
              </a:rPr>
              <a:t>for detalle in self._detalles:  resultados.append(detalle.producto.procesar_entrega(detalle))</a:t>
            </a:r>
          </a:p>
        </p:txBody>
      </p:sp>
    </p:spTree>
    <p:extLst>
      <p:ext uri="{BB962C8B-B14F-4D97-AF65-F5344CB8AC3E}">
        <p14:creationId xmlns:p14="http://schemas.microsoft.com/office/powerpoint/2010/main" val="65193288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2EDBC34-9582-434D-86C1-33DC28145EA7}"/>
              </a:ext>
            </a:extLst>
          </p:cNvPr>
          <p:cNvSpPr>
            <a:spLocks xmlns:a="http://schemas.openxmlformats.org/drawingml/2006/main" noGrp="1"/>
          </p:cNvSpPr>
          <p:nvPr/>
        </p:nvSpPr>
        <p:spPr>
          <a:xfrm xmlns:a="http://schemas.openxmlformats.org/drawingml/2006/main">
            <a:off x="609600" y="38100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REGLAS DE NEGOCIO</a:t>
            </a:r>
          </a:p>
        </p:txBody>
      </p:sp>
      <p:sp>
        <p:nvSpPr>
          <p:cNvPr id="2" name="">
            <a:extLst xmlns:a="http://schemas.openxmlformats.org/drawingml/2006/main">
              <a:ext uri="{FF2B5EF4-FFF2-40B4-BE49-F238E27FC236}">
                <a16:creationId xmlns:a16="http://schemas.microsoft.com/office/drawing/2014/main" id="{467AEAFC-5A89-41EC-BF62-ADD22DAE9B19}"/>
              </a:ext>
            </a:extLst>
          </p:cNvPr>
          <p:cNvSpPr>
            <a:spLocks xmlns:a="http://schemas.openxmlformats.org/drawingml/2006/main" noGrp="1"/>
          </p:cNvSpPr>
          <p:nvPr/>
        </p:nvSpPr>
        <p:spPr>
          <a:xfrm xmlns:a="http://schemas.openxmlformats.org/drawingml/2006/main">
            <a:off x="609600" y="6096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D233A"/>
                </a:solidFill>
              </a:defRPr>
            </a:defPPr>
          </a:lstStyle>
          <a:p xmlns:a="http://schemas.openxmlformats.org/drawingml/2006/main">
            <a:pPr>
              <a:lnSpc>
                <a:spcPct val="115000"/>
              </a:lnSpc>
              <a:buNone/>
              <a:defRPr sz="2400" b="1">
                <a:solidFill>
                  <a:srgbClr val="0D233A"/>
                </a:solidFill>
              </a:defRPr>
            </a:pPr>
            <a:r>
              <a:rPr sz="2400" b="1">
                <a:solidFill>
                  <a:srgbClr val="0D233A"/>
                </a:solidFill>
              </a:rPr>
              <a:t>Dos reglas que impiden una operacion</a:t>
            </a:r>
          </a:p>
        </p:txBody>
      </p:sp>
      <p:sp>
        <p:nvSpPr>
          <p:cNvPr id="3" name="">
            <a:extLst xmlns:a="http://schemas.openxmlformats.org/drawingml/2006/main">
              <a:ext uri="{FF2B5EF4-FFF2-40B4-BE49-F238E27FC236}">
                <a16:creationId xmlns:a16="http://schemas.microsoft.com/office/drawing/2014/main" id="{8016C1A8-55D1-4A25-8AB7-2E78612992D6}"/>
              </a:ext>
            </a:extLst>
          </p:cNvPr>
          <p:cNvSpPr>
            <a:spLocks xmlns:a="http://schemas.openxmlformats.org/drawingml/2006/main" noGrp="1"/>
          </p:cNvSpPr>
          <p:nvPr/>
        </p:nvSpPr>
        <p:spPr>
          <a:xfrm xmlns:a="http://schemas.openxmlformats.org/drawingml/2006/main">
            <a:off x="609600" y="10477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Cada una tiene su excepcion propia y se captura de forma especifica</a:t>
            </a:r>
          </a:p>
        </p:txBody>
      </p:sp>
      <p:sp>
        <p:nvSpPr>
          <p:cNvPr id="4" name="">
            <a:extLst xmlns:a="http://schemas.openxmlformats.org/drawingml/2006/main">
              <a:ext uri="{FF2B5EF4-FFF2-40B4-BE49-F238E27FC236}">
                <a16:creationId xmlns:a16="http://schemas.microsoft.com/office/drawing/2014/main" id="{240B558F-CDBB-4436-A91C-7C8DCC38CE9C}"/>
              </a:ext>
            </a:extLst>
          </p:cNvPr>
          <p:cNvSpPr>
            <a:spLocks xmlns:a="http://schemas.openxmlformats.org/drawingml/2006/main" noGrp="1"/>
          </p:cNvSpPr>
          <p:nvPr/>
        </p:nvSpPr>
        <p:spPr>
          <a:xfrm xmlns:a="http://schemas.openxmlformats.org/drawingml/2006/main">
            <a:off x="609600" y="1600200"/>
            <a:ext cx="10972800" cy="1790700"/>
          </a:xfrm>
          <a:prstGeom xmlns:a="http://schemas.openxmlformats.org/drawingml/2006/main" prst="roundRect">
            <a:avLst>
              <a:gd name="adj" fmla="val 4255"/>
            </a:avLst>
          </a:prstGeom>
          <a:solidFill xmlns:a="http://schemas.openxmlformats.org/drawingml/2006/main">
            <a:srgbClr val="F2F5F9"/>
          </a:solidFill>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9FCE8AEF-B3B9-4D30-9D6B-E6BBCB6941B9}"/>
              </a:ext>
            </a:extLst>
          </p:cNvPr>
          <p:cNvSpPr>
            <a:spLocks xmlns:a="http://schemas.openxmlformats.org/drawingml/2006/main" noGrp="1"/>
          </p:cNvSpPr>
          <p:nvPr/>
        </p:nvSpPr>
        <p:spPr>
          <a:xfrm xmlns:a="http://schemas.openxmlformats.org/drawingml/2006/main">
            <a:off x="838200" y="17526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Regla 1</a:t>
            </a:r>
          </a:p>
        </p:txBody>
      </p:sp>
      <p:sp>
        <p:nvSpPr>
          <p:cNvPr id="6" name="">
            <a:extLst xmlns:a="http://schemas.openxmlformats.org/drawingml/2006/main">
              <a:ext uri="{FF2B5EF4-FFF2-40B4-BE49-F238E27FC236}">
                <a16:creationId xmlns:a16="http://schemas.microsoft.com/office/drawing/2014/main" id="{3E4D8F83-C37C-4EA9-978A-B06143CA7AA9}"/>
              </a:ext>
            </a:extLst>
          </p:cNvPr>
          <p:cNvSpPr>
            <a:spLocks xmlns:a="http://schemas.openxmlformats.org/drawingml/2006/main" noGrp="1"/>
          </p:cNvSpPr>
          <p:nvPr/>
        </p:nvSpPr>
        <p:spPr>
          <a:xfrm xmlns:a="http://schemas.openxmlformats.org/drawingml/2006/main">
            <a:off x="2038350" y="17335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D233A"/>
                </a:solidFill>
              </a:defRPr>
            </a:defPPr>
          </a:lstStyle>
          <a:p xmlns:a="http://schemas.openxmlformats.org/drawingml/2006/main">
            <a:pPr>
              <a:lnSpc>
                <a:spcPct val="115000"/>
              </a:lnSpc>
              <a:buNone/>
              <a:defRPr sz="1425" b="1">
                <a:solidFill>
                  <a:srgbClr val="0D233A"/>
                </a:solidFill>
              </a:defRPr>
            </a:pPr>
            <a:r>
              <a:rPr sz="1425" b="1">
                <a:solidFill>
                  <a:srgbClr val="0D233A"/>
                </a:solidFill>
              </a:rPr>
              <a:t>No confirmar un pedido sin stock</a:t>
            </a:r>
          </a:p>
        </p:txBody>
      </p:sp>
      <p:sp>
        <p:nvSpPr>
          <p:cNvPr id="7" name="">
            <a:extLst xmlns:a="http://schemas.openxmlformats.org/drawingml/2006/main">
              <a:ext uri="{FF2B5EF4-FFF2-40B4-BE49-F238E27FC236}">
                <a16:creationId xmlns:a16="http://schemas.microsoft.com/office/drawing/2014/main" id="{74CD89E3-A2FE-4C24-8EE1-AEFA37B70918}"/>
              </a:ext>
            </a:extLst>
          </p:cNvPr>
          <p:cNvSpPr>
            <a:spLocks xmlns:a="http://schemas.openxmlformats.org/drawingml/2006/main" noGrp="1"/>
          </p:cNvSpPr>
          <p:nvPr/>
        </p:nvSpPr>
        <p:spPr>
          <a:xfrm xmlns:a="http://schemas.openxmlformats.org/drawingml/2006/main">
            <a:off x="2038350" y="2019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i="1">
                <a:solidFill>
                  <a:srgbClr val="1C4E80"/>
                </a:solidFill>
              </a:defRPr>
            </a:defPPr>
          </a:lstStyle>
          <a:p xmlns:a="http://schemas.openxmlformats.org/drawingml/2006/main">
            <a:pPr>
              <a:lnSpc>
                <a:spcPct val="115000"/>
              </a:lnSpc>
              <a:buNone/>
              <a:defRPr sz="975" b="0" i="1">
                <a:solidFill>
                  <a:srgbClr val="1C4E80"/>
                </a:solidFill>
              </a:defRPr>
            </a:pPr>
            <a:r>
              <a:rPr sz="975" b="0" i="1">
                <a:solidFill>
                  <a:srgbClr val="1C4E80"/>
                </a:solidFill>
              </a:rPr>
              <a:t>model/pedido.py - confirmar_pedido()</a:t>
            </a:r>
          </a:p>
        </p:txBody>
      </p:sp>
      <p:sp>
        <p:nvSpPr>
          <p:cNvPr id="8" name="">
            <a:extLst xmlns:a="http://schemas.openxmlformats.org/drawingml/2006/main">
              <a:ext uri="{FF2B5EF4-FFF2-40B4-BE49-F238E27FC236}">
                <a16:creationId xmlns:a16="http://schemas.microsoft.com/office/drawing/2014/main" id="{309F7BE8-4518-4478-A7CC-7254632FD6AD}"/>
              </a:ext>
            </a:extLst>
          </p:cNvPr>
          <p:cNvSpPr>
            <a:spLocks xmlns:a="http://schemas.openxmlformats.org/drawingml/2006/main" noGrp="1"/>
          </p:cNvSpPr>
          <p:nvPr/>
        </p:nvSpPr>
        <p:spPr>
          <a:xfrm xmlns:a="http://schemas.openxmlformats.org/drawingml/2006/main">
            <a:off x="838200" y="2343150"/>
            <a:ext cx="10515600" cy="3429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defPPr>
              <a:defRPr sz="1050" b="0">
                <a:solidFill>
                  <a:srgbClr val="0D233A"/>
                </a:solidFill>
              </a:defRPr>
            </a:defPPr>
          </a:lstStyle>
          <a:p xmlns:a="http://schemas.openxmlformats.org/drawingml/2006/main">
            <a:pPr>
              <a:lnSpc>
                <a:spcPct val="115000"/>
              </a:lnSpc>
              <a:buNone/>
              <a:defRPr sz="1050" b="0">
                <a:solidFill>
                  <a:srgbClr val="0D233A"/>
                </a:solidFill>
              </a:defRPr>
            </a:pPr>
            <a:r>
              <a:rPr sz="1050" b="0">
                <a:solidFill>
                  <a:srgbClr val="0D233A"/>
                </a:solidFill>
              </a:rPr>
              <a:t>raise StockInsuficienteError(producto.nombre, detalle.cantidad, producto.stock)</a:t>
            </a:r>
          </a:p>
        </p:txBody>
      </p:sp>
      <p:sp>
        <p:nvSpPr>
          <p:cNvPr id="9" name="">
            <a:extLst xmlns:a="http://schemas.openxmlformats.org/drawingml/2006/main">
              <a:ext uri="{FF2B5EF4-FFF2-40B4-BE49-F238E27FC236}">
                <a16:creationId xmlns:a16="http://schemas.microsoft.com/office/drawing/2014/main" id="{62E1EFD4-7CB6-40CE-87F2-070810A9343F}"/>
              </a:ext>
            </a:extLst>
          </p:cNvPr>
          <p:cNvSpPr>
            <a:spLocks xmlns:a="http://schemas.openxmlformats.org/drawingml/2006/main" noGrp="1"/>
          </p:cNvSpPr>
          <p:nvPr/>
        </p:nvSpPr>
        <p:spPr>
          <a:xfrm xmlns:a="http://schemas.openxmlformats.org/drawingml/2006/main">
            <a:off x="838200" y="2781300"/>
            <a:ext cx="10515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1F2933"/>
                </a:solidFill>
              </a:defRPr>
            </a:defPPr>
          </a:lstStyle>
          <a:p xmlns:a="http://schemas.openxmlformats.org/drawingml/2006/main">
            <a:pPr>
              <a:lnSpc>
                <a:spcPct val="115000"/>
              </a:lnSpc>
              <a:buNone/>
              <a:defRPr sz="1050" b="0">
                <a:solidFill>
                  <a:srgbClr val="1F2933"/>
                </a:solidFill>
              </a:defRPr>
            </a:pPr>
            <a:r>
              <a:rPr sz="1050" b="0">
                <a:solidFill>
                  <a:srgbClr val="1F2933"/>
                </a:solidFill>
              </a:rPr>
              <a:t>El stock no cambia porque el descuento ocurre recien al registrar el pago.</a:t>
            </a:r>
          </a:p>
        </p:txBody>
      </p:sp>
      <p:sp>
        <p:nvSpPr>
          <p:cNvPr id="10" name="">
            <a:extLst xmlns:a="http://schemas.openxmlformats.org/drawingml/2006/main">
              <a:ext uri="{FF2B5EF4-FFF2-40B4-BE49-F238E27FC236}">
                <a16:creationId xmlns:a16="http://schemas.microsoft.com/office/drawing/2014/main" id="{E417FE37-609E-4E37-B18E-034060AE792D}"/>
              </a:ext>
            </a:extLst>
          </p:cNvPr>
          <p:cNvSpPr>
            <a:spLocks xmlns:a="http://schemas.openxmlformats.org/drawingml/2006/main" noGrp="1"/>
          </p:cNvSpPr>
          <p:nvPr/>
        </p:nvSpPr>
        <p:spPr>
          <a:xfrm xmlns:a="http://schemas.openxmlformats.org/drawingml/2006/main">
            <a:off x="609600" y="3581400"/>
            <a:ext cx="10972800" cy="1790700"/>
          </a:xfrm>
          <a:prstGeom xmlns:a="http://schemas.openxmlformats.org/drawingml/2006/main" prst="roundRect">
            <a:avLst>
              <a:gd name="adj" fmla="val 4255"/>
            </a:avLst>
          </a:prstGeom>
          <a:solidFill xmlns:a="http://schemas.openxmlformats.org/drawingml/2006/main">
            <a:srgbClr val="F2F5F9"/>
          </a:solidFill>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4A23AF99-1AED-43D7-AB4F-CEE2D402B121}"/>
              </a:ext>
            </a:extLst>
          </p:cNvPr>
          <p:cNvSpPr>
            <a:spLocks xmlns:a="http://schemas.openxmlformats.org/drawingml/2006/main" noGrp="1"/>
          </p:cNvSpPr>
          <p:nvPr/>
        </p:nvSpPr>
        <p:spPr>
          <a:xfrm xmlns:a="http://schemas.openxmlformats.org/drawingml/2006/main">
            <a:off x="838200" y="37338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Regla 2</a:t>
            </a:r>
          </a:p>
        </p:txBody>
      </p:sp>
      <p:sp>
        <p:nvSpPr>
          <p:cNvPr id="12" name="">
            <a:extLst xmlns:a="http://schemas.openxmlformats.org/drawingml/2006/main">
              <a:ext uri="{FF2B5EF4-FFF2-40B4-BE49-F238E27FC236}">
                <a16:creationId xmlns:a16="http://schemas.microsoft.com/office/drawing/2014/main" id="{85FCC2BA-407D-448B-9E2B-2BA6917F5641}"/>
              </a:ext>
            </a:extLst>
          </p:cNvPr>
          <p:cNvSpPr>
            <a:spLocks xmlns:a="http://schemas.openxmlformats.org/drawingml/2006/main" noGrp="1"/>
          </p:cNvSpPr>
          <p:nvPr/>
        </p:nvSpPr>
        <p:spPr>
          <a:xfrm xmlns:a="http://schemas.openxmlformats.org/drawingml/2006/main">
            <a:off x="2038350" y="37147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D233A"/>
                </a:solidFill>
              </a:defRPr>
            </a:defPPr>
          </a:lstStyle>
          <a:p xmlns:a="http://schemas.openxmlformats.org/drawingml/2006/main">
            <a:pPr>
              <a:lnSpc>
                <a:spcPct val="115000"/>
              </a:lnSpc>
              <a:buNone/>
              <a:defRPr sz="1425" b="1">
                <a:solidFill>
                  <a:srgbClr val="0D233A"/>
                </a:solidFill>
              </a:defRPr>
            </a:pPr>
            <a:r>
              <a:rPr sz="1425" b="1">
                <a:solidFill>
                  <a:srgbClr val="0D233A"/>
                </a:solidFill>
              </a:rPr>
              <a:t>No despachar un pedido impago</a:t>
            </a:r>
          </a:p>
        </p:txBody>
      </p:sp>
      <p:sp>
        <p:nvSpPr>
          <p:cNvPr id="13" name="">
            <a:extLst xmlns:a="http://schemas.openxmlformats.org/drawingml/2006/main">
              <a:ext uri="{FF2B5EF4-FFF2-40B4-BE49-F238E27FC236}">
                <a16:creationId xmlns:a16="http://schemas.microsoft.com/office/drawing/2014/main" id="{7D48B391-D1FF-4D08-87FD-853D91276182}"/>
              </a:ext>
            </a:extLst>
          </p:cNvPr>
          <p:cNvSpPr>
            <a:spLocks xmlns:a="http://schemas.openxmlformats.org/drawingml/2006/main" noGrp="1"/>
          </p:cNvSpPr>
          <p:nvPr/>
        </p:nvSpPr>
        <p:spPr>
          <a:xfrm xmlns:a="http://schemas.openxmlformats.org/drawingml/2006/main">
            <a:off x="2038350" y="40005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i="1">
                <a:solidFill>
                  <a:srgbClr val="1C4E80"/>
                </a:solidFill>
              </a:defRPr>
            </a:defPPr>
          </a:lstStyle>
          <a:p xmlns:a="http://schemas.openxmlformats.org/drawingml/2006/main">
            <a:pPr>
              <a:lnSpc>
                <a:spcPct val="115000"/>
              </a:lnSpc>
              <a:buNone/>
              <a:defRPr sz="975" b="0" i="1">
                <a:solidFill>
                  <a:srgbClr val="1C4E80"/>
                </a:solidFill>
              </a:defRPr>
            </a:pPr>
            <a:r>
              <a:rPr sz="975" b="0" i="1">
                <a:solidFill>
                  <a:srgbClr val="1C4E80"/>
                </a:solidFill>
              </a:rPr>
              <a:t>model/pedido.py - despachar(operador)</a:t>
            </a:r>
          </a:p>
        </p:txBody>
      </p:sp>
      <p:sp>
        <p:nvSpPr>
          <p:cNvPr id="14" name="">
            <a:extLst xmlns:a="http://schemas.openxmlformats.org/drawingml/2006/main">
              <a:ext uri="{FF2B5EF4-FFF2-40B4-BE49-F238E27FC236}">
                <a16:creationId xmlns:a16="http://schemas.microsoft.com/office/drawing/2014/main" id="{C8413C66-EBDD-4C04-A06F-1548274FDED7}"/>
              </a:ext>
            </a:extLst>
          </p:cNvPr>
          <p:cNvSpPr>
            <a:spLocks xmlns:a="http://schemas.openxmlformats.org/drawingml/2006/main" noGrp="1"/>
          </p:cNvSpPr>
          <p:nvPr/>
        </p:nvSpPr>
        <p:spPr>
          <a:xfrm xmlns:a="http://schemas.openxmlformats.org/drawingml/2006/main">
            <a:off x="838200" y="4324350"/>
            <a:ext cx="10515600" cy="3429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defPPr>
              <a:defRPr sz="1050" b="0">
                <a:solidFill>
                  <a:srgbClr val="0D233A"/>
                </a:solidFill>
              </a:defRPr>
            </a:defPPr>
          </a:lstStyle>
          <a:p xmlns:a="http://schemas.openxmlformats.org/drawingml/2006/main">
            <a:pPr>
              <a:lnSpc>
                <a:spcPct val="115000"/>
              </a:lnSpc>
              <a:buNone/>
              <a:defRPr sz="1050" b="0">
                <a:solidFill>
                  <a:srgbClr val="0D233A"/>
                </a:solidFill>
              </a:defRPr>
            </a:pPr>
            <a:r>
              <a:rPr sz="1050" b="0">
                <a:solidFill>
                  <a:srgbClr val="0D233A"/>
                </a:solidFill>
              </a:rPr>
              <a:t>raise PedidoNoPagadoError(self._id_pedido, self._estado_pago)</a:t>
            </a:r>
          </a:p>
        </p:txBody>
      </p:sp>
      <p:sp>
        <p:nvSpPr>
          <p:cNvPr id="15" name="">
            <a:extLst xmlns:a="http://schemas.openxmlformats.org/drawingml/2006/main">
              <a:ext uri="{FF2B5EF4-FFF2-40B4-BE49-F238E27FC236}">
                <a16:creationId xmlns:a16="http://schemas.microsoft.com/office/drawing/2014/main" id="{043AEF3D-064B-420E-B7BF-F9137AD5E0EA}"/>
              </a:ext>
            </a:extLst>
          </p:cNvPr>
          <p:cNvSpPr>
            <a:spLocks xmlns:a="http://schemas.openxmlformats.org/drawingml/2006/main" noGrp="1"/>
          </p:cNvSpPr>
          <p:nvPr/>
        </p:nvSpPr>
        <p:spPr>
          <a:xfrm xmlns:a="http://schemas.openxmlformats.org/drawingml/2006/main">
            <a:off x="838200" y="4762500"/>
            <a:ext cx="10515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1F2933"/>
                </a:solidFill>
              </a:defRPr>
            </a:defPPr>
          </a:lstStyle>
          <a:p xmlns:a="http://schemas.openxmlformats.org/drawingml/2006/main">
            <a:pPr>
              <a:lnSpc>
                <a:spcPct val="115000"/>
              </a:lnSpc>
              <a:buNone/>
              <a:defRPr sz="1050" b="0">
                <a:solidFill>
                  <a:srgbClr val="1F2933"/>
                </a:solidFill>
              </a:defRPr>
            </a:pPr>
            <a:r>
              <a:rPr sz="1050" b="0">
                <a:solidFill>
                  <a:srgbClr val="1F2933"/>
                </a:solidFill>
              </a:rPr>
              <a:t>Antes de esa linea se verifica con SinPermisoError que el rol pueda despachar.</a:t>
            </a:r>
          </a:p>
        </p:txBody>
      </p:sp>
      <p:sp>
        <p:nvSpPr>
          <p:cNvPr id="16" name="">
            <a:extLst xmlns:a="http://schemas.openxmlformats.org/drawingml/2006/main">
              <a:ext uri="{FF2B5EF4-FFF2-40B4-BE49-F238E27FC236}">
                <a16:creationId xmlns:a16="http://schemas.microsoft.com/office/drawing/2014/main" id="{A7669C79-E473-49AD-8E3C-3F6E5C45F9F7}"/>
              </a:ext>
            </a:extLst>
          </p:cNvPr>
          <p:cNvSpPr>
            <a:spLocks xmlns:a="http://schemas.openxmlformats.org/drawingml/2006/main" noGrp="1"/>
          </p:cNvSpPr>
          <p:nvPr/>
        </p:nvSpPr>
        <p:spPr>
          <a:xfrm xmlns:a="http://schemas.openxmlformats.org/drawingml/2006/main">
            <a:off x="609600" y="567690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a:solidFill>
                  <a:srgbClr val="D63426"/>
                </a:solidFill>
              </a:defRPr>
            </a:defPPr>
          </a:lstStyle>
          <a:p xmlns:a="http://schemas.openxmlformats.org/drawingml/2006/main">
            <a:pPr algn="ctr">
              <a:lnSpc>
                <a:spcPct val="115000"/>
              </a:lnSpc>
              <a:buNone/>
              <a:defRPr sz="1050" b="1">
                <a:solidFill>
                  <a:srgbClr val="D63426"/>
                </a:solidFill>
              </a:defRPr>
            </a:pPr>
            <a:r>
              <a:rPr sz="1050" b="1">
                <a:solidFill>
                  <a:srgbClr val="D63426"/>
                </a:solidFill>
              </a:rPr>
              <a:t>Las excepciones se capturan en main.py:  except ClickAndGoError -&gt; avisa y vuelve al menu</a:t>
            </a:r>
          </a:p>
        </p:txBody>
      </p:sp>
    </p:spTree>
    <p:extLst>
      <p:ext uri="{BB962C8B-B14F-4D97-AF65-F5344CB8AC3E}">
        <p14:creationId xmlns:p14="http://schemas.microsoft.com/office/powerpoint/2010/main" val="12298284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3E1F074-8E8A-4B19-8C59-321796227B4F}"/>
              </a:ext>
            </a:extLst>
          </p:cNvPr>
          <p:cNvSpPr>
            <a:spLocks xmlns:a="http://schemas.openxmlformats.org/drawingml/2006/main" noGrp="1"/>
          </p:cNvSpPr>
          <p:nvPr/>
        </p:nvSpPr>
        <p:spPr>
          <a:xfrm xmlns:a="http://schemas.openxmlformats.org/drawingml/2006/main">
            <a:off x="609600" y="38100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INDICADOR EXTERNO</a:t>
            </a:r>
          </a:p>
        </p:txBody>
      </p:sp>
      <p:sp>
        <p:nvSpPr>
          <p:cNvPr id="2" name="">
            <a:extLst xmlns:a="http://schemas.openxmlformats.org/drawingml/2006/main">
              <a:ext uri="{FF2B5EF4-FFF2-40B4-BE49-F238E27FC236}">
                <a16:creationId xmlns:a16="http://schemas.microsoft.com/office/drawing/2014/main" id="{B7ED495E-4C46-4E0A-B25F-0CFAF20BF3BF}"/>
              </a:ext>
            </a:extLst>
          </p:cNvPr>
          <p:cNvSpPr>
            <a:spLocks xmlns:a="http://schemas.openxmlformats.org/drawingml/2006/main" noGrp="1"/>
          </p:cNvSpPr>
          <p:nvPr/>
        </p:nvSpPr>
        <p:spPr>
          <a:xfrm xmlns:a="http://schemas.openxmlformats.org/drawingml/2006/main">
            <a:off x="609600" y="6096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D233A"/>
                </a:solidFill>
              </a:defRPr>
            </a:defPPr>
          </a:lstStyle>
          <a:p xmlns:a="http://schemas.openxmlformats.org/drawingml/2006/main">
            <a:pPr>
              <a:lnSpc>
                <a:spcPct val="115000"/>
              </a:lnSpc>
              <a:buNone/>
              <a:defRPr sz="2400" b="1">
                <a:solidFill>
                  <a:srgbClr val="0D233A"/>
                </a:solidFill>
              </a:defRPr>
            </a:pPr>
            <a:r>
              <a:rPr sz="2400" b="1">
                <a:solidFill>
                  <a:srgbClr val="0D233A"/>
                </a:solidFill>
              </a:rPr>
              <a:t>El precio de la electronica depende del dolar del dia</a:t>
            </a:r>
          </a:p>
        </p:txBody>
      </p:sp>
      <p:sp>
        <p:nvSpPr>
          <p:cNvPr id="3" name="">
            <a:extLst xmlns:a="http://schemas.openxmlformats.org/drawingml/2006/main">
              <a:ext uri="{FF2B5EF4-FFF2-40B4-BE49-F238E27FC236}">
                <a16:creationId xmlns:a16="http://schemas.microsoft.com/office/drawing/2014/main" id="{349320C9-DDCF-41B0-B590-9D909ABD2FCE}"/>
              </a:ext>
            </a:extLst>
          </p:cNvPr>
          <p:cNvSpPr>
            <a:spLocks xmlns:a="http://schemas.openxmlformats.org/drawingml/2006/main" noGrp="1"/>
          </p:cNvSpPr>
          <p:nvPr/>
        </p:nvSpPr>
        <p:spPr>
          <a:xfrm xmlns:a="http://schemas.openxmlformats.org/drawingml/2006/main">
            <a:off x="609600" y="10477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servicios/indicador_dolar.py usa la libreria oficial requests</a:t>
            </a:r>
          </a:p>
        </p:txBody>
      </p:sp>
      <p:sp>
        <p:nvSpPr>
          <p:cNvPr id="4" name="">
            <a:extLst xmlns:a="http://schemas.openxmlformats.org/drawingml/2006/main">
              <a:ext uri="{FF2B5EF4-FFF2-40B4-BE49-F238E27FC236}">
                <a16:creationId xmlns:a16="http://schemas.microsoft.com/office/drawing/2014/main" id="{AD09006F-DC42-4B4E-AD7D-5A6A949B2627}"/>
              </a:ext>
            </a:extLst>
          </p:cNvPr>
          <p:cNvSpPr>
            <a:spLocks xmlns:a="http://schemas.openxmlformats.org/drawingml/2006/main" noGrp="1"/>
          </p:cNvSpPr>
          <p:nvPr/>
        </p:nvSpPr>
        <p:spPr>
          <a:xfrm xmlns:a="http://schemas.openxmlformats.org/drawingml/2006/main">
            <a:off x="609600" y="16954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D233A"/>
                </a:solidFill>
              </a:defRPr>
            </a:defPPr>
          </a:lstStyle>
          <a:p xmlns:a="http://schemas.openxmlformats.org/drawingml/2006/main">
            <a:pPr>
              <a:lnSpc>
                <a:spcPct val="115000"/>
              </a:lnSpc>
              <a:buNone/>
              <a:defRPr sz="1200" b="1">
                <a:solidFill>
                  <a:srgbClr val="0D233A"/>
                </a:solidFill>
              </a:defRPr>
            </a:pPr>
            <a:r>
              <a:rPr sz="1200" b="1">
                <a:solidFill>
                  <a:srgbClr val="0D233A"/>
                </a:solidFill>
              </a:rPr>
              <a:t>Consulta</a:t>
            </a:r>
          </a:p>
        </p:txBody>
      </p:sp>
      <p:sp>
        <p:nvSpPr>
          <p:cNvPr id="5" name="">
            <a:extLst xmlns:a="http://schemas.openxmlformats.org/drawingml/2006/main">
              <a:ext uri="{FF2B5EF4-FFF2-40B4-BE49-F238E27FC236}">
                <a16:creationId xmlns:a16="http://schemas.microsoft.com/office/drawing/2014/main" id="{54E33FC4-F811-4A84-AD5F-BADAEDFF92E7}"/>
              </a:ext>
            </a:extLst>
          </p:cNvPr>
          <p:cNvSpPr>
            <a:spLocks xmlns:a="http://schemas.openxmlformats.org/drawingml/2006/main" noGrp="1"/>
          </p:cNvSpPr>
          <p:nvPr/>
        </p:nvSpPr>
        <p:spPr>
          <a:xfrm xmlns:a="http://schemas.openxmlformats.org/drawingml/2006/main">
            <a:off x="2609850" y="1657350"/>
            <a:ext cx="8972550" cy="323850"/>
          </a:xfrm>
          <a:prstGeom xmlns:a="http://schemas.openxmlformats.org/drawingml/2006/main" prst="rect">
            <a:avLst/>
          </a:prstGeom>
          <a:solidFill xmlns:a="http://schemas.openxmlformats.org/drawingml/2006/main">
            <a:srgbClr val="F2F5F9"/>
          </a:solidFill>
          <a:ln xmlns:a="http://schemas.openxmlformats.org/drawingml/2006/main" w="0">
            <a:noFill/>
            <a:prstDash val="solid"/>
          </a:ln>
        </p:spPr>
        <p:txBody>
          <a:bodyPr xmlns:a="http://schemas.openxmlformats.org/drawingml/2006/main"/>
          <a:lstStyle xmlns:a="http://schemas.openxmlformats.org/drawingml/2006/main">
            <a:defPPr>
              <a:defRPr sz="1013" b="0">
                <a:solidFill>
                  <a:srgbClr val="0D233A"/>
                </a:solidFill>
              </a:defRPr>
            </a:defPPr>
          </a:lstStyle>
          <a:p xmlns:a="http://schemas.openxmlformats.org/drawingml/2006/main">
            <a:pPr>
              <a:lnSpc>
                <a:spcPct val="115000"/>
              </a:lnSpc>
              <a:buNone/>
              <a:defRPr sz="1013" b="0">
                <a:solidFill>
                  <a:srgbClr val="0D233A"/>
                </a:solidFill>
              </a:defRPr>
            </a:pPr>
            <a:r>
              <a:rPr sz="1013" b="0">
                <a:solidFill>
                  <a:srgbClr val="0D233A"/>
                </a:solidFill>
              </a:rPr>
              <a:t>requests.get('https://mindicador.cl/api/dolar', timeout=5)</a:t>
            </a:r>
          </a:p>
        </p:txBody>
      </p:sp>
      <p:sp>
        <p:nvSpPr>
          <p:cNvPr id="6" name="">
            <a:extLst xmlns:a="http://schemas.openxmlformats.org/drawingml/2006/main">
              <a:ext uri="{FF2B5EF4-FFF2-40B4-BE49-F238E27FC236}">
                <a16:creationId xmlns:a16="http://schemas.microsoft.com/office/drawing/2014/main" id="{AFC88F32-DA0A-43F3-9249-7F3325960CA3}"/>
              </a:ext>
            </a:extLst>
          </p:cNvPr>
          <p:cNvSpPr>
            <a:spLocks xmlns:a="http://schemas.openxmlformats.org/drawingml/2006/main" noGrp="1"/>
          </p:cNvSpPr>
          <p:nvPr/>
        </p:nvSpPr>
        <p:spPr>
          <a:xfrm xmlns:a="http://schemas.openxmlformats.org/drawingml/2006/main">
            <a:off x="2609850" y="2019300"/>
            <a:ext cx="897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13" b="0">
                <a:solidFill>
                  <a:srgbClr val="5A6B7C"/>
                </a:solidFill>
              </a:defRPr>
            </a:defPPr>
          </a:lstStyle>
          <a:p xmlns:a="http://schemas.openxmlformats.org/drawingml/2006/main">
            <a:pPr>
              <a:lnSpc>
                <a:spcPct val="115000"/>
              </a:lnSpc>
              <a:buNone/>
              <a:defRPr sz="1013" b="0">
                <a:solidFill>
                  <a:srgbClr val="5A6B7C"/>
                </a:solidFill>
              </a:defRPr>
            </a:pPr>
            <a:r>
              <a:rPr sz="1013" b="0">
                <a:solidFill>
                  <a:srgbClr val="5A6B7C"/>
                </a:solidFill>
              </a:rPr>
              <a:t>La serie del dolar viene en el JSON; se toma el valor mas reciente.</a:t>
            </a:r>
          </a:p>
        </p:txBody>
      </p:sp>
      <p:sp>
        <p:nvSpPr>
          <p:cNvPr id="7" name="">
            <a:extLst xmlns:a="http://schemas.openxmlformats.org/drawingml/2006/main">
              <a:ext uri="{FF2B5EF4-FFF2-40B4-BE49-F238E27FC236}">
                <a16:creationId xmlns:a16="http://schemas.microsoft.com/office/drawing/2014/main" id="{2E594581-172A-4852-AE20-D58D4177DBBE}"/>
              </a:ext>
            </a:extLst>
          </p:cNvPr>
          <p:cNvSpPr>
            <a:spLocks xmlns:a="http://schemas.openxmlformats.org/drawingml/2006/main" noGrp="1"/>
          </p:cNvSpPr>
          <p:nvPr/>
        </p:nvSpPr>
        <p:spPr>
          <a:xfrm xmlns:a="http://schemas.openxmlformats.org/drawingml/2006/main">
            <a:off x="609600" y="27051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D233A"/>
                </a:solidFill>
              </a:defRPr>
            </a:defPPr>
          </a:lstStyle>
          <a:p xmlns:a="http://schemas.openxmlformats.org/drawingml/2006/main">
            <a:pPr>
              <a:lnSpc>
                <a:spcPct val="115000"/>
              </a:lnSpc>
              <a:buNone/>
              <a:defRPr sz="1200" b="1">
                <a:solidFill>
                  <a:srgbClr val="0D233A"/>
                </a:solidFill>
              </a:defRPr>
            </a:pPr>
            <a:r>
              <a:rPr sz="1200" b="1">
                <a:solidFill>
                  <a:srgbClr val="0D233A"/>
                </a:solidFill>
              </a:rPr>
              <a:t>Conversion</a:t>
            </a:r>
          </a:p>
        </p:txBody>
      </p:sp>
      <p:sp>
        <p:nvSpPr>
          <p:cNvPr id="8" name="">
            <a:extLst xmlns:a="http://schemas.openxmlformats.org/drawingml/2006/main">
              <a:ext uri="{FF2B5EF4-FFF2-40B4-BE49-F238E27FC236}">
                <a16:creationId xmlns:a16="http://schemas.microsoft.com/office/drawing/2014/main" id="{BD45CEE5-D94A-44CC-AD04-3E95DE140435}"/>
              </a:ext>
            </a:extLst>
          </p:cNvPr>
          <p:cNvSpPr>
            <a:spLocks xmlns:a="http://schemas.openxmlformats.org/drawingml/2006/main" noGrp="1"/>
          </p:cNvSpPr>
          <p:nvPr/>
        </p:nvSpPr>
        <p:spPr>
          <a:xfrm xmlns:a="http://schemas.openxmlformats.org/drawingml/2006/main">
            <a:off x="2609850" y="2667000"/>
            <a:ext cx="8972550" cy="323850"/>
          </a:xfrm>
          <a:prstGeom xmlns:a="http://schemas.openxmlformats.org/drawingml/2006/main" prst="rect">
            <a:avLst/>
          </a:prstGeom>
          <a:solidFill xmlns:a="http://schemas.openxmlformats.org/drawingml/2006/main">
            <a:srgbClr val="F2F5F9"/>
          </a:solidFill>
          <a:ln xmlns:a="http://schemas.openxmlformats.org/drawingml/2006/main" w="0">
            <a:noFill/>
            <a:prstDash val="solid"/>
          </a:ln>
        </p:spPr>
        <p:txBody>
          <a:bodyPr xmlns:a="http://schemas.openxmlformats.org/drawingml/2006/main"/>
          <a:lstStyle xmlns:a="http://schemas.openxmlformats.org/drawingml/2006/main">
            <a:defPPr>
              <a:defRPr sz="1013" b="0">
                <a:solidFill>
                  <a:srgbClr val="0D233A"/>
                </a:solidFill>
              </a:defRPr>
            </a:defPPr>
          </a:lstStyle>
          <a:p xmlns:a="http://schemas.openxmlformats.org/drawingml/2006/main">
            <a:pPr>
              <a:lnSpc>
                <a:spcPct val="115000"/>
              </a:lnSpc>
              <a:buNone/>
              <a:defRPr sz="1013" b="0">
                <a:solidFill>
                  <a:srgbClr val="0D233A"/>
                </a:solidFill>
              </a:defRPr>
            </a:pPr>
            <a:r>
              <a:rPr sz="1013" b="0">
                <a:solidFill>
                  <a:srgbClr val="0D233A"/>
                </a:solidFill>
              </a:rPr>
              <a:t>ProductoElectronica.calcular_precio_final(valor_dolar)</a:t>
            </a:r>
          </a:p>
        </p:txBody>
      </p:sp>
      <p:sp>
        <p:nvSpPr>
          <p:cNvPr id="9" name="">
            <a:extLst xmlns:a="http://schemas.openxmlformats.org/drawingml/2006/main">
              <a:ext uri="{FF2B5EF4-FFF2-40B4-BE49-F238E27FC236}">
                <a16:creationId xmlns:a16="http://schemas.microsoft.com/office/drawing/2014/main" id="{EF5087DF-A02C-4966-B59E-7DB3121B9473}"/>
              </a:ext>
            </a:extLst>
          </p:cNvPr>
          <p:cNvSpPr>
            <a:spLocks xmlns:a="http://schemas.openxmlformats.org/drawingml/2006/main" noGrp="1"/>
          </p:cNvSpPr>
          <p:nvPr/>
        </p:nvSpPr>
        <p:spPr>
          <a:xfrm xmlns:a="http://schemas.openxmlformats.org/drawingml/2006/main">
            <a:off x="2609850" y="3028950"/>
            <a:ext cx="897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13" b="0">
                <a:solidFill>
                  <a:srgbClr val="5A6B7C"/>
                </a:solidFill>
              </a:defRPr>
            </a:defPPr>
          </a:lstStyle>
          <a:p xmlns:a="http://schemas.openxmlformats.org/drawingml/2006/main">
            <a:pPr>
              <a:lnSpc>
                <a:spcPct val="115000"/>
              </a:lnSpc>
              <a:buNone/>
              <a:defRPr sz="1013" b="0">
                <a:solidFill>
                  <a:srgbClr val="5A6B7C"/>
                </a:solidFill>
              </a:defRPr>
            </a:pPr>
            <a:r>
              <a:rPr sz="1013" b="0">
                <a:solidFill>
                  <a:srgbClr val="5A6B7C"/>
                </a:solidFill>
              </a:rPr>
              <a:t>precio_usd * valor_dolar, redondeado a pesos.</a:t>
            </a:r>
          </a:p>
        </p:txBody>
      </p:sp>
      <p:sp>
        <p:nvSpPr>
          <p:cNvPr id="10" name="">
            <a:extLst xmlns:a="http://schemas.openxmlformats.org/drawingml/2006/main">
              <a:ext uri="{FF2B5EF4-FFF2-40B4-BE49-F238E27FC236}">
                <a16:creationId xmlns:a16="http://schemas.microsoft.com/office/drawing/2014/main" id="{0678B7E2-BBA8-4433-B335-6BE8302BCC98}"/>
              </a:ext>
            </a:extLst>
          </p:cNvPr>
          <p:cNvSpPr>
            <a:spLocks xmlns:a="http://schemas.openxmlformats.org/drawingml/2006/main" noGrp="1"/>
          </p:cNvSpPr>
          <p:nvPr/>
        </p:nvSpPr>
        <p:spPr>
          <a:xfrm xmlns:a="http://schemas.openxmlformats.org/drawingml/2006/main">
            <a:off x="609600" y="3714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D233A"/>
                </a:solidFill>
              </a:defRPr>
            </a:defPPr>
          </a:lstStyle>
          <a:p xmlns:a="http://schemas.openxmlformats.org/drawingml/2006/main">
            <a:pPr>
              <a:lnSpc>
                <a:spcPct val="115000"/>
              </a:lnSpc>
              <a:buNone/>
              <a:defRPr sz="1200" b="1">
                <a:solidFill>
                  <a:srgbClr val="0D233A"/>
                </a:solidFill>
              </a:defRPr>
            </a:pPr>
            <a:r>
              <a:rPr sz="1200" b="1">
                <a:solidFill>
                  <a:srgbClr val="0D233A"/>
                </a:solidFill>
              </a:rPr>
              <a:t>Si la API falla</a:t>
            </a:r>
          </a:p>
        </p:txBody>
      </p:sp>
      <p:sp>
        <p:nvSpPr>
          <p:cNvPr id="11" name="">
            <a:extLst xmlns:a="http://schemas.openxmlformats.org/drawingml/2006/main">
              <a:ext uri="{FF2B5EF4-FFF2-40B4-BE49-F238E27FC236}">
                <a16:creationId xmlns:a16="http://schemas.microsoft.com/office/drawing/2014/main" id="{8DD46EEF-F538-421B-AB4A-E8FF49F741E9}"/>
              </a:ext>
            </a:extLst>
          </p:cNvPr>
          <p:cNvSpPr>
            <a:spLocks xmlns:a="http://schemas.openxmlformats.org/drawingml/2006/main" noGrp="1"/>
          </p:cNvSpPr>
          <p:nvPr/>
        </p:nvSpPr>
        <p:spPr>
          <a:xfrm xmlns:a="http://schemas.openxmlformats.org/drawingml/2006/main">
            <a:off x="2609850" y="3676650"/>
            <a:ext cx="8972550" cy="323850"/>
          </a:xfrm>
          <a:prstGeom xmlns:a="http://schemas.openxmlformats.org/drawingml/2006/main" prst="rect">
            <a:avLst/>
          </a:prstGeom>
          <a:solidFill xmlns:a="http://schemas.openxmlformats.org/drawingml/2006/main">
            <a:srgbClr val="F2F5F9"/>
          </a:solidFill>
          <a:ln xmlns:a="http://schemas.openxmlformats.org/drawingml/2006/main" w="0">
            <a:noFill/>
            <a:prstDash val="solid"/>
          </a:ln>
        </p:spPr>
        <p:txBody>
          <a:bodyPr xmlns:a="http://schemas.openxmlformats.org/drawingml/2006/main"/>
          <a:lstStyle xmlns:a="http://schemas.openxmlformats.org/drawingml/2006/main">
            <a:defPPr>
              <a:defRPr sz="1013" b="0">
                <a:solidFill>
                  <a:srgbClr val="0D233A"/>
                </a:solidFill>
              </a:defRPr>
            </a:defPPr>
          </a:lstStyle>
          <a:p xmlns:a="http://schemas.openxmlformats.org/drawingml/2006/main">
            <a:pPr>
              <a:lnSpc>
                <a:spcPct val="115000"/>
              </a:lnSpc>
              <a:buNone/>
              <a:defRPr sz="1013" b="0">
                <a:solidFill>
                  <a:srgbClr val="0D233A"/>
                </a:solidFill>
              </a:defRPr>
            </a:pPr>
            <a:r>
              <a:rPr sz="1013" b="0">
                <a:solidFill>
                  <a:srgbClr val="0D233A"/>
                </a:solidFill>
              </a:rPr>
              <a:t>except (RequestException, ValueError, KeyError)</a:t>
            </a:r>
          </a:p>
        </p:txBody>
      </p:sp>
      <p:sp>
        <p:nvSpPr>
          <p:cNvPr id="12" name="">
            <a:extLst xmlns:a="http://schemas.openxmlformats.org/drawingml/2006/main">
              <a:ext uri="{FF2B5EF4-FFF2-40B4-BE49-F238E27FC236}">
                <a16:creationId xmlns:a16="http://schemas.microsoft.com/office/drawing/2014/main" id="{A06F7E51-B5EC-4065-B688-79B939108FC1}"/>
              </a:ext>
            </a:extLst>
          </p:cNvPr>
          <p:cNvSpPr>
            <a:spLocks xmlns:a="http://schemas.openxmlformats.org/drawingml/2006/main" noGrp="1"/>
          </p:cNvSpPr>
          <p:nvPr/>
        </p:nvSpPr>
        <p:spPr>
          <a:xfrm xmlns:a="http://schemas.openxmlformats.org/drawingml/2006/main">
            <a:off x="2609850" y="4038600"/>
            <a:ext cx="897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13" b="0">
                <a:solidFill>
                  <a:srgbClr val="5A6B7C"/>
                </a:solidFill>
              </a:defRPr>
            </a:defPPr>
          </a:lstStyle>
          <a:p xmlns:a="http://schemas.openxmlformats.org/drawingml/2006/main">
            <a:pPr>
              <a:lnSpc>
                <a:spcPct val="115000"/>
              </a:lnSpc>
              <a:buNone/>
              <a:defRPr sz="1013" b="0">
                <a:solidFill>
                  <a:srgbClr val="5A6B7C"/>
                </a:solidFill>
              </a:defRPr>
            </a:pPr>
            <a:r>
              <a:rPr sz="1013" b="0">
                <a:solidFill>
                  <a:srgbClr val="5A6B7C"/>
                </a:solidFill>
              </a:rPr>
              <a:t>Se lanza IndicadorNoDisponibleError con el motivo.</a:t>
            </a:r>
          </a:p>
        </p:txBody>
      </p:sp>
      <p:sp>
        <p:nvSpPr>
          <p:cNvPr id="13" name="">
            <a:extLst xmlns:a="http://schemas.openxmlformats.org/drawingml/2006/main">
              <a:ext uri="{FF2B5EF4-FFF2-40B4-BE49-F238E27FC236}">
                <a16:creationId xmlns:a16="http://schemas.microsoft.com/office/drawing/2014/main" id="{C6205EE1-D931-403B-8D11-77E99E909CCC}"/>
              </a:ext>
            </a:extLst>
          </p:cNvPr>
          <p:cNvSpPr>
            <a:spLocks xmlns:a="http://schemas.openxmlformats.org/drawingml/2006/main" noGrp="1"/>
          </p:cNvSpPr>
          <p:nvPr/>
        </p:nvSpPr>
        <p:spPr>
          <a:xfrm xmlns:a="http://schemas.openxmlformats.org/drawingml/2006/main">
            <a:off x="609600" y="47244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0D233A"/>
                </a:solidFill>
              </a:defRPr>
            </a:defPPr>
          </a:lstStyle>
          <a:p xmlns:a="http://schemas.openxmlformats.org/drawingml/2006/main">
            <a:pPr>
              <a:lnSpc>
                <a:spcPct val="115000"/>
              </a:lnSpc>
              <a:buNone/>
              <a:defRPr sz="1200" b="1">
                <a:solidFill>
                  <a:srgbClr val="0D233A"/>
                </a:solidFill>
              </a:defRPr>
            </a:pPr>
            <a:r>
              <a:rPr sz="1200" b="1">
                <a:solidFill>
                  <a:srgbClr val="0D233A"/>
                </a:solidFill>
              </a:rPr>
              <a:t>Continuidad</a:t>
            </a:r>
          </a:p>
        </p:txBody>
      </p:sp>
      <p:sp>
        <p:nvSpPr>
          <p:cNvPr id="14" name="">
            <a:extLst xmlns:a="http://schemas.openxmlformats.org/drawingml/2006/main">
              <a:ext uri="{FF2B5EF4-FFF2-40B4-BE49-F238E27FC236}">
                <a16:creationId xmlns:a16="http://schemas.microsoft.com/office/drawing/2014/main" id="{4B7A386C-DEC5-4E86-96F5-86A0B017AB5A}"/>
              </a:ext>
            </a:extLst>
          </p:cNvPr>
          <p:cNvSpPr>
            <a:spLocks xmlns:a="http://schemas.openxmlformats.org/drawingml/2006/main" noGrp="1"/>
          </p:cNvSpPr>
          <p:nvPr/>
        </p:nvSpPr>
        <p:spPr>
          <a:xfrm xmlns:a="http://schemas.openxmlformats.org/drawingml/2006/main">
            <a:off x="2609850" y="4686300"/>
            <a:ext cx="8972550" cy="323850"/>
          </a:xfrm>
          <a:prstGeom xmlns:a="http://schemas.openxmlformats.org/drawingml/2006/main" prst="rect">
            <a:avLst/>
          </a:prstGeom>
          <a:solidFill xmlns:a="http://schemas.openxmlformats.org/drawingml/2006/main">
            <a:srgbClr val="F2F5F9"/>
          </a:solidFill>
          <a:ln xmlns:a="http://schemas.openxmlformats.org/drawingml/2006/main" w="0">
            <a:noFill/>
            <a:prstDash val="solid"/>
          </a:ln>
        </p:spPr>
        <p:txBody>
          <a:bodyPr xmlns:a="http://schemas.openxmlformats.org/drawingml/2006/main"/>
          <a:lstStyle xmlns:a="http://schemas.openxmlformats.org/drawingml/2006/main">
            <a:defPPr>
              <a:defRPr sz="1013" b="0">
                <a:solidFill>
                  <a:srgbClr val="0D233A"/>
                </a:solidFill>
              </a:defRPr>
            </a:defPPr>
          </a:lstStyle>
          <a:p xmlns:a="http://schemas.openxmlformats.org/drawingml/2006/main">
            <a:pPr>
              <a:lnSpc>
                <a:spcPct val="115000"/>
              </a:lnSpc>
              <a:buNone/>
              <a:defRPr sz="1013" b="0">
                <a:solidFill>
                  <a:srgbClr val="0D233A"/>
                </a:solidFill>
              </a:defRPr>
            </a:pPr>
            <a:r>
              <a:rPr sz="1013" b="0">
                <a:solidFill>
                  <a:srgbClr val="0D233A"/>
                </a:solidFill>
              </a:rPr>
              <a:t>ultimo_valor_conocido()</a:t>
            </a:r>
          </a:p>
        </p:txBody>
      </p:sp>
      <p:sp>
        <p:nvSpPr>
          <p:cNvPr id="15" name="">
            <a:extLst xmlns:a="http://schemas.openxmlformats.org/drawingml/2006/main">
              <a:ext uri="{FF2B5EF4-FFF2-40B4-BE49-F238E27FC236}">
                <a16:creationId xmlns:a16="http://schemas.microsoft.com/office/drawing/2014/main" id="{59546DEA-007E-474F-9F2E-C18E2B3F7FEF}"/>
              </a:ext>
            </a:extLst>
          </p:cNvPr>
          <p:cNvSpPr>
            <a:spLocks xmlns:a="http://schemas.openxmlformats.org/drawingml/2006/main" noGrp="1"/>
          </p:cNvSpPr>
          <p:nvPr/>
        </p:nvSpPr>
        <p:spPr>
          <a:xfrm xmlns:a="http://schemas.openxmlformats.org/drawingml/2006/main">
            <a:off x="2609850" y="5048250"/>
            <a:ext cx="897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13" b="0">
                <a:solidFill>
                  <a:srgbClr val="5A6B7C"/>
                </a:solidFill>
              </a:defRPr>
            </a:defPPr>
          </a:lstStyle>
          <a:p xmlns:a="http://schemas.openxmlformats.org/drawingml/2006/main">
            <a:pPr>
              <a:lnSpc>
                <a:spcPct val="115000"/>
              </a:lnSpc>
              <a:buNone/>
              <a:defRPr sz="1013" b="0">
                <a:solidFill>
                  <a:srgbClr val="5A6B7C"/>
                </a:solidFill>
              </a:defRPr>
            </a:pPr>
            <a:r>
              <a:rPr sz="1013" b="0">
                <a:solidFill>
                  <a:srgbClr val="5A6B7C"/>
                </a:solidFill>
              </a:rPr>
              <a:t>Se usa el respaldo en datos/dolar_respaldo.json y se avisa al operador.</a:t>
            </a:r>
          </a:p>
        </p:txBody>
      </p:sp>
    </p:spTree>
    <p:extLst>
      <p:ext uri="{BB962C8B-B14F-4D97-AF65-F5344CB8AC3E}">
        <p14:creationId xmlns:p14="http://schemas.microsoft.com/office/powerpoint/2010/main" val="17282119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A6B755-D58D-4CBD-B27D-82AFE6141773}"/>
              </a:ext>
            </a:extLst>
          </p:cNvPr>
          <p:cNvSpPr>
            <a:spLocks xmlns:a="http://schemas.openxmlformats.org/drawingml/2006/main" noGrp="1"/>
          </p:cNvSpPr>
          <p:nvPr/>
        </p:nvSpPr>
        <p:spPr>
          <a:xfrm xmlns:a="http://schemas.openxmlformats.org/drawingml/2006/main">
            <a:off x="609600" y="38100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SEGURIDAD</a:t>
            </a:r>
          </a:p>
        </p:txBody>
      </p:sp>
      <p:sp>
        <p:nvSpPr>
          <p:cNvPr id="2" name="">
            <a:extLst xmlns:a="http://schemas.openxmlformats.org/drawingml/2006/main">
              <a:ext uri="{FF2B5EF4-FFF2-40B4-BE49-F238E27FC236}">
                <a16:creationId xmlns:a16="http://schemas.microsoft.com/office/drawing/2014/main" id="{EDD2734C-930D-4369-9C38-BC4BECDA1BFC}"/>
              </a:ext>
            </a:extLst>
          </p:cNvPr>
          <p:cNvSpPr>
            <a:spLocks xmlns:a="http://schemas.openxmlformats.org/drawingml/2006/main" noGrp="1"/>
          </p:cNvSpPr>
          <p:nvPr/>
        </p:nvSpPr>
        <p:spPr>
          <a:xfrm xmlns:a="http://schemas.openxmlformats.org/drawingml/2006/main">
            <a:off x="609600" y="6096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D233A"/>
                </a:solidFill>
              </a:defRPr>
            </a:defPPr>
          </a:lstStyle>
          <a:p xmlns:a="http://schemas.openxmlformats.org/drawingml/2006/main">
            <a:pPr>
              <a:lnSpc>
                <a:spcPct val="115000"/>
              </a:lnSpc>
              <a:buNone/>
              <a:defRPr sz="2400" b="1">
                <a:solidFill>
                  <a:srgbClr val="0D233A"/>
                </a:solidFill>
              </a:defRPr>
            </a:pPr>
            <a:r>
              <a:rPr sz="2400" b="1">
                <a:solidFill>
                  <a:srgbClr val="0D233A"/>
                </a:solidFill>
              </a:rPr>
              <a:t>Como el codigo protege los datos</a:t>
            </a:r>
          </a:p>
        </p:txBody>
      </p:sp>
      <p:sp>
        <p:nvSpPr>
          <p:cNvPr id="3" name="">
            <a:extLst xmlns:a="http://schemas.openxmlformats.org/drawingml/2006/main">
              <a:ext uri="{FF2B5EF4-FFF2-40B4-BE49-F238E27FC236}">
                <a16:creationId xmlns:a16="http://schemas.microsoft.com/office/drawing/2014/main" id="{F1529EAE-7C6A-4FAF-83B5-6F3E874BB4DC}"/>
              </a:ext>
            </a:extLst>
          </p:cNvPr>
          <p:cNvSpPr>
            <a:spLocks xmlns:a="http://schemas.openxmlformats.org/drawingml/2006/main" noGrp="1"/>
          </p:cNvSpPr>
          <p:nvPr/>
        </p:nvSpPr>
        <p:spPr>
          <a:xfrm xmlns:a="http://schemas.openxmlformats.org/drawingml/2006/main">
            <a:off x="609600" y="10477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Cada mecanismo evita un riesgo concreto</a:t>
            </a:r>
          </a:p>
        </p:txBody>
      </p:sp>
      <p:graphicFrame>
        <p:nvGraphicFramePr>
          <p:cNvPr id="4" name="">
            <a:extLst xmlns:a="http://schemas.openxmlformats.org/drawingml/2006/main">
              <a:ext uri="{FF2B5EF4-FFF2-40B4-BE49-F238E27FC236}">
                <a16:creationId xmlns:a16="http://schemas.microsoft.com/office/drawing/2014/main" id="{EC45A721-7990-4C46-8869-2D2F1D449D66}"/>
              </a:ext>
            </a:extLst>
          </p:cNvPr>
          <p:cNvGraphicFramePr/>
          <p:nvPr/>
        </p:nvGraphicFramePr>
        <p:xfrm>
          <a:off xmlns:a="http://schemas.openxmlformats.org/drawingml/2006/main" x="609600" y="1638300"/>
          <a:ext xmlns:a="http://schemas.openxmlformats.org/drawingml/2006/main" cx="10972800" cy="4114800"/>
        </p:xfrm>
        <a:graphic xmlns:a="http://schemas.openxmlformats.org/drawingml/2006/main">
          <a:graphicData uri="http://schemas.openxmlformats.org/drawingml/2006/table">
            <a:tbl>
              <a:tblPr/>
              <a:tblGrid>
                <a:gridCol w="2593571"/>
                <a:gridCol w="3391593"/>
                <a:gridCol w="4987636"/>
              </a:tblGrid>
              <a:tr h="587829">
                <a:tc>
                  <a:txBody>
                    <a:bodyPr/>
                    <a:lstStyle/>
                    <a:p>
                      <a:r>
                        <a:rPr sz="1013" b="1">
                          <a:solidFill>
                            <a:srgbClr val="FFFFFF"/>
                          </a:solidFill>
                        </a:rPr>
                        <a:t>Mecanismo</a:t>
                      </a:r>
                    </a:p>
                  </a:txBody>
                  <a:tcPr marL="91440" marR="91440" marT="45720" marB="45720">
                    <a:solidFill>
                      <a:srgbClr val="0D233A"/>
                    </a:solidFill>
                  </a:tcPr>
                </a:tc>
                <a:tc>
                  <a:txBody>
                    <a:bodyPr/>
                    <a:lstStyle/>
                    <a:p>
                      <a:r>
                        <a:rPr sz="1013" b="1">
                          <a:solidFill>
                            <a:srgbClr val="FFFFFF"/>
                          </a:solidFill>
                        </a:rPr>
                        <a:t>Donde esta</a:t>
                      </a:r>
                    </a:p>
                  </a:txBody>
                  <a:tcPr marL="91440" marR="91440" marT="45720" marB="45720">
                    <a:solidFill>
                      <a:srgbClr val="0D233A"/>
                    </a:solidFill>
                  </a:tcPr>
                </a:tc>
                <a:tc>
                  <a:txBody>
                    <a:bodyPr/>
                    <a:lstStyle/>
                    <a:p>
                      <a:r>
                        <a:rPr sz="1013" b="1">
                          <a:solidFill>
                            <a:srgbClr val="FFFFFF"/>
                          </a:solidFill>
                        </a:rPr>
                        <a:t>Riesgo que evita</a:t>
                      </a:r>
                    </a:p>
                  </a:txBody>
                  <a:tcPr marL="91440" marR="91440" marT="45720" marB="45720">
                    <a:solidFill>
                      <a:srgbClr val="0D233A"/>
                    </a:solidFill>
                  </a:tcPr>
                </a:tc>
              </a:tr>
              <a:tr h="587829">
                <a:tc>
                  <a:txBody>
                    <a:bodyPr/>
                    <a:lstStyle/>
                    <a:p>
                      <a:r>
                        <a:rPr sz="975" b="0">
                          <a:solidFill>
                            <a:srgbClr val="1F2933"/>
                          </a:solidFill>
                        </a:rPr>
                        <a:t>Consultas parametrizadas</a:t>
                      </a:r>
                    </a:p>
                  </a:txBody>
                  <a:tcPr marL="91440" marR="91440" marT="45720" marB="45720">
                    <a:solidFill>
                      <a:srgbClr val="FFFFFF"/>
                    </a:solidFill>
                  </a:tcPr>
                </a:tc>
                <a:tc>
                  <a:txBody>
                    <a:bodyPr/>
                    <a:lstStyle/>
                    <a:p>
                      <a:r>
                        <a:rPr sz="975" b="0">
                          <a:solidFill>
                            <a:srgbClr val="1F2933"/>
                          </a:solidFill>
                        </a:rPr>
                        <a:t>dao/conexion.py y todos los DAO</a:t>
                      </a:r>
                    </a:p>
                  </a:txBody>
                  <a:tcPr marL="91440" marR="91440" marT="45720" marB="45720">
                    <a:solidFill>
                      <a:srgbClr val="FFFFFF"/>
                    </a:solidFill>
                  </a:tcPr>
                </a:tc>
                <a:tc>
                  <a:txBody>
                    <a:bodyPr/>
                    <a:lstStyle/>
                    <a:p>
                      <a:r>
                        <a:rPr sz="975" b="0">
                          <a:solidFill>
                            <a:srgbClr val="1F2933"/>
                          </a:solidFill>
                        </a:rPr>
                        <a:t>Inyeccion SQL: el texto del usuario nunca se concatena en la sentencia.</a:t>
                      </a:r>
                    </a:p>
                  </a:txBody>
                  <a:tcPr marL="91440" marR="91440" marT="45720" marB="45720">
                    <a:solidFill>
                      <a:srgbClr val="FFFFFF"/>
                    </a:solidFill>
                  </a:tcPr>
                </a:tc>
              </a:tr>
              <a:tr h="587829">
                <a:tc>
                  <a:txBody>
                    <a:bodyPr/>
                    <a:lstStyle/>
                    <a:p>
                      <a:r>
                        <a:rPr sz="975" b="0">
                          <a:solidFill>
                            <a:srgbClr val="1F2933"/>
                          </a:solidFill>
                        </a:rPr>
                        <a:t>Validacion de entradas</a:t>
                      </a:r>
                    </a:p>
                  </a:txBody>
                  <a:tcPr marL="91440" marR="91440" marT="45720" marB="45720">
                    <a:solidFill>
                      <a:srgbClr val="F2F5F9"/>
                    </a:solidFill>
                  </a:tcPr>
                </a:tc>
                <a:tc>
                  <a:txBody>
                    <a:bodyPr/>
                    <a:lstStyle/>
                    <a:p>
                      <a:r>
                        <a:rPr sz="975" b="0">
                          <a:solidFill>
                            <a:srgbClr val="1F2933"/>
                          </a:solidFill>
                        </a:rPr>
                        <a:t>servicios/validador.py y setters del modelo</a:t>
                      </a:r>
                    </a:p>
                  </a:txBody>
                  <a:tcPr marL="91440" marR="91440" marT="45720" marB="45720">
                    <a:solidFill>
                      <a:srgbClr val="F2F5F9"/>
                    </a:solidFill>
                  </a:tcPr>
                </a:tc>
                <a:tc>
                  <a:txBody>
                    <a:bodyPr/>
                    <a:lstStyle/>
                    <a:p>
                      <a:r>
                        <a:rPr sz="975" b="0">
                          <a:solidFill>
                            <a:srgbClr val="1F2933"/>
                          </a:solidFill>
                        </a:rPr>
                        <a:t>Datos invalidos guardados o programa detenido por un error de tipo.</a:t>
                      </a:r>
                    </a:p>
                  </a:txBody>
                  <a:tcPr marL="91440" marR="91440" marT="45720" marB="45720">
                    <a:solidFill>
                      <a:srgbClr val="F2F5F9"/>
                    </a:solidFill>
                  </a:tcPr>
                </a:tc>
              </a:tr>
              <a:tr h="587829">
                <a:tc>
                  <a:txBody>
                    <a:bodyPr/>
                    <a:lstStyle/>
                    <a:p>
                      <a:r>
                        <a:rPr sz="975" b="0">
                          <a:solidFill>
                            <a:srgbClr val="1F2933"/>
                          </a:solidFill>
                        </a:rPr>
                        <a:t>Tiempo maximo de espera</a:t>
                      </a:r>
                    </a:p>
                  </a:txBody>
                  <a:tcPr marL="91440" marR="91440" marT="45720" marB="45720">
                    <a:solidFill>
                      <a:srgbClr val="FFFFFF"/>
                    </a:solidFill>
                  </a:tcPr>
                </a:tc>
                <a:tc>
                  <a:txBody>
                    <a:bodyPr/>
                    <a:lstStyle/>
                    <a:p>
                      <a:r>
                        <a:rPr sz="975" b="0">
                          <a:solidFill>
                            <a:srgbClr val="1F2933"/>
                          </a:solidFill>
                        </a:rPr>
                        <a:t>indicador_dolar.py (timeout=5)</a:t>
                      </a:r>
                    </a:p>
                  </a:txBody>
                  <a:tcPr marL="91440" marR="91440" marT="45720" marB="45720">
                    <a:solidFill>
                      <a:srgbClr val="FFFFFF"/>
                    </a:solidFill>
                  </a:tcPr>
                </a:tc>
                <a:tc>
                  <a:txBody>
                    <a:bodyPr/>
                    <a:lstStyle/>
                    <a:p>
                      <a:r>
                        <a:rPr sz="975" b="0">
                          <a:solidFill>
                            <a:srgbClr val="1F2933"/>
                          </a:solidFill>
                        </a:rPr>
                        <a:t>Que una API lenta deje el sistema colgado esperando respuesta.</a:t>
                      </a:r>
                    </a:p>
                  </a:txBody>
                  <a:tcPr marL="91440" marR="91440" marT="45720" marB="45720">
                    <a:solidFill>
                      <a:srgbClr val="FFFFFF"/>
                    </a:solidFill>
                  </a:tcPr>
                </a:tc>
              </a:tr>
              <a:tr h="587829">
                <a:tc>
                  <a:txBody>
                    <a:bodyPr/>
                    <a:lstStyle/>
                    <a:p>
                      <a:r>
                        <a:rPr sz="975" b="0">
                          <a:solidFill>
                            <a:srgbClr val="1F2933"/>
                          </a:solidFill>
                        </a:rPr>
                        <a:t>Excepciones propias de negocio</a:t>
                      </a:r>
                    </a:p>
                  </a:txBody>
                  <a:tcPr marL="91440" marR="91440" marT="45720" marB="45720">
                    <a:solidFill>
                      <a:srgbClr val="F2F5F9"/>
                    </a:solidFill>
                  </a:tcPr>
                </a:tc>
                <a:tc>
                  <a:txBody>
                    <a:bodyPr/>
                    <a:lstStyle/>
                    <a:p>
                      <a:r>
                        <a:rPr sz="975" b="0">
                          <a:solidFill>
                            <a:srgbClr val="1F2933"/>
                          </a:solidFill>
                        </a:rPr>
                        <a:t>model/excepciones.py y main.py</a:t>
                      </a:r>
                    </a:p>
                  </a:txBody>
                  <a:tcPr marL="91440" marR="91440" marT="45720" marB="45720">
                    <a:solidFill>
                      <a:srgbClr val="F2F5F9"/>
                    </a:solidFill>
                  </a:tcPr>
                </a:tc>
                <a:tc>
                  <a:txBody>
                    <a:bodyPr/>
                    <a:lstStyle/>
                    <a:p>
                      <a:r>
                        <a:rPr sz="975" b="0">
                          <a:solidFill>
                            <a:srgbClr val="1F2933"/>
                          </a:solidFill>
                        </a:rPr>
                        <a:t>Operaciones inseguras y caidas del programa ante un error esperado.</a:t>
                      </a:r>
                    </a:p>
                  </a:txBody>
                  <a:tcPr marL="91440" marR="91440" marT="45720" marB="45720">
                    <a:solidFill>
                      <a:srgbClr val="F2F5F9"/>
                    </a:solidFill>
                  </a:tcPr>
                </a:tc>
              </a:tr>
              <a:tr h="587829">
                <a:tc>
                  <a:txBody>
                    <a:bodyPr/>
                    <a:lstStyle/>
                    <a:p>
                      <a:r>
                        <a:rPr sz="975" b="0">
                          <a:solidFill>
                            <a:srgbClr val="1F2933"/>
                          </a:solidFill>
                        </a:rPr>
                        <a:t>Contrasena con PBKDF2 y salt</a:t>
                      </a:r>
                    </a:p>
                  </a:txBody>
                  <a:tcPr marL="91440" marR="91440" marT="45720" marB="45720">
                    <a:solidFill>
                      <a:srgbClr val="FFFFFF"/>
                    </a:solidFill>
                  </a:tcPr>
                </a:tc>
                <a:tc>
                  <a:txBody>
                    <a:bodyPr/>
                    <a:lstStyle/>
                    <a:p>
                      <a:r>
                        <a:rPr sz="975" b="0">
                          <a:solidFill>
                            <a:srgbClr val="1F2933"/>
                          </a:solidFill>
                        </a:rPr>
                        <a:t>model/trabajador.py</a:t>
                      </a:r>
                    </a:p>
                  </a:txBody>
                  <a:tcPr marL="91440" marR="91440" marT="45720" marB="45720">
                    <a:solidFill>
                      <a:srgbClr val="FFFFFF"/>
                    </a:solidFill>
                  </a:tcPr>
                </a:tc>
                <a:tc>
                  <a:txBody>
                    <a:bodyPr/>
                    <a:lstStyle/>
                    <a:p>
                      <a:r>
                        <a:rPr sz="975" b="0">
                          <a:solidFill>
                            <a:srgbClr val="1F2933"/>
                          </a:solidFill>
                        </a:rPr>
                        <a:t>Lectura de contrasenas si alguien obtiene el archivo de la base de datos.</a:t>
                      </a:r>
                    </a:p>
                  </a:txBody>
                  <a:tcPr marL="91440" marR="91440" marT="45720" marB="45720">
                    <a:solidFill>
                      <a:srgbClr val="FFFFFF"/>
                    </a:solidFill>
                  </a:tcPr>
                </a:tc>
              </a:tr>
              <a:tr h="587829">
                <a:tc>
                  <a:txBody>
                    <a:bodyPr/>
                    <a:lstStyle/>
                    <a:p>
                      <a:r>
                        <a:rPr sz="975" b="0">
                          <a:solidFill>
                            <a:srgbClr val="1F2933"/>
                          </a:solidFill>
                        </a:rPr>
                        <a:t>Control de acceso por rol</a:t>
                      </a:r>
                    </a:p>
                  </a:txBody>
                  <a:tcPr marL="91440" marR="91440" marT="45720" marB="45720">
                    <a:solidFill>
                      <a:srgbClr val="F2F5F9"/>
                    </a:solidFill>
                  </a:tcPr>
                </a:tc>
                <a:tc>
                  <a:txBody>
                    <a:bodyPr/>
                    <a:lstStyle/>
                    <a:p>
                      <a:r>
                        <a:rPr sz="975" b="0">
                          <a:solidFill>
                            <a:srgbClr val="1F2933"/>
                          </a:solidFill>
                        </a:rPr>
                        <a:t>encargado_bodega.py y administrador.py</a:t>
                      </a:r>
                    </a:p>
                  </a:txBody>
                  <a:tcPr marL="91440" marR="91440" marT="45720" marB="45720">
                    <a:solidFill>
                      <a:srgbClr val="F2F5F9"/>
                    </a:solidFill>
                  </a:tcPr>
                </a:tc>
                <a:tc>
                  <a:txBody>
                    <a:bodyPr/>
                    <a:lstStyle/>
                    <a:p>
                      <a:r>
                        <a:rPr sz="975" b="0">
                          <a:solidFill>
                            <a:srgbClr val="1F2933"/>
                          </a:solidFill>
                        </a:rPr>
                        <a:t>Que un rol sin autorizacion modifique precios o catalogo.</a:t>
                      </a:r>
                    </a:p>
                  </a:txBody>
                  <a:tcPr marL="91440" marR="91440" marT="45720" marB="45720">
                    <a:solidFill>
                      <a:srgbClr val="F2F5F9"/>
                    </a:solidFill>
                  </a:tcPr>
                </a:tc>
              </a:tr>
            </a:tbl>
          </a:graphicData>
        </a:graphic>
      </p:graphicFrame>
    </p:spTree>
    <p:extLst>
      <p:ext uri="{BB962C8B-B14F-4D97-AF65-F5344CB8AC3E}">
        <p14:creationId xmlns:p14="http://schemas.microsoft.com/office/powerpoint/2010/main" val="112627123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199E01-4F76-46A3-B02B-92B7EA83CAF1}"/>
              </a:ext>
            </a:extLst>
          </p:cNvPr>
          <p:cNvSpPr>
            <a:spLocks xmlns:a="http://schemas.openxmlformats.org/drawingml/2006/main" noGrp="1"/>
          </p:cNvSpPr>
          <p:nvPr/>
        </p:nvSpPr>
        <p:spPr>
          <a:xfrm xmlns:a="http://schemas.openxmlformats.org/drawingml/2006/main">
            <a:off x="609600" y="38100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RETROALIMENTACION ES2</a:t>
            </a:r>
          </a:p>
        </p:txBody>
      </p:sp>
      <p:sp>
        <p:nvSpPr>
          <p:cNvPr id="2" name="">
            <a:extLst xmlns:a="http://schemas.openxmlformats.org/drawingml/2006/main">
              <a:ext uri="{FF2B5EF4-FFF2-40B4-BE49-F238E27FC236}">
                <a16:creationId xmlns:a16="http://schemas.microsoft.com/office/drawing/2014/main" id="{FA6017B2-E01C-4888-9761-EC78762B356F}"/>
              </a:ext>
            </a:extLst>
          </p:cNvPr>
          <p:cNvSpPr>
            <a:spLocks xmlns:a="http://schemas.openxmlformats.org/drawingml/2006/main" noGrp="1"/>
          </p:cNvSpPr>
          <p:nvPr/>
        </p:nvSpPr>
        <p:spPr>
          <a:xfrm xmlns:a="http://schemas.openxmlformats.org/drawingml/2006/main">
            <a:off x="609600" y="6096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D233A"/>
                </a:solidFill>
              </a:defRPr>
            </a:defPPr>
          </a:lstStyle>
          <a:p xmlns:a="http://schemas.openxmlformats.org/drawingml/2006/main">
            <a:pPr>
              <a:lnSpc>
                <a:spcPct val="115000"/>
              </a:lnSpc>
              <a:buNone/>
              <a:defRPr sz="2400" b="1">
                <a:solidFill>
                  <a:srgbClr val="0D233A"/>
                </a:solidFill>
              </a:defRPr>
            </a:pPr>
            <a:r>
              <a:rPr sz="2400" b="1">
                <a:solidFill>
                  <a:srgbClr val="0D233A"/>
                </a:solidFill>
              </a:rPr>
              <a:t>Que cambio en el codigo despues de la evaluacion anterior</a:t>
            </a:r>
          </a:p>
        </p:txBody>
      </p:sp>
      <p:sp>
        <p:nvSpPr>
          <p:cNvPr id="3" name="">
            <a:extLst xmlns:a="http://schemas.openxmlformats.org/drawingml/2006/main">
              <a:ext uri="{FF2B5EF4-FFF2-40B4-BE49-F238E27FC236}">
                <a16:creationId xmlns:a16="http://schemas.microsoft.com/office/drawing/2014/main" id="{69A783BC-405E-4D5E-81B2-DE361F744DA9}"/>
              </a:ext>
            </a:extLst>
          </p:cNvPr>
          <p:cNvSpPr>
            <a:spLocks xmlns:a="http://schemas.openxmlformats.org/drawingml/2006/main" noGrp="1"/>
          </p:cNvSpPr>
          <p:nvPr/>
        </p:nvSpPr>
        <p:spPr>
          <a:xfrm xmlns:a="http://schemas.openxmlformats.org/drawingml/2006/main">
            <a:off x="609600" y="10477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Los seis cambios y donde se ven</a:t>
            </a:r>
          </a:p>
        </p:txBody>
      </p:sp>
      <p:graphicFrame>
        <p:nvGraphicFramePr>
          <p:cNvPr id="4" name="">
            <a:extLst xmlns:a="http://schemas.openxmlformats.org/drawingml/2006/main">
              <a:ext uri="{FF2B5EF4-FFF2-40B4-BE49-F238E27FC236}">
                <a16:creationId xmlns:a16="http://schemas.microsoft.com/office/drawing/2014/main" id="{42300918-BA2C-4DE8-938B-68EAF87953DD}"/>
              </a:ext>
            </a:extLst>
          </p:cNvPr>
          <p:cNvGraphicFramePr/>
          <p:nvPr/>
        </p:nvGraphicFramePr>
        <p:xfrm>
          <a:off xmlns:a="http://schemas.openxmlformats.org/drawingml/2006/main" x="609600" y="1638300"/>
          <a:ext xmlns:a="http://schemas.openxmlformats.org/drawingml/2006/main" cx="10972800" cy="4248150"/>
        </p:xfrm>
        <a:graphic xmlns:a="http://schemas.openxmlformats.org/drawingml/2006/main">
          <a:graphicData uri="http://schemas.openxmlformats.org/drawingml/2006/table">
            <a:tbl>
              <a:tblPr/>
              <a:tblGrid>
                <a:gridCol w="3840480"/>
                <a:gridCol w="4754880"/>
                <a:gridCol w="2377440"/>
              </a:tblGrid>
              <a:tr h="606879">
                <a:tc>
                  <a:txBody>
                    <a:bodyPr/>
                    <a:lstStyle/>
                    <a:p>
                      <a:r>
                        <a:rPr sz="1013" b="1">
                          <a:solidFill>
                            <a:srgbClr val="FFFFFF"/>
                          </a:solidFill>
                        </a:rPr>
                        <a:t>Observacion recibida</a:t>
                      </a:r>
                    </a:p>
                  </a:txBody>
                  <a:tcPr marL="91440" marR="91440" marT="45720" marB="45720">
                    <a:solidFill>
                      <a:srgbClr val="0D233A"/>
                    </a:solidFill>
                  </a:tcPr>
                </a:tc>
                <a:tc>
                  <a:txBody>
                    <a:bodyPr/>
                    <a:lstStyle/>
                    <a:p>
                      <a:r>
                        <a:rPr sz="1013" b="1">
                          <a:solidFill>
                            <a:srgbClr val="FFFFFF"/>
                          </a:solidFill>
                        </a:rPr>
                        <a:t>Cambio realizado</a:t>
                      </a:r>
                    </a:p>
                  </a:txBody>
                  <a:tcPr marL="91440" marR="91440" marT="45720" marB="45720">
                    <a:solidFill>
                      <a:srgbClr val="0D233A"/>
                    </a:solidFill>
                  </a:tcPr>
                </a:tc>
                <a:tc>
                  <a:txBody>
                    <a:bodyPr/>
                    <a:lstStyle/>
                    <a:p>
                      <a:r>
                        <a:rPr sz="1013" b="1">
                          <a:solidFill>
                            <a:srgbClr val="FFFFFF"/>
                          </a:solidFill>
                        </a:rPr>
                        <a:t>Donde se ve</a:t>
                      </a:r>
                    </a:p>
                  </a:txBody>
                  <a:tcPr marL="91440" marR="91440" marT="45720" marB="45720">
                    <a:solidFill>
                      <a:srgbClr val="0D233A"/>
                    </a:solidFill>
                  </a:tcPr>
                </a:tc>
              </a:tr>
              <a:tr h="606879">
                <a:tc>
                  <a:txBody>
                    <a:bodyPr/>
                    <a:lstStyle/>
                    <a:p>
                      <a:r>
                        <a:rPr sz="975" b="0">
                          <a:solidFill>
                            <a:srgbClr val="1F2933"/>
                          </a:solidFill>
                        </a:rPr>
                        <a:t>Habia que escribir el codigo de productos y clientes</a:t>
                      </a:r>
                    </a:p>
                  </a:txBody>
                  <a:tcPr marL="91440" marR="91440" marT="45720" marB="45720">
                    <a:solidFill>
                      <a:srgbClr val="FFFFFF"/>
                    </a:solidFill>
                  </a:tcPr>
                </a:tc>
                <a:tc>
                  <a:txBody>
                    <a:bodyPr/>
                    <a:lstStyle/>
                    <a:p>
                      <a:r>
                        <a:rPr sz="975" b="0">
                          <a:solidFill>
                            <a:srgbClr val="1F2933"/>
                          </a:solidFill>
                        </a:rPr>
                        <a:t>El sistema los genera: C01, F01, D01, S01, E01</a:t>
                      </a:r>
                    </a:p>
                  </a:txBody>
                  <a:tcPr marL="91440" marR="91440" marT="45720" marB="45720">
                    <a:solidFill>
                      <a:srgbClr val="FFFFFF"/>
                    </a:solidFill>
                  </a:tcPr>
                </a:tc>
                <a:tc>
                  <a:txBody>
                    <a:bodyPr/>
                    <a:lstStyle/>
                    <a:p>
                      <a:r>
                        <a:rPr sz="975" b="0">
                          <a:solidFill>
                            <a:srgbClr val="1F2933"/>
                          </a:solidFill>
                        </a:rPr>
                        <a:t>servicios/codigos.py</a:t>
                      </a:r>
                    </a:p>
                  </a:txBody>
                  <a:tcPr marL="91440" marR="91440" marT="45720" marB="45720">
                    <a:solidFill>
                      <a:srgbClr val="FFFFFF"/>
                    </a:solidFill>
                  </a:tcPr>
                </a:tc>
              </a:tr>
              <a:tr h="606879">
                <a:tc>
                  <a:txBody>
                    <a:bodyPr/>
                    <a:lstStyle/>
                    <a:p>
                      <a:r>
                        <a:rPr sz="975" b="0">
                          <a:solidFill>
                            <a:srgbClr val="1F2933"/>
                          </a:solidFill>
                        </a:rPr>
                        <a:t>Era incomodo operar escribiendo codigos</a:t>
                      </a:r>
                    </a:p>
                  </a:txBody>
                  <a:tcPr marL="91440" marR="91440" marT="45720" marB="45720">
                    <a:solidFill>
                      <a:srgbClr val="F2F5F9"/>
                    </a:solidFill>
                  </a:tcPr>
                </a:tc>
                <a:tc>
                  <a:txBody>
                    <a:bodyPr/>
                    <a:lstStyle/>
                    <a:p>
                      <a:r>
                        <a:rPr sz="975" b="0">
                          <a:solidFill>
                            <a:srgbClr val="1F2933"/>
                          </a:solidFill>
                        </a:rPr>
                        <a:t>Listas numeradas: se elige con el numero, o con 0 se cancela</a:t>
                      </a:r>
                    </a:p>
                  </a:txBody>
                  <a:tcPr marL="91440" marR="91440" marT="45720" marB="45720">
                    <a:solidFill>
                      <a:srgbClr val="F2F5F9"/>
                    </a:solidFill>
                  </a:tcPr>
                </a:tc>
                <a:tc>
                  <a:txBody>
                    <a:bodyPr/>
                    <a:lstStyle/>
                    <a:p>
                      <a:r>
                        <a:rPr sz="975" b="0">
                          <a:solidFill>
                            <a:srgbClr val="1F2933"/>
                          </a:solidFill>
                        </a:rPr>
                        <a:t>servicios/consola.py</a:t>
                      </a:r>
                    </a:p>
                  </a:txBody>
                  <a:tcPr marL="91440" marR="91440" marT="45720" marB="45720">
                    <a:solidFill>
                      <a:srgbClr val="F2F5F9"/>
                    </a:solidFill>
                  </a:tcPr>
                </a:tc>
              </a:tr>
              <a:tr h="606879">
                <a:tc>
                  <a:txBody>
                    <a:bodyPr/>
                    <a:lstStyle/>
                    <a:p>
                      <a:r>
                        <a:rPr sz="975" b="0">
                          <a:solidFill>
                            <a:srgbClr val="1F2933"/>
                          </a:solidFill>
                        </a:rPr>
                        <a:t>No se sabia en que paso iba el registro</a:t>
                      </a:r>
                    </a:p>
                  </a:txBody>
                  <a:tcPr marL="91440" marR="91440" marT="45720" marB="45720">
                    <a:solidFill>
                      <a:srgbClr val="FFFFFF"/>
                    </a:solidFill>
                  </a:tcPr>
                </a:tc>
                <a:tc>
                  <a:txBody>
                    <a:bodyPr/>
                    <a:lstStyle/>
                    <a:p>
                      <a:r>
                        <a:rPr sz="975" b="0">
                          <a:solidFill>
                            <a:srgbClr val="1F2933"/>
                          </a:solidFill>
                        </a:rPr>
                        <a:t>Formularios con contador [1/7] y panel de resumen</a:t>
                      </a:r>
                    </a:p>
                  </a:txBody>
                  <a:tcPr marL="91440" marR="91440" marT="45720" marB="45720">
                    <a:solidFill>
                      <a:srgbClr val="FFFFFF"/>
                    </a:solidFill>
                  </a:tcPr>
                </a:tc>
                <a:tc>
                  <a:txBody>
                    <a:bodyPr/>
                    <a:lstStyle/>
                    <a:p>
                      <a:r>
                        <a:rPr sz="975" b="0">
                          <a:solidFill>
                            <a:srgbClr val="1F2933"/>
                          </a:solidFill>
                        </a:rPr>
                        <a:t>main.py</a:t>
                      </a:r>
                    </a:p>
                  </a:txBody>
                  <a:tcPr marL="91440" marR="91440" marT="45720" marB="45720">
                    <a:solidFill>
                      <a:srgbClr val="FFFFFF"/>
                    </a:solidFill>
                  </a:tcPr>
                </a:tc>
              </a:tr>
              <a:tr h="606879">
                <a:tc>
                  <a:txBody>
                    <a:bodyPr/>
                    <a:lstStyle/>
                    <a:p>
                      <a:r>
                        <a:rPr sz="975" b="0">
                          <a:solidFill>
                            <a:srgbClr val="1F2933"/>
                          </a:solidFill>
                        </a:rPr>
                        <a:t>Las listas eran texto suelto</a:t>
                      </a:r>
                    </a:p>
                  </a:txBody>
                  <a:tcPr marL="91440" marR="91440" marT="45720" marB="45720">
                    <a:solidFill>
                      <a:srgbClr val="F2F5F9"/>
                    </a:solidFill>
                  </a:tcPr>
                </a:tc>
                <a:tc>
                  <a:txBody>
                    <a:bodyPr/>
                    <a:lstStyle/>
                    <a:p>
                      <a:r>
                        <a:rPr sz="975" b="0">
                          <a:solidFill>
                            <a:srgbClr val="1F2933"/>
                          </a:solidFill>
                        </a:rPr>
                        <a:t>Tablas con encabezado y columnas alineadas</a:t>
                      </a:r>
                    </a:p>
                  </a:txBody>
                  <a:tcPr marL="91440" marR="91440" marT="45720" marB="45720">
                    <a:solidFill>
                      <a:srgbClr val="F2F5F9"/>
                    </a:solidFill>
                  </a:tcPr>
                </a:tc>
                <a:tc>
                  <a:txBody>
                    <a:bodyPr/>
                    <a:lstStyle/>
                    <a:p>
                      <a:r>
                        <a:rPr sz="975" b="0">
                          <a:solidFill>
                            <a:srgbClr val="1F2933"/>
                          </a:solidFill>
                        </a:rPr>
                        <a:t>servicios/consola.py</a:t>
                      </a:r>
                    </a:p>
                  </a:txBody>
                  <a:tcPr marL="91440" marR="91440" marT="45720" marB="45720">
                    <a:solidFill>
                      <a:srgbClr val="F2F5F9"/>
                    </a:solidFill>
                  </a:tcPr>
                </a:tc>
              </a:tr>
              <a:tr h="606879">
                <a:tc>
                  <a:txBody>
                    <a:bodyPr/>
                    <a:lstStyle/>
                    <a:p>
                      <a:r>
                        <a:rPr sz="975" b="0">
                          <a:solidFill>
                            <a:srgbClr val="1F2933"/>
                          </a:solidFill>
                        </a:rPr>
                        <a:t>Los mensajes se veian todos iguales</a:t>
                      </a:r>
                    </a:p>
                  </a:txBody>
                  <a:tcPr marL="91440" marR="91440" marT="45720" marB="45720">
                    <a:solidFill>
                      <a:srgbClr val="FFFFFF"/>
                    </a:solidFill>
                  </a:tcPr>
                </a:tc>
                <a:tc>
                  <a:txBody>
                    <a:bodyPr/>
                    <a:lstStyle/>
                    <a:p>
                      <a:r>
                        <a:rPr sz="975" b="0">
                          <a:solidFill>
                            <a:srgbClr val="1F2933"/>
                          </a:solidFill>
                        </a:rPr>
                        <a:t>[OK], [!], [i] y [X], con color en terminal</a:t>
                      </a:r>
                    </a:p>
                  </a:txBody>
                  <a:tcPr marL="91440" marR="91440" marT="45720" marB="45720">
                    <a:solidFill>
                      <a:srgbClr val="FFFFFF"/>
                    </a:solidFill>
                  </a:tcPr>
                </a:tc>
                <a:tc>
                  <a:txBody>
                    <a:bodyPr/>
                    <a:lstStyle/>
                    <a:p>
                      <a:r>
                        <a:rPr sz="975" b="0">
                          <a:solidFill>
                            <a:srgbClr val="1F2933"/>
                          </a:solidFill>
                        </a:rPr>
                        <a:t>servicios/consola.py</a:t>
                      </a:r>
                    </a:p>
                  </a:txBody>
                  <a:tcPr marL="91440" marR="91440" marT="45720" marB="45720">
                    <a:solidFill>
                      <a:srgbClr val="FFFFFF"/>
                    </a:solidFill>
                  </a:tcPr>
                </a:tc>
              </a:tr>
              <a:tr h="606879">
                <a:tc>
                  <a:txBody>
                    <a:bodyPr/>
                    <a:lstStyle/>
                    <a:p>
                      <a:r>
                        <a:rPr sz="975" b="0">
                          <a:solidFill>
                            <a:srgbClr val="1F2933"/>
                          </a:solidFill>
                        </a:rPr>
                        <a:t>El menu no explicaba cada opcion</a:t>
                      </a:r>
                    </a:p>
                  </a:txBody>
                  <a:tcPr marL="91440" marR="91440" marT="45720" marB="45720">
                    <a:solidFill>
                      <a:srgbClr val="F2F5F9"/>
                    </a:solidFill>
                  </a:tcPr>
                </a:tc>
                <a:tc>
                  <a:txBody>
                    <a:bodyPr/>
                    <a:lstStyle/>
                    <a:p>
                      <a:r>
                        <a:rPr sz="975" b="0">
                          <a:solidFill>
                            <a:srgbClr val="1F2933"/>
                          </a:solidFill>
                        </a:rPr>
                        <a:t>Descripcion breve por opcion y operador activo</a:t>
                      </a:r>
                    </a:p>
                  </a:txBody>
                  <a:tcPr marL="91440" marR="91440" marT="45720" marB="45720">
                    <a:solidFill>
                      <a:srgbClr val="F2F5F9"/>
                    </a:solidFill>
                  </a:tcPr>
                </a:tc>
                <a:tc>
                  <a:txBody>
                    <a:bodyPr/>
                    <a:lstStyle/>
                    <a:p>
                      <a:r>
                        <a:rPr sz="975" b="0">
                          <a:solidFill>
                            <a:srgbClr val="1F2933"/>
                          </a:solidFill>
                        </a:rPr>
                        <a:t>main.py</a:t>
                      </a:r>
                    </a:p>
                  </a:txBody>
                  <a:tcPr marL="91440" marR="91440" marT="45720" marB="45720">
                    <a:solidFill>
                      <a:srgbClr val="F2F5F9"/>
                    </a:solidFill>
                  </a:tcPr>
                </a:tc>
              </a:tr>
            </a:tbl>
          </a:graphicData>
        </a:graphic>
      </p:graphicFrame>
    </p:spTree>
    <p:extLst>
      <p:ext uri="{BB962C8B-B14F-4D97-AF65-F5344CB8AC3E}">
        <p14:creationId xmlns:p14="http://schemas.microsoft.com/office/powerpoint/2010/main" val="4766274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94CF37-5E59-4BCB-982C-611F53FAF36A}"/>
              </a:ext>
            </a:extLst>
          </p:cNvPr>
          <p:cNvSpPr>
            <a:spLocks xmlns:a="http://schemas.openxmlformats.org/drawingml/2006/main" noGrp="1"/>
          </p:cNvSpPr>
          <p:nvPr/>
        </p:nvSpPr>
        <p:spPr>
          <a:xfrm xmlns:a="http://schemas.openxmlformats.org/drawingml/2006/main">
            <a:off x="609600" y="38100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MEJORA PRINCIPAL</a:t>
            </a:r>
          </a:p>
        </p:txBody>
      </p:sp>
      <p:sp>
        <p:nvSpPr>
          <p:cNvPr id="2" name="">
            <a:extLst xmlns:a="http://schemas.openxmlformats.org/drawingml/2006/main">
              <a:ext uri="{FF2B5EF4-FFF2-40B4-BE49-F238E27FC236}">
                <a16:creationId xmlns:a16="http://schemas.microsoft.com/office/drawing/2014/main" id="{497062E9-DAFF-4DD5-88B2-BC91A68B32F5}"/>
              </a:ext>
            </a:extLst>
          </p:cNvPr>
          <p:cNvSpPr>
            <a:spLocks xmlns:a="http://schemas.openxmlformats.org/drawingml/2006/main" noGrp="1"/>
          </p:cNvSpPr>
          <p:nvPr/>
        </p:nvSpPr>
        <p:spPr>
          <a:xfrm xmlns:a="http://schemas.openxmlformats.org/drawingml/2006/main">
            <a:off x="609600" y="6096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D233A"/>
                </a:solidFill>
              </a:defRPr>
            </a:defPPr>
          </a:lstStyle>
          <a:p xmlns:a="http://schemas.openxmlformats.org/drawingml/2006/main">
            <a:pPr>
              <a:lnSpc>
                <a:spcPct val="115000"/>
              </a:lnSpc>
              <a:buNone/>
              <a:defRPr sz="2400" b="1">
                <a:solidFill>
                  <a:srgbClr val="0D233A"/>
                </a:solidFill>
              </a:defRPr>
            </a:pPr>
            <a:r>
              <a:rPr sz="2400" b="1">
                <a:solidFill>
                  <a:srgbClr val="0D233A"/>
                </a:solidFill>
              </a:rPr>
              <a:t>Los codigos ya no se escriben: los asigna el sistema</a:t>
            </a:r>
          </a:p>
        </p:txBody>
      </p:sp>
      <p:sp>
        <p:nvSpPr>
          <p:cNvPr id="3" name="">
            <a:extLst xmlns:a="http://schemas.openxmlformats.org/drawingml/2006/main">
              <a:ext uri="{FF2B5EF4-FFF2-40B4-BE49-F238E27FC236}">
                <a16:creationId xmlns:a16="http://schemas.microsoft.com/office/drawing/2014/main" id="{52E1B1AD-8AC7-4C34-94FF-A60A1D89442B}"/>
              </a:ext>
            </a:extLst>
          </p:cNvPr>
          <p:cNvSpPr>
            <a:spLocks xmlns:a="http://schemas.openxmlformats.org/drawingml/2006/main" noGrp="1"/>
          </p:cNvSpPr>
          <p:nvPr/>
        </p:nvSpPr>
        <p:spPr>
          <a:xfrm xmlns:a="http://schemas.openxmlformats.org/drawingml/2006/main">
            <a:off x="609600" y="10477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servicios/codigos.py - clase GeneradorCodigos</a:t>
            </a:r>
          </a:p>
        </p:txBody>
      </p:sp>
      <p:sp>
        <p:nvSpPr>
          <p:cNvPr id="4" name="">
            <a:extLst xmlns:a="http://schemas.openxmlformats.org/drawingml/2006/main">
              <a:ext uri="{FF2B5EF4-FFF2-40B4-BE49-F238E27FC236}">
                <a16:creationId xmlns:a16="http://schemas.microsoft.com/office/drawing/2014/main" id="{4217A2F4-E439-4EF3-B8D5-6D4E2F6347F8}"/>
              </a:ext>
            </a:extLst>
          </p:cNvPr>
          <p:cNvSpPr>
            <a:spLocks xmlns:a="http://schemas.openxmlformats.org/drawingml/2006/main" noGrp="1"/>
          </p:cNvSpPr>
          <p:nvPr/>
        </p:nvSpPr>
        <p:spPr>
          <a:xfrm xmlns:a="http://schemas.openxmlformats.org/drawingml/2006/main">
            <a:off x="609600" y="1638300"/>
            <a:ext cx="5295900" cy="1809750"/>
          </a:xfrm>
          <a:prstGeom xmlns:a="http://schemas.openxmlformats.org/drawingml/2006/main" prst="roundRect">
            <a:avLst>
              <a:gd name="adj" fmla="val 4211"/>
            </a:avLst>
          </a:prstGeom>
          <a:solidFill xmlns:a="http://schemas.openxmlformats.org/drawingml/2006/main">
            <a:srgbClr val="FBECEA"/>
          </a:solidFill>
          <a:ln xmlns:a="http://schemas.openxmlformats.org/drawingml/2006/main" w="14288">
            <a:solidFill>
              <a:srgbClr val="D63426"/>
            </a:solidFill>
            <a:prstDash val="solid"/>
          </a:ln>
        </p:spPr>
      </p:sp>
      <p:sp>
        <p:nvSpPr>
          <p:cNvPr id="5" name="">
            <a:extLst xmlns:a="http://schemas.openxmlformats.org/drawingml/2006/main">
              <a:ext uri="{FF2B5EF4-FFF2-40B4-BE49-F238E27FC236}">
                <a16:creationId xmlns:a16="http://schemas.microsoft.com/office/drawing/2014/main" id="{33ABBEA7-15E1-4BC1-ADAE-60747CE7006D}"/>
              </a:ext>
            </a:extLst>
          </p:cNvPr>
          <p:cNvSpPr>
            <a:spLocks xmlns:a="http://schemas.openxmlformats.org/drawingml/2006/main" noGrp="1"/>
          </p:cNvSpPr>
          <p:nvPr/>
        </p:nvSpPr>
        <p:spPr>
          <a:xfrm xmlns:a="http://schemas.openxmlformats.org/drawingml/2006/main">
            <a:off x="838200" y="18097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D63426"/>
                </a:solidFill>
              </a:defRPr>
            </a:defPPr>
          </a:lstStyle>
          <a:p xmlns:a="http://schemas.openxmlformats.org/drawingml/2006/main">
            <a:pPr>
              <a:lnSpc>
                <a:spcPct val="115000"/>
              </a:lnSpc>
              <a:buNone/>
              <a:defRPr sz="1350" b="1">
                <a:solidFill>
                  <a:srgbClr val="D63426"/>
                </a:solidFill>
              </a:defRPr>
            </a:pPr>
            <a:r>
              <a:rPr sz="1350" b="1">
                <a:solidFill>
                  <a:srgbClr val="D63426"/>
                </a:solidFill>
              </a:rPr>
              <a:t>Antes</a:t>
            </a:r>
          </a:p>
        </p:txBody>
      </p:sp>
      <p:sp>
        <p:nvSpPr>
          <p:cNvPr id="6" name="">
            <a:extLst xmlns:a="http://schemas.openxmlformats.org/drawingml/2006/main">
              <a:ext uri="{FF2B5EF4-FFF2-40B4-BE49-F238E27FC236}">
                <a16:creationId xmlns:a16="http://schemas.microsoft.com/office/drawing/2014/main" id="{A945445A-7B3E-4C5F-8232-AE5E7824EA1A}"/>
              </a:ext>
            </a:extLst>
          </p:cNvPr>
          <p:cNvSpPr>
            <a:spLocks xmlns:a="http://schemas.openxmlformats.org/drawingml/2006/main" noGrp="1"/>
          </p:cNvSpPr>
          <p:nvPr/>
        </p:nvSpPr>
        <p:spPr>
          <a:xfrm xmlns:a="http://schemas.openxmlformats.org/drawingml/2006/main">
            <a:off x="838200" y="2152650"/>
            <a:ext cx="4762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F2933"/>
                </a:solidFill>
              </a:defRPr>
            </a:defPPr>
          </a:lstStyle>
          <a:p xmlns:a="http://schemas.openxmlformats.org/drawingml/2006/main">
            <a:pPr>
              <a:lnSpc>
                <a:spcPct val="115000"/>
              </a:lnSpc>
              <a:buNone/>
              <a:defRPr sz="1125" b="0">
                <a:solidFill>
                  <a:srgbClr val="1F2933"/>
                </a:solidFill>
              </a:defRPr>
            </a:pPr>
            <a:r>
              <a:rPr sz="1125" b="0">
                <a:solidFill>
                  <a:srgbClr val="1F2933"/>
                </a:solidFill>
              </a:rPr>
              <a:t>Registrar producto</a:t>
            </a:r>
          </a:p>
          <a:p xmlns:a="http://schemas.openxmlformats.org/drawingml/2006/main">
            <a:pPr>
              <a:lnSpc>
                <a:spcPct val="115000"/>
              </a:lnSpc>
              <a:buNone/>
              <a:defRPr sz="1125" b="0">
                <a:solidFill>
                  <a:srgbClr val="1F2933"/>
                </a:solidFill>
              </a:defRPr>
            </a:pPr>
            <a:r>
              <a:rPr sz="1125" b="0">
                <a:solidFill>
                  <a:srgbClr val="1F2933"/>
                </a:solidFill>
              </a:rPr>
              <a:t>  Identificador: PROD-E01</a:t>
            </a:r>
          </a:p>
          <a:p xmlns:a="http://schemas.openxmlformats.org/drawingml/2006/main">
            <a:pPr>
              <a:lnSpc>
                <a:spcPct val="115000"/>
              </a:lnSpc>
              <a:buNone/>
              <a:defRPr sz="1125" b="0">
                <a:solidFill>
                  <a:srgbClr val="1F2933"/>
                </a:solidFill>
              </a:defRPr>
            </a:pPr>
            <a:r>
              <a:rPr sz="1125" b="0">
                <a:solidFill>
                  <a:srgbClr val="1F2933"/>
                </a:solidFill>
              </a:rPr>
              <a:t>  Nombre: Monitor 4K</a:t>
            </a:r>
          </a:p>
          <a:p xmlns:a="http://schemas.openxmlformats.org/drawingml/2006/main">
            <a:pPr>
              <a:lnSpc>
                <a:spcPct val="115000"/>
              </a:lnSpc>
              <a:buNone/>
              <a:defRPr sz="1125" b="0">
                <a:solidFill>
                  <a:srgbClr val="1F2933"/>
                </a:solidFill>
              </a:defRPr>
            </a:pPr>
            <a:r>
              <a:rPr sz="1125" b="0">
                <a:solidFill>
                  <a:srgbClr val="1F2933"/>
                </a:solidFill>
              </a:rPr>
              <a:t>  Precio USD: 250</a:t>
            </a:r>
          </a:p>
        </p:txBody>
      </p:sp>
      <p:sp>
        <p:nvSpPr>
          <p:cNvPr id="7" name="">
            <a:extLst xmlns:a="http://schemas.openxmlformats.org/drawingml/2006/main">
              <a:ext uri="{FF2B5EF4-FFF2-40B4-BE49-F238E27FC236}">
                <a16:creationId xmlns:a16="http://schemas.microsoft.com/office/drawing/2014/main" id="{F4399AB1-BAFF-412B-A66D-75797D82BC09}"/>
              </a:ext>
            </a:extLst>
          </p:cNvPr>
          <p:cNvSpPr>
            <a:spLocks xmlns:a="http://schemas.openxmlformats.org/drawingml/2006/main" noGrp="1"/>
          </p:cNvSpPr>
          <p:nvPr/>
        </p:nvSpPr>
        <p:spPr>
          <a:xfrm xmlns:a="http://schemas.openxmlformats.org/drawingml/2006/main">
            <a:off x="6286500" y="1638300"/>
            <a:ext cx="5295900" cy="1809750"/>
          </a:xfrm>
          <a:prstGeom xmlns:a="http://schemas.openxmlformats.org/drawingml/2006/main" prst="roundRect">
            <a:avLst>
              <a:gd name="adj" fmla="val 4211"/>
            </a:avLst>
          </a:prstGeom>
          <a:solidFill xmlns:a="http://schemas.openxmlformats.org/drawingml/2006/main">
            <a:srgbClr val="E9F5EE"/>
          </a:solidFill>
          <a:ln xmlns:a="http://schemas.openxmlformats.org/drawingml/2006/main" w="14288">
            <a:solidFill>
              <a:srgbClr val="1A7F4B"/>
            </a:solidFill>
            <a:prstDash val="solid"/>
          </a:ln>
        </p:spPr>
      </p:sp>
      <p:sp>
        <p:nvSpPr>
          <p:cNvPr id="8" name="">
            <a:extLst xmlns:a="http://schemas.openxmlformats.org/drawingml/2006/main">
              <a:ext uri="{FF2B5EF4-FFF2-40B4-BE49-F238E27FC236}">
                <a16:creationId xmlns:a16="http://schemas.microsoft.com/office/drawing/2014/main" id="{4006749F-C2BD-4B70-8A1E-5F99E24A98E1}"/>
              </a:ext>
            </a:extLst>
          </p:cNvPr>
          <p:cNvSpPr>
            <a:spLocks xmlns:a="http://schemas.openxmlformats.org/drawingml/2006/main" noGrp="1"/>
          </p:cNvSpPr>
          <p:nvPr/>
        </p:nvSpPr>
        <p:spPr>
          <a:xfrm xmlns:a="http://schemas.openxmlformats.org/drawingml/2006/main">
            <a:off x="6515100" y="18097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A7F4B"/>
                </a:solidFill>
              </a:defRPr>
            </a:defPPr>
          </a:lstStyle>
          <a:p xmlns:a="http://schemas.openxmlformats.org/drawingml/2006/main">
            <a:pPr>
              <a:lnSpc>
                <a:spcPct val="115000"/>
              </a:lnSpc>
              <a:buNone/>
              <a:defRPr sz="1350" b="1">
                <a:solidFill>
                  <a:srgbClr val="1A7F4B"/>
                </a:solidFill>
              </a:defRPr>
            </a:pPr>
            <a:r>
              <a:rPr sz="1350" b="1">
                <a:solidFill>
                  <a:srgbClr val="1A7F4B"/>
                </a:solidFill>
              </a:rPr>
              <a:t>Ahora</a:t>
            </a:r>
          </a:p>
        </p:txBody>
      </p:sp>
      <p:sp>
        <p:nvSpPr>
          <p:cNvPr id="9" name="">
            <a:extLst xmlns:a="http://schemas.openxmlformats.org/drawingml/2006/main">
              <a:ext uri="{FF2B5EF4-FFF2-40B4-BE49-F238E27FC236}">
                <a16:creationId xmlns:a16="http://schemas.microsoft.com/office/drawing/2014/main" id="{5B1BB6B9-65E7-4A35-BE0E-45480228FFD6}"/>
              </a:ext>
            </a:extLst>
          </p:cNvPr>
          <p:cNvSpPr>
            <a:spLocks xmlns:a="http://schemas.openxmlformats.org/drawingml/2006/main" noGrp="1"/>
          </p:cNvSpPr>
          <p:nvPr/>
        </p:nvSpPr>
        <p:spPr>
          <a:xfrm xmlns:a="http://schemas.openxmlformats.org/drawingml/2006/main">
            <a:off x="6515100" y="2152650"/>
            <a:ext cx="4762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F2933"/>
                </a:solidFill>
              </a:defRPr>
            </a:defPPr>
          </a:lstStyle>
          <a:p xmlns:a="http://schemas.openxmlformats.org/drawingml/2006/main">
            <a:pPr>
              <a:lnSpc>
                <a:spcPct val="115000"/>
              </a:lnSpc>
              <a:buNone/>
              <a:defRPr sz="1125" b="0">
                <a:solidFill>
                  <a:srgbClr val="1F2933"/>
                </a:solidFill>
              </a:defRPr>
            </a:pPr>
            <a:r>
              <a:rPr sz="1125" b="0">
                <a:solidFill>
                  <a:srgbClr val="1F2933"/>
                </a:solidFill>
              </a:rPr>
              <a:t>Registrar producto</a:t>
            </a:r>
          </a:p>
          <a:p xmlns:a="http://schemas.openxmlformats.org/drawingml/2006/main">
            <a:pPr>
              <a:lnSpc>
                <a:spcPct val="115000"/>
              </a:lnSpc>
              <a:buNone/>
              <a:defRPr sz="1125" b="0">
                <a:solidFill>
                  <a:srgbClr val="1F2933"/>
                </a:solidFill>
              </a:defRPr>
            </a:pPr>
            <a:r>
              <a:rPr sz="1125" b="0">
                <a:solidFill>
                  <a:srgbClr val="1F2933"/>
                </a:solidFill>
              </a:rPr>
              <a:t>  [1/7] Tipo: 4 - Electronica</a:t>
            </a:r>
          </a:p>
          <a:p xmlns:a="http://schemas.openxmlformats.org/drawingml/2006/main">
            <a:pPr>
              <a:lnSpc>
                <a:spcPct val="115000"/>
              </a:lnSpc>
              <a:buNone/>
              <a:defRPr sz="1125" b="0">
                <a:solidFill>
                  <a:srgbClr val="1F2933"/>
                </a:solidFill>
              </a:defRPr>
            </a:pPr>
            <a:r>
              <a:rPr sz="1125" b="0">
                <a:solidFill>
                  <a:srgbClr val="1F2933"/>
                </a:solidFill>
              </a:rPr>
              <a:t>  [2/7] Nombre: Monitor 4K</a:t>
            </a:r>
          </a:p>
          <a:p xmlns:a="http://schemas.openxmlformats.org/drawingml/2006/main">
            <a:pPr>
              <a:lnSpc>
                <a:spcPct val="115000"/>
              </a:lnSpc>
              <a:buNone/>
              <a:defRPr sz="1125" b="0">
                <a:solidFill>
                  <a:srgbClr val="1F2933"/>
                </a:solidFill>
              </a:defRPr>
            </a:pPr>
            <a:r>
              <a:rPr sz="1125" b="0">
                <a:solidFill>
                  <a:srgbClr val="1F2933"/>
                </a:solidFill>
              </a:rPr>
              <a:t>  [7/7] Garantia: 12</a:t>
            </a:r>
          </a:p>
          <a:p xmlns:a="http://schemas.openxmlformats.org/drawingml/2006/main">
            <a:pPr>
              <a:lnSpc>
                <a:spcPct val="115000"/>
              </a:lnSpc>
              <a:buNone/>
              <a:defRPr sz="1125" b="0">
                <a:solidFill>
                  <a:srgbClr val="1F2933"/>
                </a:solidFill>
              </a:defRPr>
            </a:pPr>
            <a:r>
              <a:rPr sz="1125" b="0">
                <a:solidFill>
                  <a:srgbClr val="1F2933"/>
                </a:solidFill>
              </a:rPr>
              <a:t>  Codigo asignado: E02</a:t>
            </a:r>
          </a:p>
        </p:txBody>
      </p:sp>
      <p:graphicFrame>
        <p:nvGraphicFramePr>
          <p:cNvPr id="10" name="">
            <a:extLst xmlns:a="http://schemas.openxmlformats.org/drawingml/2006/main">
              <a:ext uri="{FF2B5EF4-FFF2-40B4-BE49-F238E27FC236}">
                <a16:creationId xmlns:a16="http://schemas.microsoft.com/office/drawing/2014/main" id="{09E4E00C-DAB8-480D-980A-62E7E98C4958}"/>
              </a:ext>
            </a:extLst>
          </p:cNvPr>
          <p:cNvGraphicFramePr/>
          <p:nvPr/>
        </p:nvGraphicFramePr>
        <p:xfrm>
          <a:off xmlns:a="http://schemas.openxmlformats.org/drawingml/2006/main" x="609600" y="3695700"/>
          <a:ext xmlns:a="http://schemas.openxmlformats.org/drawingml/2006/main" cx="10972800" cy="2781300"/>
        </p:xfrm>
        <a:graphic xmlns:a="http://schemas.openxmlformats.org/drawingml/2006/main">
          <a:graphicData uri="http://schemas.openxmlformats.org/drawingml/2006/table">
            <a:tbl>
              <a:tblPr/>
              <a:tblGrid>
                <a:gridCol w="4389120"/>
                <a:gridCol w="2194560"/>
                <a:gridCol w="4389120"/>
              </a:tblGrid>
              <a:tr h="397329">
                <a:tc>
                  <a:txBody>
                    <a:bodyPr/>
                    <a:lstStyle/>
                    <a:p>
                      <a:r>
                        <a:rPr sz="1013" b="1">
                          <a:solidFill>
                            <a:srgbClr val="FFFFFF"/>
                          </a:solidFill>
                        </a:rPr>
                        <a:t>Tipo de registro</a:t>
                      </a:r>
                    </a:p>
                  </a:txBody>
                  <a:tcPr marL="91440" marR="91440" marT="45720" marB="45720">
                    <a:solidFill>
                      <a:srgbClr val="0D233A"/>
                    </a:solidFill>
                  </a:tcPr>
                </a:tc>
                <a:tc>
                  <a:txBody>
                    <a:bodyPr/>
                    <a:lstStyle/>
                    <a:p>
                      <a:r>
                        <a:rPr sz="1013" b="1">
                          <a:solidFill>
                            <a:srgbClr val="FFFFFF"/>
                          </a:solidFill>
                        </a:rPr>
                        <a:t>Prefijo</a:t>
                      </a:r>
                    </a:p>
                  </a:txBody>
                  <a:tcPr marL="91440" marR="91440" marT="45720" marB="45720">
                    <a:solidFill>
                      <a:srgbClr val="0D233A"/>
                    </a:solidFill>
                  </a:tcPr>
                </a:tc>
                <a:tc>
                  <a:txBody>
                    <a:bodyPr/>
                    <a:lstStyle/>
                    <a:p>
                      <a:r>
                        <a:rPr sz="1013" b="1">
                          <a:solidFill>
                            <a:srgbClr val="FFFFFF"/>
                          </a:solidFill>
                        </a:rPr>
                        <a:t>Ejemplo</a:t>
                      </a:r>
                    </a:p>
                  </a:txBody>
                  <a:tcPr marL="91440" marR="91440" marT="45720" marB="45720">
                    <a:solidFill>
                      <a:srgbClr val="0D233A"/>
                    </a:solidFill>
                  </a:tcPr>
                </a:tc>
              </a:tr>
              <a:tr h="397329">
                <a:tc>
                  <a:txBody>
                    <a:bodyPr/>
                    <a:lstStyle/>
                    <a:p>
                      <a:r>
                        <a:rPr sz="975" b="0">
                          <a:solidFill>
                            <a:srgbClr val="1F2933"/>
                          </a:solidFill>
                        </a:rPr>
                        <a:t>Cliente</a:t>
                      </a:r>
                    </a:p>
                  </a:txBody>
                  <a:tcPr marL="91440" marR="91440" marT="45720" marB="45720">
                    <a:solidFill>
                      <a:srgbClr val="FFFFFF"/>
                    </a:solidFill>
                  </a:tcPr>
                </a:tc>
                <a:tc>
                  <a:txBody>
                    <a:bodyPr/>
                    <a:lstStyle/>
                    <a:p>
                      <a:r>
                        <a:rPr sz="975" b="0">
                          <a:solidFill>
                            <a:srgbClr val="1F2933"/>
                          </a:solidFill>
                        </a:rPr>
                        <a:t>C</a:t>
                      </a:r>
                    </a:p>
                  </a:txBody>
                  <a:tcPr marL="91440" marR="91440" marT="45720" marB="45720">
                    <a:solidFill>
                      <a:srgbClr val="FFFFFF"/>
                    </a:solidFill>
                  </a:tcPr>
                </a:tc>
                <a:tc>
                  <a:txBody>
                    <a:bodyPr/>
                    <a:lstStyle/>
                    <a:p>
                      <a:r>
                        <a:rPr sz="975" b="0">
                          <a:solidFill>
                            <a:srgbClr val="1F2933"/>
                          </a:solidFill>
                        </a:rPr>
                        <a:t>C01, C02, C03</a:t>
                      </a:r>
                    </a:p>
                  </a:txBody>
                  <a:tcPr marL="91440" marR="91440" marT="45720" marB="45720">
                    <a:solidFill>
                      <a:srgbClr val="FFFFFF"/>
                    </a:solidFill>
                  </a:tcPr>
                </a:tc>
              </a:tr>
              <a:tr h="397329">
                <a:tc>
                  <a:txBody>
                    <a:bodyPr/>
                    <a:lstStyle/>
                    <a:p>
                      <a:r>
                        <a:rPr sz="975" b="0">
                          <a:solidFill>
                            <a:srgbClr val="1F2933"/>
                          </a:solidFill>
                        </a:rPr>
                        <a:t>Producto fisico</a:t>
                      </a:r>
                    </a:p>
                  </a:txBody>
                  <a:tcPr marL="91440" marR="91440" marT="45720" marB="45720">
                    <a:solidFill>
                      <a:srgbClr val="F2F5F9"/>
                    </a:solidFill>
                  </a:tcPr>
                </a:tc>
                <a:tc>
                  <a:txBody>
                    <a:bodyPr/>
                    <a:lstStyle/>
                    <a:p>
                      <a:r>
                        <a:rPr sz="975" b="0">
                          <a:solidFill>
                            <a:srgbClr val="1F2933"/>
                          </a:solidFill>
                        </a:rPr>
                        <a:t>F</a:t>
                      </a:r>
                    </a:p>
                  </a:txBody>
                  <a:tcPr marL="91440" marR="91440" marT="45720" marB="45720">
                    <a:solidFill>
                      <a:srgbClr val="F2F5F9"/>
                    </a:solidFill>
                  </a:tcPr>
                </a:tc>
                <a:tc>
                  <a:txBody>
                    <a:bodyPr/>
                    <a:lstStyle/>
                    <a:p>
                      <a:r>
                        <a:rPr sz="975" b="0">
                          <a:solidFill>
                            <a:srgbClr val="1F2933"/>
                          </a:solidFill>
                        </a:rPr>
                        <a:t>F01, F02</a:t>
                      </a:r>
                    </a:p>
                  </a:txBody>
                  <a:tcPr marL="91440" marR="91440" marT="45720" marB="45720">
                    <a:solidFill>
                      <a:srgbClr val="F2F5F9"/>
                    </a:solidFill>
                  </a:tcPr>
                </a:tc>
              </a:tr>
              <a:tr h="397329">
                <a:tc>
                  <a:txBody>
                    <a:bodyPr/>
                    <a:lstStyle/>
                    <a:p>
                      <a:r>
                        <a:rPr sz="975" b="0">
                          <a:solidFill>
                            <a:srgbClr val="1F2933"/>
                          </a:solidFill>
                        </a:rPr>
                        <a:t>Producto digital</a:t>
                      </a:r>
                    </a:p>
                  </a:txBody>
                  <a:tcPr marL="91440" marR="91440" marT="45720" marB="45720">
                    <a:solidFill>
                      <a:srgbClr val="FFFFFF"/>
                    </a:solidFill>
                  </a:tcPr>
                </a:tc>
                <a:tc>
                  <a:txBody>
                    <a:bodyPr/>
                    <a:lstStyle/>
                    <a:p>
                      <a:r>
                        <a:rPr sz="975" b="0">
                          <a:solidFill>
                            <a:srgbClr val="1F2933"/>
                          </a:solidFill>
                        </a:rPr>
                        <a:t>D</a:t>
                      </a:r>
                    </a:p>
                  </a:txBody>
                  <a:tcPr marL="91440" marR="91440" marT="45720" marB="45720">
                    <a:solidFill>
                      <a:srgbClr val="FFFFFF"/>
                    </a:solidFill>
                  </a:tcPr>
                </a:tc>
                <a:tc>
                  <a:txBody>
                    <a:bodyPr/>
                    <a:lstStyle/>
                    <a:p>
                      <a:r>
                        <a:rPr sz="975" b="0">
                          <a:solidFill>
                            <a:srgbClr val="1F2933"/>
                          </a:solidFill>
                        </a:rPr>
                        <a:t>D01, D02</a:t>
                      </a:r>
                    </a:p>
                  </a:txBody>
                  <a:tcPr marL="91440" marR="91440" marT="45720" marB="45720">
                    <a:solidFill>
                      <a:srgbClr val="FFFFFF"/>
                    </a:solidFill>
                  </a:tcPr>
                </a:tc>
              </a:tr>
              <a:tr h="397329">
                <a:tc>
                  <a:txBody>
                    <a:bodyPr/>
                    <a:lstStyle/>
                    <a:p>
                      <a:r>
                        <a:rPr sz="975" b="0">
                          <a:solidFill>
                            <a:srgbClr val="1F2933"/>
                          </a:solidFill>
                        </a:rPr>
                        <a:t>Servicio tecnico</a:t>
                      </a:r>
                    </a:p>
                  </a:txBody>
                  <a:tcPr marL="91440" marR="91440" marT="45720" marB="45720">
                    <a:solidFill>
                      <a:srgbClr val="F2F5F9"/>
                    </a:solidFill>
                  </a:tcPr>
                </a:tc>
                <a:tc>
                  <a:txBody>
                    <a:bodyPr/>
                    <a:lstStyle/>
                    <a:p>
                      <a:r>
                        <a:rPr sz="975" b="0">
                          <a:solidFill>
                            <a:srgbClr val="1F2933"/>
                          </a:solidFill>
                        </a:rPr>
                        <a:t>S</a:t>
                      </a:r>
                    </a:p>
                  </a:txBody>
                  <a:tcPr marL="91440" marR="91440" marT="45720" marB="45720">
                    <a:solidFill>
                      <a:srgbClr val="F2F5F9"/>
                    </a:solidFill>
                  </a:tcPr>
                </a:tc>
                <a:tc>
                  <a:txBody>
                    <a:bodyPr/>
                    <a:lstStyle/>
                    <a:p>
                      <a:r>
                        <a:rPr sz="975" b="0">
                          <a:solidFill>
                            <a:srgbClr val="1F2933"/>
                          </a:solidFill>
                        </a:rPr>
                        <a:t>S01, S02</a:t>
                      </a:r>
                    </a:p>
                  </a:txBody>
                  <a:tcPr marL="91440" marR="91440" marT="45720" marB="45720">
                    <a:solidFill>
                      <a:srgbClr val="F2F5F9"/>
                    </a:solidFill>
                  </a:tcPr>
                </a:tc>
              </a:tr>
              <a:tr h="397329">
                <a:tc>
                  <a:txBody>
                    <a:bodyPr/>
                    <a:lstStyle/>
                    <a:p>
                      <a:r>
                        <a:rPr sz="975" b="0">
                          <a:solidFill>
                            <a:srgbClr val="1F2933"/>
                          </a:solidFill>
                        </a:rPr>
                        <a:t>Electronica importada</a:t>
                      </a:r>
                    </a:p>
                  </a:txBody>
                  <a:tcPr marL="91440" marR="91440" marT="45720" marB="45720">
                    <a:solidFill>
                      <a:srgbClr val="FFFFFF"/>
                    </a:solidFill>
                  </a:tcPr>
                </a:tc>
                <a:tc>
                  <a:txBody>
                    <a:bodyPr/>
                    <a:lstStyle/>
                    <a:p>
                      <a:r>
                        <a:rPr sz="975" b="0">
                          <a:solidFill>
                            <a:srgbClr val="1F2933"/>
                          </a:solidFill>
                        </a:rPr>
                        <a:t>E</a:t>
                      </a:r>
                    </a:p>
                  </a:txBody>
                  <a:tcPr marL="91440" marR="91440" marT="45720" marB="45720">
                    <a:solidFill>
                      <a:srgbClr val="FFFFFF"/>
                    </a:solidFill>
                  </a:tcPr>
                </a:tc>
                <a:tc>
                  <a:txBody>
                    <a:bodyPr/>
                    <a:lstStyle/>
                    <a:p>
                      <a:r>
                        <a:rPr sz="975" b="0">
                          <a:solidFill>
                            <a:srgbClr val="1F2933"/>
                          </a:solidFill>
                        </a:rPr>
                        <a:t>E01, E02</a:t>
                      </a:r>
                    </a:p>
                  </a:txBody>
                  <a:tcPr marL="91440" marR="91440" marT="45720" marB="45720">
                    <a:solidFill>
                      <a:srgbClr val="FFFFFF"/>
                    </a:solidFill>
                  </a:tcPr>
                </a:tc>
              </a:tr>
              <a:tr h="397329">
                <a:tc>
                  <a:txBody>
                    <a:bodyPr/>
                    <a:lstStyle/>
                    <a:p>
                      <a:r>
                        <a:rPr sz="975" b="0">
                          <a:solidFill>
                            <a:srgbClr val="1F2933"/>
                          </a:solidFill>
                        </a:rPr>
                        <a:t>Pedido</a:t>
                      </a:r>
                    </a:p>
                  </a:txBody>
                  <a:tcPr marL="91440" marR="91440" marT="45720" marB="45720">
                    <a:solidFill>
                      <a:srgbClr val="F2F5F9"/>
                    </a:solidFill>
                  </a:tcPr>
                </a:tc>
                <a:tc>
                  <a:txBody>
                    <a:bodyPr/>
                    <a:lstStyle/>
                    <a:p>
                      <a:r>
                        <a:rPr sz="975" b="0">
                          <a:solidFill>
                            <a:srgbClr val="1F2933"/>
                          </a:solidFill>
                        </a:rPr>
                        <a:t>PED-</a:t>
                      </a:r>
                    </a:p>
                  </a:txBody>
                  <a:tcPr marL="91440" marR="91440" marT="45720" marB="45720">
                    <a:solidFill>
                      <a:srgbClr val="F2F5F9"/>
                    </a:solidFill>
                  </a:tcPr>
                </a:tc>
                <a:tc>
                  <a:txBody>
                    <a:bodyPr/>
                    <a:lstStyle/>
                    <a:p>
                      <a:r>
                        <a:rPr sz="975" b="0">
                          <a:solidFill>
                            <a:srgbClr val="1F2933"/>
                          </a:solidFill>
                        </a:rPr>
                        <a:t>PED-1001</a:t>
                      </a:r>
                    </a:p>
                  </a:txBody>
                  <a:tcPr marL="91440" marR="91440" marT="45720" marB="45720">
                    <a:solidFill>
                      <a:srgbClr val="F2F5F9"/>
                    </a:solidFill>
                  </a:tcPr>
                </a:tc>
              </a:tr>
            </a:tbl>
          </a:graphicData>
        </a:graphic>
      </p:graphicFrame>
    </p:spTree>
    <p:extLst>
      <p:ext uri="{BB962C8B-B14F-4D97-AF65-F5344CB8AC3E}">
        <p14:creationId xmlns:p14="http://schemas.microsoft.com/office/powerpoint/2010/main" val="116786330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C3F400-B751-4A61-B1FE-EE1DD27E6B7E}"/>
              </a:ext>
            </a:extLst>
          </p:cNvPr>
          <p:cNvSpPr>
            <a:spLocks xmlns:a="http://schemas.openxmlformats.org/drawingml/2006/main" noGrp="1"/>
          </p:cNvSpPr>
          <p:nvPr/>
        </p:nvSpPr>
        <p:spPr>
          <a:xfrm xmlns:a="http://schemas.openxmlformats.org/drawingml/2006/main">
            <a:off x="609600" y="38100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USO DE IA</a:t>
            </a:r>
          </a:p>
        </p:txBody>
      </p:sp>
      <p:sp>
        <p:nvSpPr>
          <p:cNvPr id="2" name="">
            <a:extLst xmlns:a="http://schemas.openxmlformats.org/drawingml/2006/main">
              <a:ext uri="{FF2B5EF4-FFF2-40B4-BE49-F238E27FC236}">
                <a16:creationId xmlns:a16="http://schemas.microsoft.com/office/drawing/2014/main" id="{6E116802-7E95-4E83-A5C7-BEF935B3A517}"/>
              </a:ext>
            </a:extLst>
          </p:cNvPr>
          <p:cNvSpPr>
            <a:spLocks xmlns:a="http://schemas.openxmlformats.org/drawingml/2006/main" noGrp="1"/>
          </p:cNvSpPr>
          <p:nvPr/>
        </p:nvSpPr>
        <p:spPr>
          <a:xfrm xmlns:a="http://schemas.openxmlformats.org/drawingml/2006/main">
            <a:off x="609600" y="6096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D233A"/>
                </a:solidFill>
              </a:defRPr>
            </a:defPPr>
          </a:lstStyle>
          <a:p xmlns:a="http://schemas.openxmlformats.org/drawingml/2006/main">
            <a:pPr>
              <a:lnSpc>
                <a:spcPct val="115000"/>
              </a:lnSpc>
              <a:buNone/>
              <a:defRPr sz="2400" b="1">
                <a:solidFill>
                  <a:srgbClr val="0D233A"/>
                </a:solidFill>
              </a:defRPr>
            </a:pPr>
            <a:r>
              <a:rPr sz="2400" b="1">
                <a:solidFill>
                  <a:srgbClr val="0D233A"/>
                </a:solidFill>
              </a:rPr>
              <a:t>Que propuso la IA y como lo evaluamos</a:t>
            </a:r>
          </a:p>
        </p:txBody>
      </p:sp>
      <p:sp>
        <p:nvSpPr>
          <p:cNvPr id="3" name="">
            <a:extLst xmlns:a="http://schemas.openxmlformats.org/drawingml/2006/main">
              <a:ext uri="{FF2B5EF4-FFF2-40B4-BE49-F238E27FC236}">
                <a16:creationId xmlns:a16="http://schemas.microsoft.com/office/drawing/2014/main" id="{0CAED00B-B0F9-4984-8A94-C841A27D8131}"/>
              </a:ext>
            </a:extLst>
          </p:cNvPr>
          <p:cNvSpPr>
            <a:spLocks xmlns:a="http://schemas.openxmlformats.org/drawingml/2006/main" noGrp="1"/>
          </p:cNvSpPr>
          <p:nvPr/>
        </p:nvSpPr>
        <p:spPr>
          <a:xfrm xmlns:a="http://schemas.openxmlformats.org/drawingml/2006/main">
            <a:off x="609600" y="10477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Un ejemplo concreto de cada decision</a:t>
            </a:r>
          </a:p>
        </p:txBody>
      </p:sp>
      <p:graphicFrame>
        <p:nvGraphicFramePr>
          <p:cNvPr id="4" name="">
            <a:extLst xmlns:a="http://schemas.openxmlformats.org/drawingml/2006/main">
              <a:ext uri="{FF2B5EF4-FFF2-40B4-BE49-F238E27FC236}">
                <a16:creationId xmlns:a16="http://schemas.microsoft.com/office/drawing/2014/main" id="{2E54E072-A2A5-46A3-925A-92E25A5EBE93}"/>
              </a:ext>
            </a:extLst>
          </p:cNvPr>
          <p:cNvGraphicFramePr/>
          <p:nvPr/>
        </p:nvGraphicFramePr>
        <p:xfrm>
          <a:off xmlns:a="http://schemas.openxmlformats.org/drawingml/2006/main" x="609600" y="1676400"/>
          <a:ext xmlns:a="http://schemas.openxmlformats.org/drawingml/2006/main" cx="10972800" cy="4095750"/>
        </p:xfrm>
        <a:graphic xmlns:a="http://schemas.openxmlformats.org/drawingml/2006/main">
          <a:graphicData uri="http://schemas.openxmlformats.org/drawingml/2006/table">
            <a:tbl>
              <a:tblPr/>
              <a:tblGrid>
                <a:gridCol w="4778477"/>
                <a:gridCol w="1592826"/>
                <a:gridCol w="4601497"/>
              </a:tblGrid>
              <a:tr h="819150">
                <a:tc>
                  <a:txBody>
                    <a:bodyPr/>
                    <a:lstStyle/>
                    <a:p>
                      <a:r>
                        <a:rPr sz="1013" b="1">
                          <a:solidFill>
                            <a:srgbClr val="FFFFFF"/>
                          </a:solidFill>
                        </a:rPr>
                        <a:t>Sugerencia de la IA</a:t>
                      </a:r>
                    </a:p>
                  </a:txBody>
                  <a:tcPr marL="91440" marR="91440" marT="45720" marB="45720">
                    <a:solidFill>
                      <a:srgbClr val="0D233A"/>
                    </a:solidFill>
                  </a:tcPr>
                </a:tc>
                <a:tc>
                  <a:txBody>
                    <a:bodyPr/>
                    <a:lstStyle/>
                    <a:p>
                      <a:r>
                        <a:rPr sz="1013" b="1">
                          <a:solidFill>
                            <a:srgbClr val="FFFFFF"/>
                          </a:solidFill>
                        </a:rPr>
                        <a:t>Decision</a:t>
                      </a:r>
                    </a:p>
                  </a:txBody>
                  <a:tcPr marL="91440" marR="91440" marT="45720" marB="45720">
                    <a:solidFill>
                      <a:srgbClr val="0D233A"/>
                    </a:solidFill>
                  </a:tcPr>
                </a:tc>
                <a:tc>
                  <a:txBody>
                    <a:bodyPr/>
                    <a:lstStyle/>
                    <a:p>
                      <a:r>
                        <a:rPr sz="1013" b="1">
                          <a:solidFill>
                            <a:srgbClr val="FFFFFF"/>
                          </a:solidFill>
                        </a:rPr>
                        <a:t>Razon tecnica</a:t>
                      </a:r>
                    </a:p>
                  </a:txBody>
                  <a:tcPr marL="91440" marR="91440" marT="45720" marB="45720">
                    <a:solidFill>
                      <a:srgbClr val="0D233A"/>
                    </a:solidFill>
                  </a:tcPr>
                </a:tc>
              </a:tr>
              <a:tr h="819150">
                <a:tc>
                  <a:txBody>
                    <a:bodyPr/>
                    <a:lstStyle/>
                    <a:p>
                      <a:r>
                        <a:rPr sz="975" b="0">
                          <a:solidFill>
                            <a:srgbClr val="1F2933"/>
                          </a:solidFill>
                        </a:rPr>
                        <a:t>Acceder a las columnas de SQLite por nombre con sqlite3.Row</a:t>
                      </a:r>
                    </a:p>
                  </a:txBody>
                  <a:tcPr marL="91440" marR="91440" marT="45720" marB="45720">
                    <a:solidFill>
                      <a:srgbClr val="FFFFFF"/>
                    </a:solidFill>
                  </a:tcPr>
                </a:tc>
                <a:tc>
                  <a:txBody>
                    <a:bodyPr/>
                    <a:lstStyle/>
                    <a:p>
                      <a:r>
                        <a:rPr sz="975" b="0">
                          <a:solidFill>
                            <a:srgbClr val="1F2933"/>
                          </a:solidFill>
                        </a:rPr>
                        <a:t>Adoptada</a:t>
                      </a:r>
                    </a:p>
                  </a:txBody>
                  <a:tcPr marL="91440" marR="91440" marT="45720" marB="45720">
                    <a:solidFill>
                      <a:srgbClr val="FFFFFF"/>
                    </a:solidFill>
                  </a:tcPr>
                </a:tc>
                <a:tc>
                  <a:txBody>
                    <a:bodyPr/>
                    <a:lstStyle/>
                    <a:p>
                      <a:r>
                        <a:rPr sz="975" b="0">
                          <a:solidFill>
                            <a:srgbClr val="1F2933"/>
                          </a:solidFill>
                        </a:rPr>
                        <a:t>Un cambio en el orden del SELECT ya no rompe la construccion de los objetos.</a:t>
                      </a:r>
                    </a:p>
                  </a:txBody>
                  <a:tcPr marL="91440" marR="91440" marT="45720" marB="45720">
                    <a:solidFill>
                      <a:srgbClr val="FFFFFF"/>
                    </a:solidFill>
                  </a:tcPr>
                </a:tc>
              </a:tr>
              <a:tr h="819150">
                <a:tc>
                  <a:txBody>
                    <a:bodyPr/>
                    <a:lstStyle/>
                    <a:p>
                      <a:r>
                        <a:rPr sz="975" b="0">
                          <a:solidFill>
                            <a:srgbClr val="1F2933"/>
                          </a:solidFill>
                        </a:rPr>
                        <a:t>Consumir la API con requests.get(URL) sin tiempo maximo de espera</a:t>
                      </a:r>
                    </a:p>
                  </a:txBody>
                  <a:tcPr marL="91440" marR="91440" marT="45720" marB="45720">
                    <a:solidFill>
                      <a:srgbClr val="F2F5F9"/>
                    </a:solidFill>
                  </a:tcPr>
                </a:tc>
                <a:tc>
                  <a:txBody>
                    <a:bodyPr/>
                    <a:lstStyle/>
                    <a:p>
                      <a:r>
                        <a:rPr sz="975" b="0">
                          <a:solidFill>
                            <a:srgbClr val="1F2933"/>
                          </a:solidFill>
                        </a:rPr>
                        <a:t>Modificada</a:t>
                      </a:r>
                    </a:p>
                  </a:txBody>
                  <a:tcPr marL="91440" marR="91440" marT="45720" marB="45720">
                    <a:solidFill>
                      <a:srgbClr val="F2F5F9"/>
                    </a:solidFill>
                  </a:tcPr>
                </a:tc>
                <a:tc>
                  <a:txBody>
                    <a:bodyPr/>
                    <a:lstStyle/>
                    <a:p>
                      <a:r>
                        <a:rPr sz="975" b="0">
                          <a:solidFill>
                            <a:srgbClr val="1F2933"/>
                          </a:solidFill>
                        </a:rPr>
                        <a:t>Se agrego timeout y captura especifica de fallas: la rubrica exige continuidad del sistema.</a:t>
                      </a:r>
                    </a:p>
                  </a:txBody>
                  <a:tcPr marL="91440" marR="91440" marT="45720" marB="45720">
                    <a:solidFill>
                      <a:srgbClr val="F2F5F9"/>
                    </a:solidFill>
                  </a:tcPr>
                </a:tc>
              </a:tr>
              <a:tr h="819150">
                <a:tc>
                  <a:txBody>
                    <a:bodyPr/>
                    <a:lstStyle/>
                    <a:p>
                      <a:r>
                        <a:rPr sz="975" b="0">
                          <a:solidFill>
                            <a:srgbClr val="1F2933"/>
                          </a:solidFill>
                        </a:rPr>
                        <a:t>Resolver el tipo de producto con if/elif dentro de Pedido</a:t>
                      </a:r>
                    </a:p>
                  </a:txBody>
                  <a:tcPr marL="91440" marR="91440" marT="45720" marB="45720">
                    <a:solidFill>
                      <a:srgbClr val="FFFFFF"/>
                    </a:solidFill>
                  </a:tcPr>
                </a:tc>
                <a:tc>
                  <a:txBody>
                    <a:bodyPr/>
                    <a:lstStyle/>
                    <a:p>
                      <a:r>
                        <a:rPr sz="975" b="0">
                          <a:solidFill>
                            <a:srgbClr val="1F2933"/>
                          </a:solidFill>
                        </a:rPr>
                        <a:t>Descartada</a:t>
                      </a:r>
                    </a:p>
                  </a:txBody>
                  <a:tcPr marL="91440" marR="91440" marT="45720" marB="45720">
                    <a:solidFill>
                      <a:srgbClr val="FFFFFF"/>
                    </a:solidFill>
                  </a:tcPr>
                </a:tc>
                <a:tc>
                  <a:txBody>
                    <a:bodyPr/>
                    <a:lstStyle/>
                    <a:p>
                      <a:r>
                        <a:rPr sz="975" b="0">
                          <a:solidFill>
                            <a:srgbClr val="1F2933"/>
                          </a:solidFill>
                        </a:rPr>
                        <a:t>La rubrica indica que reemplazar el polimorfismo por if queda en nivel En desarrollo.</a:t>
                      </a:r>
                    </a:p>
                  </a:txBody>
                  <a:tcPr marL="91440" marR="91440" marT="45720" marB="45720">
                    <a:solidFill>
                      <a:srgbClr val="FFFFFF"/>
                    </a:solidFill>
                  </a:tcPr>
                </a:tc>
              </a:tr>
              <a:tr h="819150">
                <a:tc>
                  <a:txBody>
                    <a:bodyPr/>
                    <a:lstStyle/>
                    <a:p>
                      <a:r>
                        <a:rPr sz="975" b="0">
                          <a:solidFill>
                            <a:srgbClr val="1F2933"/>
                          </a:solidFill>
                        </a:rPr>
                        <a:t>Guardar la contrasena con hashlib.md5</a:t>
                      </a:r>
                    </a:p>
                  </a:txBody>
                  <a:tcPr marL="91440" marR="91440" marT="45720" marB="45720">
                    <a:solidFill>
                      <a:srgbClr val="F2F5F9"/>
                    </a:solidFill>
                  </a:tcPr>
                </a:tc>
                <a:tc>
                  <a:txBody>
                    <a:bodyPr/>
                    <a:lstStyle/>
                    <a:p>
                      <a:r>
                        <a:rPr sz="975" b="0">
                          <a:solidFill>
                            <a:srgbClr val="1F2933"/>
                          </a:solidFill>
                        </a:rPr>
                        <a:t>Descartada</a:t>
                      </a:r>
                    </a:p>
                  </a:txBody>
                  <a:tcPr marL="91440" marR="91440" marT="45720" marB="45720">
                    <a:solidFill>
                      <a:srgbClr val="F2F5F9"/>
                    </a:solidFill>
                  </a:tcPr>
                </a:tc>
                <a:tc>
                  <a:txBody>
                    <a:bodyPr/>
                    <a:lstStyle/>
                    <a:p>
                      <a:r>
                        <a:rPr sz="975" b="0">
                          <a:solidFill>
                            <a:srgbClr val="1F2933"/>
                          </a:solidFill>
                        </a:rPr>
                        <a:t>MD5 no es apto para contrasenas; se uso PBKDF2-HMAC-SHA256 con salt aleatorio.</a:t>
                      </a:r>
                    </a:p>
                  </a:txBody>
                  <a:tcPr marL="91440" marR="91440" marT="45720" marB="45720">
                    <a:solidFill>
                      <a:srgbClr val="F2F5F9"/>
                    </a:solidFill>
                  </a:tcPr>
                </a:tc>
              </a:tr>
            </a:tbl>
          </a:graphicData>
        </a:graphic>
      </p:graphicFrame>
    </p:spTree>
    <p:extLst>
      <p:ext uri="{BB962C8B-B14F-4D97-AF65-F5344CB8AC3E}">
        <p14:creationId xmlns:p14="http://schemas.microsoft.com/office/powerpoint/2010/main" val="29259486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AE85383-158C-431D-8AD5-746D81E74AD1}"/>
              </a:ext>
            </a:extLst>
          </p:cNvPr>
          <p:cNvSpPr>
            <a:spLocks xmlns:a="http://schemas.openxmlformats.org/drawingml/2006/main" noGrp="1"/>
          </p:cNvSpPr>
          <p:nvPr/>
        </p:nvSpPr>
        <p:spPr>
          <a:xfrm xmlns:a="http://schemas.openxmlformats.org/drawingml/2006/main">
            <a:off x="609600" y="381000"/>
            <a:ext cx="10972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D63426"/>
                </a:solidFill>
              </a:defRPr>
            </a:defPPr>
          </a:lstStyle>
          <a:p xmlns:a="http://schemas.openxmlformats.org/drawingml/2006/main">
            <a:pPr>
              <a:lnSpc>
                <a:spcPct val="115000"/>
              </a:lnSpc>
              <a:buNone/>
              <a:defRPr sz="975" b="1">
                <a:solidFill>
                  <a:srgbClr val="D63426"/>
                </a:solidFill>
              </a:defRPr>
            </a:pPr>
            <a:r>
              <a:rPr sz="975" b="1">
                <a:solidFill>
                  <a:srgbClr val="D63426"/>
                </a:solidFill>
              </a:rPr>
              <a:t>CIERRE</a:t>
            </a:r>
          </a:p>
        </p:txBody>
      </p:sp>
      <p:sp>
        <p:nvSpPr>
          <p:cNvPr id="2" name="">
            <a:extLst xmlns:a="http://schemas.openxmlformats.org/drawingml/2006/main">
              <a:ext uri="{FF2B5EF4-FFF2-40B4-BE49-F238E27FC236}">
                <a16:creationId xmlns:a16="http://schemas.microsoft.com/office/drawing/2014/main" id="{F2DA36A1-4B08-49C2-A122-9EEDA10E5590}"/>
              </a:ext>
            </a:extLst>
          </p:cNvPr>
          <p:cNvSpPr>
            <a:spLocks xmlns:a="http://schemas.openxmlformats.org/drawingml/2006/main" noGrp="1"/>
          </p:cNvSpPr>
          <p:nvPr/>
        </p:nvSpPr>
        <p:spPr>
          <a:xfrm xmlns:a="http://schemas.openxmlformats.org/drawingml/2006/main">
            <a:off x="609600" y="6096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D233A"/>
                </a:solidFill>
              </a:defRPr>
            </a:defPPr>
          </a:lstStyle>
          <a:p xmlns:a="http://schemas.openxmlformats.org/drawingml/2006/main">
            <a:pPr>
              <a:lnSpc>
                <a:spcPct val="115000"/>
              </a:lnSpc>
              <a:buNone/>
              <a:defRPr sz="2400" b="1">
                <a:solidFill>
                  <a:srgbClr val="0D233A"/>
                </a:solidFill>
              </a:defRPr>
            </a:pPr>
            <a:r>
              <a:rPr sz="2400" b="1">
                <a:solidFill>
                  <a:srgbClr val="0D233A"/>
                </a:solidFill>
              </a:rPr>
              <a:t>Como nos repartimos la presentacion</a:t>
            </a:r>
          </a:p>
        </p:txBody>
      </p:sp>
      <p:sp>
        <p:nvSpPr>
          <p:cNvPr id="3" name="">
            <a:extLst xmlns:a="http://schemas.openxmlformats.org/drawingml/2006/main">
              <a:ext uri="{FF2B5EF4-FFF2-40B4-BE49-F238E27FC236}">
                <a16:creationId xmlns:a16="http://schemas.microsoft.com/office/drawing/2014/main" id="{D02F5335-C766-4CEB-BEFB-7045C15BD2C4}"/>
              </a:ext>
            </a:extLst>
          </p:cNvPr>
          <p:cNvSpPr>
            <a:spLocks xmlns:a="http://schemas.openxmlformats.org/drawingml/2006/main" noGrp="1"/>
          </p:cNvSpPr>
          <p:nvPr/>
        </p:nvSpPr>
        <p:spPr>
          <a:xfrm xmlns:a="http://schemas.openxmlformats.org/drawingml/2006/main">
            <a:off x="609600" y="104775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A6B7C"/>
                </a:solidFill>
              </a:defRPr>
            </a:defPPr>
          </a:lstStyle>
          <a:p xmlns:a="http://schemas.openxmlformats.org/drawingml/2006/main">
            <a:pPr>
              <a:lnSpc>
                <a:spcPct val="115000"/>
              </a:lnSpc>
              <a:buNone/>
              <a:defRPr sz="1125" b="0">
                <a:solidFill>
                  <a:srgbClr val="5A6B7C"/>
                </a:solidFill>
              </a:defRPr>
            </a:pPr>
            <a:r>
              <a:rPr sz="1125" b="0">
                <a:solidFill>
                  <a:srgbClr val="5A6B7C"/>
                </a:solidFill>
              </a:rPr>
              <a:t>Todo el codigo esta en el repositorio publico</a:t>
            </a:r>
          </a:p>
        </p:txBody>
      </p:sp>
      <p:sp>
        <p:nvSpPr>
          <p:cNvPr id="4" name="">
            <a:extLst xmlns:a="http://schemas.openxmlformats.org/drawingml/2006/main">
              <a:ext uri="{FF2B5EF4-FFF2-40B4-BE49-F238E27FC236}">
                <a16:creationId xmlns:a16="http://schemas.microsoft.com/office/drawing/2014/main" id="{5A770D1F-4AB5-401B-88CC-18B6E882149F}"/>
              </a:ext>
            </a:extLst>
          </p:cNvPr>
          <p:cNvSpPr>
            <a:spLocks xmlns:a="http://schemas.openxmlformats.org/drawingml/2006/main" noGrp="1"/>
          </p:cNvSpPr>
          <p:nvPr/>
        </p:nvSpPr>
        <p:spPr>
          <a:xfrm xmlns:a="http://schemas.openxmlformats.org/drawingml/2006/main">
            <a:off x="609600" y="1714500"/>
            <a:ext cx="10972800" cy="1143000"/>
          </a:xfrm>
          <a:prstGeom xmlns:a="http://schemas.openxmlformats.org/drawingml/2006/main" prst="roundRect">
            <a:avLst>
              <a:gd name="adj" fmla="val 6667"/>
            </a:avLst>
          </a:prstGeom>
          <a:solidFill xmlns:a="http://schemas.openxmlformats.org/drawingml/2006/main">
            <a:srgbClr val="F2F5F9"/>
          </a:solidFill>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02F6F09D-66AF-4214-B78C-90371FC0BDC9}"/>
              </a:ext>
            </a:extLst>
          </p:cNvPr>
          <p:cNvSpPr>
            <a:spLocks xmlns:a="http://schemas.openxmlformats.org/drawingml/2006/main" noGrp="1"/>
          </p:cNvSpPr>
          <p:nvPr/>
        </p:nvSpPr>
        <p:spPr>
          <a:xfrm xmlns:a="http://schemas.openxmlformats.org/drawingml/2006/main">
            <a:off x="857250" y="18859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D233A"/>
                </a:solidFill>
              </a:defRPr>
            </a:defPPr>
          </a:lstStyle>
          <a:p xmlns:a="http://schemas.openxmlformats.org/drawingml/2006/main">
            <a:pPr>
              <a:lnSpc>
                <a:spcPct val="115000"/>
              </a:lnSpc>
              <a:buNone/>
              <a:defRPr sz="1500" b="1">
                <a:solidFill>
                  <a:srgbClr val="0D233A"/>
                </a:solidFill>
              </a:defRPr>
            </a:pPr>
            <a:r>
              <a:rPr sz="1500" b="1">
                <a:solidFill>
                  <a:srgbClr val="0D233A"/>
                </a:solidFill>
              </a:rPr>
              <a:t>Miguel Troncoso</a:t>
            </a:r>
          </a:p>
        </p:txBody>
      </p:sp>
      <p:sp>
        <p:nvSpPr>
          <p:cNvPr id="6" name="">
            <a:extLst xmlns:a="http://schemas.openxmlformats.org/drawingml/2006/main">
              <a:ext uri="{FF2B5EF4-FFF2-40B4-BE49-F238E27FC236}">
                <a16:creationId xmlns:a16="http://schemas.microsoft.com/office/drawing/2014/main" id="{36CF3409-3925-4C68-9C51-1FAB123B3FE8}"/>
              </a:ext>
            </a:extLst>
          </p:cNvPr>
          <p:cNvSpPr>
            <a:spLocks xmlns:a="http://schemas.openxmlformats.org/drawingml/2006/main" noGrp="1"/>
          </p:cNvSpPr>
          <p:nvPr/>
        </p:nvSpPr>
        <p:spPr>
          <a:xfrm xmlns:a="http://schemas.openxmlformats.org/drawingml/2006/main">
            <a:off x="4038600" y="1905000"/>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F2933"/>
                </a:solidFill>
              </a:defRPr>
            </a:defPPr>
          </a:lstStyle>
          <a:p xmlns:a="http://schemas.openxmlformats.org/drawingml/2006/main">
            <a:pPr>
              <a:lnSpc>
                <a:spcPct val="115000"/>
              </a:lnSpc>
              <a:buNone/>
              <a:defRPr sz="1125" b="0">
                <a:solidFill>
                  <a:srgbClr val="1F2933"/>
                </a:solidFill>
              </a:defRPr>
            </a:pPr>
            <a:r>
              <a:rPr sz="1125" b="0">
                <a:solidFill>
                  <a:srgbClr val="1F2933"/>
                </a:solidFill>
              </a:rPr>
              <a:t>Arquitectura, recorrido completo de la operacion y cambios de la retroalimentacion</a:t>
            </a:r>
          </a:p>
        </p:txBody>
      </p:sp>
      <p:sp>
        <p:nvSpPr>
          <p:cNvPr id="7" name="">
            <a:extLst xmlns:a="http://schemas.openxmlformats.org/drawingml/2006/main">
              <a:ext uri="{FF2B5EF4-FFF2-40B4-BE49-F238E27FC236}">
                <a16:creationId xmlns:a16="http://schemas.microsoft.com/office/drawing/2014/main" id="{5E596E20-1D59-4584-87F0-DBA2B0341D96}"/>
              </a:ext>
            </a:extLst>
          </p:cNvPr>
          <p:cNvSpPr>
            <a:spLocks xmlns:a="http://schemas.openxmlformats.org/drawingml/2006/main" noGrp="1"/>
          </p:cNvSpPr>
          <p:nvPr/>
        </p:nvSpPr>
        <p:spPr>
          <a:xfrm xmlns:a="http://schemas.openxmlformats.org/drawingml/2006/main">
            <a:off x="4038600" y="2400300"/>
            <a:ext cx="733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i="1">
                <a:solidFill>
                  <a:srgbClr val="D63426"/>
                </a:solidFill>
              </a:defRPr>
            </a:defPPr>
          </a:lstStyle>
          <a:p xmlns:a="http://schemas.openxmlformats.org/drawingml/2006/main">
            <a:pPr>
              <a:lnSpc>
                <a:spcPct val="115000"/>
              </a:lnSpc>
              <a:buNone/>
              <a:defRPr sz="975" b="0" i="1">
                <a:solidFill>
                  <a:srgbClr val="D63426"/>
                </a:solidFill>
              </a:defRPr>
            </a:pPr>
            <a:r>
              <a:rPr sz="975" b="0" i="1">
                <a:solidFill>
                  <a:srgbClr val="D63426"/>
                </a:solidFill>
              </a:rPr>
              <a:t>main.py, model/pedido.py, servicios/codigos.py</a:t>
            </a:r>
          </a:p>
        </p:txBody>
      </p:sp>
      <p:sp>
        <p:nvSpPr>
          <p:cNvPr id="8" name="">
            <a:extLst xmlns:a="http://schemas.openxmlformats.org/drawingml/2006/main">
              <a:ext uri="{FF2B5EF4-FFF2-40B4-BE49-F238E27FC236}">
                <a16:creationId xmlns:a16="http://schemas.microsoft.com/office/drawing/2014/main" id="{ECECBE66-9175-43FB-AA89-58FF171B8401}"/>
              </a:ext>
            </a:extLst>
          </p:cNvPr>
          <p:cNvSpPr>
            <a:spLocks xmlns:a="http://schemas.openxmlformats.org/drawingml/2006/main" noGrp="1"/>
          </p:cNvSpPr>
          <p:nvPr/>
        </p:nvSpPr>
        <p:spPr>
          <a:xfrm xmlns:a="http://schemas.openxmlformats.org/drawingml/2006/main">
            <a:off x="609600" y="3048000"/>
            <a:ext cx="10972800" cy="1143000"/>
          </a:xfrm>
          <a:prstGeom xmlns:a="http://schemas.openxmlformats.org/drawingml/2006/main" prst="roundRect">
            <a:avLst>
              <a:gd name="adj" fmla="val 6667"/>
            </a:avLst>
          </a:prstGeom>
          <a:solidFill xmlns:a="http://schemas.openxmlformats.org/drawingml/2006/main">
            <a:srgbClr val="F2F5F9"/>
          </a:solidFill>
          <a:ln xmlns:a="http://schemas.openxmlformats.org/drawingml/2006/main" w="9525">
            <a:solidFill>
              <a:srgbClr val="D6DEE8"/>
            </a:solidFill>
            <a:prstDash val="solid"/>
          </a:ln>
        </p:spPr>
      </p:sp>
      <p:sp>
        <p:nvSpPr>
          <p:cNvPr id="9" name="">
            <a:extLst xmlns:a="http://schemas.openxmlformats.org/drawingml/2006/main">
              <a:ext uri="{FF2B5EF4-FFF2-40B4-BE49-F238E27FC236}">
                <a16:creationId xmlns:a16="http://schemas.microsoft.com/office/drawing/2014/main" id="{00B8FB72-9111-4B2A-B54E-2CD76E0B45E5}"/>
              </a:ext>
            </a:extLst>
          </p:cNvPr>
          <p:cNvSpPr>
            <a:spLocks xmlns:a="http://schemas.openxmlformats.org/drawingml/2006/main" noGrp="1"/>
          </p:cNvSpPr>
          <p:nvPr/>
        </p:nvSpPr>
        <p:spPr>
          <a:xfrm xmlns:a="http://schemas.openxmlformats.org/drawingml/2006/main">
            <a:off x="857250" y="32194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D233A"/>
                </a:solidFill>
              </a:defRPr>
            </a:defPPr>
          </a:lstStyle>
          <a:p xmlns:a="http://schemas.openxmlformats.org/drawingml/2006/main">
            <a:pPr>
              <a:lnSpc>
                <a:spcPct val="115000"/>
              </a:lnSpc>
              <a:buNone/>
              <a:defRPr sz="1500" b="1">
                <a:solidFill>
                  <a:srgbClr val="0D233A"/>
                </a:solidFill>
              </a:defRPr>
            </a:pPr>
            <a:r>
              <a:rPr sz="1500" b="1">
                <a:solidFill>
                  <a:srgbClr val="0D233A"/>
                </a:solidFill>
              </a:rPr>
              <a:t>Alexandy Remicinthe</a:t>
            </a:r>
          </a:p>
        </p:txBody>
      </p:sp>
      <p:sp>
        <p:nvSpPr>
          <p:cNvPr id="10" name="">
            <a:extLst xmlns:a="http://schemas.openxmlformats.org/drawingml/2006/main">
              <a:ext uri="{FF2B5EF4-FFF2-40B4-BE49-F238E27FC236}">
                <a16:creationId xmlns:a16="http://schemas.microsoft.com/office/drawing/2014/main" id="{B4E9ECC5-D857-4D3F-9824-4698BC26BE59}"/>
              </a:ext>
            </a:extLst>
          </p:cNvPr>
          <p:cNvSpPr>
            <a:spLocks xmlns:a="http://schemas.openxmlformats.org/drawingml/2006/main" noGrp="1"/>
          </p:cNvSpPr>
          <p:nvPr/>
        </p:nvSpPr>
        <p:spPr>
          <a:xfrm xmlns:a="http://schemas.openxmlformats.org/drawingml/2006/main">
            <a:off x="4038600" y="3238500"/>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1F2933"/>
                </a:solidFill>
              </a:defRPr>
            </a:defPPr>
          </a:lstStyle>
          <a:p xmlns:a="http://schemas.openxmlformats.org/drawingml/2006/main">
            <a:pPr>
              <a:lnSpc>
                <a:spcPct val="115000"/>
              </a:lnSpc>
              <a:buNone/>
              <a:defRPr sz="1125" b="0">
                <a:solidFill>
                  <a:srgbClr val="1F2933"/>
                </a:solidFill>
              </a:defRPr>
            </a:pPr>
            <a:r>
              <a:rPr sz="1125" b="0">
                <a:solidFill>
                  <a:srgbClr val="1F2933"/>
                </a:solidFill>
              </a:rPr>
              <a:t>Los cinco requisitos funcionales, requisitos no funcionales y seguridad</a:t>
            </a:r>
          </a:p>
        </p:txBody>
      </p:sp>
      <p:sp>
        <p:nvSpPr>
          <p:cNvPr id="11" name="">
            <a:extLst xmlns:a="http://schemas.openxmlformats.org/drawingml/2006/main">
              <a:ext uri="{FF2B5EF4-FFF2-40B4-BE49-F238E27FC236}">
                <a16:creationId xmlns:a16="http://schemas.microsoft.com/office/drawing/2014/main" id="{6AB51473-74C6-4906-A3A2-00F6F685D20D}"/>
              </a:ext>
            </a:extLst>
          </p:cNvPr>
          <p:cNvSpPr>
            <a:spLocks xmlns:a="http://schemas.openxmlformats.org/drawingml/2006/main" noGrp="1"/>
          </p:cNvSpPr>
          <p:nvPr/>
        </p:nvSpPr>
        <p:spPr>
          <a:xfrm xmlns:a="http://schemas.openxmlformats.org/drawingml/2006/main">
            <a:off x="4038600" y="3733800"/>
            <a:ext cx="733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i="1">
                <a:solidFill>
                  <a:srgbClr val="D63426"/>
                </a:solidFill>
              </a:defRPr>
            </a:defPPr>
          </a:lstStyle>
          <a:p xmlns:a="http://schemas.openxmlformats.org/drawingml/2006/main">
            <a:pPr>
              <a:lnSpc>
                <a:spcPct val="115000"/>
              </a:lnSpc>
              <a:buNone/>
              <a:defRPr sz="975" b="0" i="1">
                <a:solidFill>
                  <a:srgbClr val="D63426"/>
                </a:solidFill>
              </a:defRPr>
            </a:pPr>
            <a:r>
              <a:rPr sz="975" b="0" i="1">
                <a:solidFill>
                  <a:srgbClr val="D63426"/>
                </a:solidFill>
              </a:rPr>
              <a:t>model/cliente.py, producto_fisico.py, dao/, servicios/</a:t>
            </a:r>
          </a:p>
        </p:txBody>
      </p:sp>
      <p:sp>
        <p:nvSpPr>
          <p:cNvPr id="12" name="">
            <a:extLst xmlns:a="http://schemas.openxmlformats.org/drawingml/2006/main">
              <a:ext uri="{FF2B5EF4-FFF2-40B4-BE49-F238E27FC236}">
                <a16:creationId xmlns:a16="http://schemas.microsoft.com/office/drawing/2014/main" id="{617ECE28-436D-4E97-8429-A26A066579D0}"/>
              </a:ext>
            </a:extLst>
          </p:cNvPr>
          <p:cNvSpPr>
            <a:spLocks xmlns:a="http://schemas.openxmlformats.org/drawingml/2006/main" noGrp="1"/>
          </p:cNvSpPr>
          <p:nvPr/>
        </p:nvSpPr>
        <p:spPr>
          <a:xfrm xmlns:a="http://schemas.openxmlformats.org/drawingml/2006/main">
            <a:off x="609600" y="45720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a:solidFill>
                  <a:srgbClr val="0D233A"/>
                </a:solidFill>
              </a:defRPr>
            </a:defPPr>
          </a:lstStyle>
          <a:p xmlns:a="http://schemas.openxmlformats.org/drawingml/2006/main">
            <a:pPr algn="ctr">
              <a:lnSpc>
                <a:spcPct val="115000"/>
              </a:lnSpc>
              <a:buNone/>
              <a:defRPr sz="1650" b="1">
                <a:solidFill>
                  <a:srgbClr val="0D233A"/>
                </a:solidFill>
              </a:defRPr>
            </a:pPr>
            <a:r>
              <a:rPr sz="1650" b="1">
                <a:solidFill>
                  <a:srgbClr val="0D233A"/>
                </a:solidFill>
              </a:rPr>
              <a:t>Gracias. Quedamos atentos a sus preguntas.</a:t>
            </a:r>
          </a:p>
        </p:txBody>
      </p:sp>
      <p:sp>
        <p:nvSpPr>
          <p:cNvPr id="13" name="">
            <a:extLst xmlns:a="http://schemas.openxmlformats.org/drawingml/2006/main">
              <a:ext uri="{FF2B5EF4-FFF2-40B4-BE49-F238E27FC236}">
                <a16:creationId xmlns:a16="http://schemas.microsoft.com/office/drawing/2014/main" id="{4627B16F-23FB-4132-B9BA-F53890063410}"/>
              </a:ext>
            </a:extLst>
          </p:cNvPr>
          <p:cNvSpPr>
            <a:spLocks xmlns:a="http://schemas.openxmlformats.org/drawingml/2006/main" noGrp="1"/>
          </p:cNvSpPr>
          <p:nvPr/>
        </p:nvSpPr>
        <p:spPr>
          <a:xfrm xmlns:a="http://schemas.openxmlformats.org/drawingml/2006/main">
            <a:off x="609600" y="495300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0">
                <a:solidFill>
                  <a:srgbClr val="5A6B7C"/>
                </a:solidFill>
              </a:defRPr>
            </a:defPPr>
          </a:lstStyle>
          <a:p xmlns:a="http://schemas.openxmlformats.org/drawingml/2006/main">
            <a:pPr algn="ctr">
              <a:lnSpc>
                <a:spcPct val="115000"/>
              </a:lnSpc>
              <a:buNone/>
              <a:defRPr sz="1050" b="0">
                <a:solidFill>
                  <a:srgbClr val="5A6B7C"/>
                </a:solidFill>
              </a:defRPr>
            </a:pPr>
            <a:r>
              <a:rPr sz="1050" b="0">
                <a:solidFill>
                  <a:srgbClr val="5A6B7C"/>
                </a:solidFill>
              </a:rPr>
              <a:t>github.com/MiguelTroncoso/ecommerce   |   inacap.superflash.site</a:t>
            </a:r>
          </a:p>
        </p:txBody>
      </p:sp>
    </p:spTree>
    <p:extLst>
      <p:ext uri="{BB962C8B-B14F-4D97-AF65-F5344CB8AC3E}">
        <p14:creationId xmlns:p14="http://schemas.microsoft.com/office/powerpoint/2010/main" val="13614241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2026-10-12T23:29:17.1420000Z</dcterms:created>
  <dcterms:modified xsi:type="dcterms:W3CDTF">2026-10-12T23:29:17.1420000Z</dcterms:modified>
</coreProperties>
</file>